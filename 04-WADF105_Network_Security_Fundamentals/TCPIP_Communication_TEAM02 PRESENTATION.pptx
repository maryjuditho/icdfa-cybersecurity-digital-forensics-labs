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1" autoAdjust="0"/>
    <p:restoredTop sz="94610"/>
  </p:normalViewPr>
  <p:slideViewPr>
    <p:cSldViewPr snapToGrid="0" snapToObjects="1">
      <p:cViewPr>
        <p:scale>
          <a:sx n="73" d="100"/>
          <a:sy n="73" d="100"/>
        </p:scale>
        <p:origin x="40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7362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647"/>
        </a:solidFill>
        <a:effectLst/>
      </p:bgPr>
    </p:bg>
    <p:spTree>
      <p:nvGrpSpPr>
        <p:cNvPr id="1" name=""/>
        <p:cNvGrpSpPr/>
        <p:nvPr/>
      </p:nvGrpSpPr>
      <p:grpSpPr>
        <a:xfrm>
          <a:off x="0" y="0"/>
          <a:ext cx="0" cy="0"/>
          <a:chOff x="0" y="0"/>
          <a:chExt cx="0" cy="0"/>
        </a:xfrm>
      </p:grpSpPr>
      <p:sp>
        <p:nvSpPr>
          <p:cNvPr id="2" name="Shape 0"/>
          <p:cNvSpPr/>
          <p:nvPr/>
        </p:nvSpPr>
        <p:spPr>
          <a:xfrm>
            <a:off x="0" y="5120640"/>
            <a:ext cx="12188952" cy="0"/>
          </a:xfrm>
          <a:prstGeom prst="rect">
            <a:avLst/>
          </a:prstGeom>
          <a:noFill/>
          <a:ln/>
        </p:spPr>
        <p:txBody>
          <a:bodyPr/>
          <a:lstStyle/>
          <a:p>
            <a:endParaRPr lang="en-US"/>
          </a:p>
        </p:txBody>
      </p:sp>
      <p:sp>
        <p:nvSpPr>
          <p:cNvPr id="3" name="Shape 1"/>
          <p:cNvSpPr/>
          <p:nvPr/>
        </p:nvSpPr>
        <p:spPr>
          <a:xfrm>
            <a:off x="0" y="5120640"/>
            <a:ext cx="12188952" cy="0"/>
          </a:xfrm>
          <a:prstGeom prst="rect">
            <a:avLst/>
          </a:prstGeom>
          <a:noFill/>
          <a:ln/>
        </p:spPr>
        <p:txBody>
          <a:bodyPr/>
          <a:lstStyle/>
          <a:p>
            <a:endParaRPr lang="en-US"/>
          </a:p>
        </p:txBody>
      </p:sp>
      <p:sp>
        <p:nvSpPr>
          <p:cNvPr id="4" name="Shape 2"/>
          <p:cNvSpPr/>
          <p:nvPr/>
        </p:nvSpPr>
        <p:spPr>
          <a:xfrm>
            <a:off x="0" y="5120640"/>
            <a:ext cx="12188952" cy="0"/>
          </a:xfrm>
          <a:prstGeom prst="rect">
            <a:avLst/>
          </a:prstGeom>
          <a:noFill/>
          <a:ln/>
        </p:spPr>
        <p:txBody>
          <a:bodyPr/>
          <a:lstStyle/>
          <a:p>
            <a:endParaRPr lang="en-US"/>
          </a:p>
        </p:txBody>
      </p:sp>
      <p:sp>
        <p:nvSpPr>
          <p:cNvPr id="5" name="Shape 3"/>
          <p:cNvSpPr/>
          <p:nvPr/>
        </p:nvSpPr>
        <p:spPr>
          <a:xfrm>
            <a:off x="0" y="5120640"/>
            <a:ext cx="12188952" cy="0"/>
          </a:xfrm>
          <a:prstGeom prst="rect">
            <a:avLst/>
          </a:prstGeom>
          <a:noFill/>
          <a:ln/>
        </p:spPr>
        <p:txBody>
          <a:bodyPr/>
          <a:lstStyle/>
          <a:p>
            <a:endParaRPr lang="en-US"/>
          </a:p>
        </p:txBody>
      </p:sp>
      <p:sp>
        <p:nvSpPr>
          <p:cNvPr id="6" name="Shape 4"/>
          <p:cNvSpPr/>
          <p:nvPr/>
        </p:nvSpPr>
        <p:spPr>
          <a:xfrm>
            <a:off x="822960" y="640080"/>
            <a:ext cx="640080" cy="640080"/>
          </a:xfrm>
          <a:prstGeom prst="ellipse">
            <a:avLst/>
          </a:prstGeom>
          <a:solidFill>
            <a:srgbClr val="00A896"/>
          </a:solidFill>
          <a:ln/>
        </p:spPr>
        <p:txBody>
          <a:bodyPr/>
          <a:lstStyle/>
          <a:p>
            <a:endParaRPr lang="en-US"/>
          </a:p>
        </p:txBody>
      </p:sp>
      <p:sp>
        <p:nvSpPr>
          <p:cNvPr id="7" name="Text 5"/>
          <p:cNvSpPr/>
          <p:nvPr/>
        </p:nvSpPr>
        <p:spPr>
          <a:xfrm>
            <a:off x="822960" y="640080"/>
            <a:ext cx="640080" cy="640080"/>
          </a:xfrm>
          <a:prstGeom prst="rect">
            <a:avLst/>
          </a:prstGeom>
          <a:noFill/>
          <a:ln/>
        </p:spPr>
        <p:txBody>
          <a:bodyPr wrap="square" lIns="0" tIns="0" rIns="0" bIns="0" rtlCol="0" anchor="ctr"/>
          <a:lstStyle/>
          <a:p>
            <a:pPr marL="0" indent="0" algn="ctr">
              <a:buNone/>
            </a:pPr>
            <a:r>
              <a:rPr lang="en-US" sz="2600" dirty="0">
                <a:solidFill>
                  <a:srgbClr val="FFFFFF"/>
                </a:solidFill>
                <a:latin typeface="Calibri" pitchFamily="34" charset="0"/>
                <a:ea typeface="Calibri" pitchFamily="34" charset="-122"/>
                <a:cs typeface="Calibri" pitchFamily="34" charset="-120"/>
              </a:rPr>
              <a:t>🔒</a:t>
            </a:r>
            <a:endParaRPr lang="en-US" sz="2600" dirty="0"/>
          </a:p>
        </p:txBody>
      </p:sp>
      <p:sp>
        <p:nvSpPr>
          <p:cNvPr id="8" name="Text 6"/>
          <p:cNvSpPr/>
          <p:nvPr/>
        </p:nvSpPr>
        <p:spPr>
          <a:xfrm>
            <a:off x="1645920" y="713232"/>
            <a:ext cx="7315200" cy="365760"/>
          </a:xfrm>
          <a:prstGeom prst="rect">
            <a:avLst/>
          </a:prstGeom>
          <a:noFill/>
          <a:ln/>
        </p:spPr>
        <p:txBody>
          <a:bodyPr wrap="square" rtlCol="0" anchor="ctr"/>
          <a:lstStyle/>
          <a:p>
            <a:pPr marL="0" indent="0">
              <a:buNone/>
            </a:pPr>
            <a:r>
              <a:rPr lang="en-US" sz="1300" b="1" kern="0" spc="150" dirty="0">
                <a:solidFill>
                  <a:srgbClr val="9FC6E0"/>
                </a:solidFill>
                <a:latin typeface="Calibri" pitchFamily="34" charset="0"/>
                <a:ea typeface="Calibri" pitchFamily="34" charset="-122"/>
                <a:cs typeface="Calibri" pitchFamily="34" charset="-120"/>
              </a:rPr>
              <a:t>TEAM-02  ·  FCDF-COHORT-11  ·  LEVEL 1, SEMESTER 1</a:t>
            </a:r>
            <a:endParaRPr lang="en-US" sz="1300" dirty="0"/>
          </a:p>
        </p:txBody>
      </p:sp>
      <p:sp>
        <p:nvSpPr>
          <p:cNvPr id="9" name="Text 7"/>
          <p:cNvSpPr/>
          <p:nvPr/>
        </p:nvSpPr>
        <p:spPr>
          <a:xfrm>
            <a:off x="822960" y="2148840"/>
            <a:ext cx="10515600" cy="118872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TCP/IP Communication </a:t>
            </a:r>
            <a:endParaRPr lang="en-US" sz="4400" dirty="0"/>
          </a:p>
        </p:txBody>
      </p:sp>
      <p:sp>
        <p:nvSpPr>
          <p:cNvPr id="10" name="Text 8"/>
          <p:cNvSpPr/>
          <p:nvPr/>
        </p:nvSpPr>
        <p:spPr>
          <a:xfrm>
            <a:off x="822960" y="3246120"/>
            <a:ext cx="10058400" cy="548640"/>
          </a:xfrm>
          <a:prstGeom prst="rect">
            <a:avLst/>
          </a:prstGeom>
          <a:noFill/>
          <a:ln/>
        </p:spPr>
        <p:txBody>
          <a:bodyPr wrap="square"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Tracing a Secure HTTPS Website Request Across the Network</a:t>
            </a:r>
            <a:endParaRPr lang="en-US" sz="1800" dirty="0"/>
          </a:p>
        </p:txBody>
      </p:sp>
      <p:sp>
        <p:nvSpPr>
          <p:cNvPr id="11" name="Shape 9"/>
          <p:cNvSpPr/>
          <p:nvPr/>
        </p:nvSpPr>
        <p:spPr>
          <a:xfrm>
            <a:off x="822960" y="3977640"/>
            <a:ext cx="2377440" cy="384048"/>
          </a:xfrm>
          <a:prstGeom prst="roundRect">
            <a:avLst>
              <a:gd name="adj" fmla="val 50000"/>
            </a:avLst>
          </a:prstGeom>
          <a:solidFill>
            <a:srgbClr val="4FB0C6"/>
          </a:solidFill>
          <a:ln/>
        </p:spPr>
        <p:txBody>
          <a:bodyPr/>
          <a:lstStyle/>
          <a:p>
            <a:endParaRPr lang="en-US"/>
          </a:p>
        </p:txBody>
      </p:sp>
      <p:sp>
        <p:nvSpPr>
          <p:cNvPr id="12" name="Text 10"/>
          <p:cNvSpPr/>
          <p:nvPr/>
        </p:nvSpPr>
        <p:spPr>
          <a:xfrm>
            <a:off x="822960" y="3977640"/>
            <a:ext cx="23774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Application Layer</a:t>
            </a:r>
            <a:endParaRPr lang="en-US" sz="1100" dirty="0"/>
          </a:p>
        </p:txBody>
      </p:sp>
      <p:sp>
        <p:nvSpPr>
          <p:cNvPr id="13" name="Shape 11"/>
          <p:cNvSpPr/>
          <p:nvPr/>
        </p:nvSpPr>
        <p:spPr>
          <a:xfrm>
            <a:off x="3337560" y="3977640"/>
            <a:ext cx="2377440" cy="384048"/>
          </a:xfrm>
          <a:prstGeom prst="roundRect">
            <a:avLst>
              <a:gd name="adj" fmla="val 50000"/>
            </a:avLst>
          </a:prstGeom>
          <a:solidFill>
            <a:srgbClr val="2C82C9"/>
          </a:solidFill>
          <a:ln/>
        </p:spPr>
        <p:txBody>
          <a:bodyPr/>
          <a:lstStyle/>
          <a:p>
            <a:endParaRPr lang="en-US"/>
          </a:p>
        </p:txBody>
      </p:sp>
      <p:sp>
        <p:nvSpPr>
          <p:cNvPr id="14" name="Text 12"/>
          <p:cNvSpPr/>
          <p:nvPr/>
        </p:nvSpPr>
        <p:spPr>
          <a:xfrm>
            <a:off x="3337560" y="3977640"/>
            <a:ext cx="23774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Transport Layer</a:t>
            </a:r>
            <a:endParaRPr lang="en-US" sz="1100" dirty="0"/>
          </a:p>
        </p:txBody>
      </p:sp>
      <p:sp>
        <p:nvSpPr>
          <p:cNvPr id="15" name="Shape 13"/>
          <p:cNvSpPr/>
          <p:nvPr/>
        </p:nvSpPr>
        <p:spPr>
          <a:xfrm>
            <a:off x="5852160" y="3977640"/>
            <a:ext cx="2377440" cy="384048"/>
          </a:xfrm>
          <a:prstGeom prst="roundRect">
            <a:avLst>
              <a:gd name="adj" fmla="val 50000"/>
            </a:avLst>
          </a:prstGeom>
          <a:solidFill>
            <a:srgbClr val="1B4F72"/>
          </a:solidFill>
          <a:ln/>
        </p:spPr>
        <p:txBody>
          <a:bodyPr/>
          <a:lstStyle/>
          <a:p>
            <a:endParaRPr lang="en-US"/>
          </a:p>
        </p:txBody>
      </p:sp>
      <p:sp>
        <p:nvSpPr>
          <p:cNvPr id="16" name="Text 14"/>
          <p:cNvSpPr/>
          <p:nvPr/>
        </p:nvSpPr>
        <p:spPr>
          <a:xfrm>
            <a:off x="5852160" y="3977640"/>
            <a:ext cx="23774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Internet Layer</a:t>
            </a:r>
            <a:endParaRPr lang="en-US" sz="1100" dirty="0"/>
          </a:p>
        </p:txBody>
      </p:sp>
      <p:sp>
        <p:nvSpPr>
          <p:cNvPr id="17" name="Shape 15"/>
          <p:cNvSpPr/>
          <p:nvPr/>
        </p:nvSpPr>
        <p:spPr>
          <a:xfrm>
            <a:off x="8366760" y="3977640"/>
            <a:ext cx="2377440" cy="384048"/>
          </a:xfrm>
          <a:prstGeom prst="roundRect">
            <a:avLst>
              <a:gd name="adj" fmla="val 50000"/>
            </a:avLst>
          </a:prstGeom>
          <a:solidFill>
            <a:srgbClr val="1E3F6E"/>
          </a:solidFill>
          <a:ln/>
        </p:spPr>
        <p:txBody>
          <a:bodyPr/>
          <a:lstStyle/>
          <a:p>
            <a:endParaRPr lang="en-US"/>
          </a:p>
        </p:txBody>
      </p:sp>
      <p:sp>
        <p:nvSpPr>
          <p:cNvPr id="18" name="Text 16"/>
          <p:cNvSpPr/>
          <p:nvPr/>
        </p:nvSpPr>
        <p:spPr>
          <a:xfrm>
            <a:off x="8366760" y="3977640"/>
            <a:ext cx="23774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Network Access Layer</a:t>
            </a:r>
            <a:endParaRPr lang="en-US" sz="1100" dirty="0"/>
          </a:p>
        </p:txBody>
      </p:sp>
      <p:sp>
        <p:nvSpPr>
          <p:cNvPr id="19" name="Shape 17"/>
          <p:cNvSpPr/>
          <p:nvPr/>
        </p:nvSpPr>
        <p:spPr>
          <a:xfrm>
            <a:off x="8366760" y="3977640"/>
            <a:ext cx="2377440" cy="384048"/>
          </a:xfrm>
          <a:prstGeom prst="roundRect">
            <a:avLst>
              <a:gd name="adj" fmla="val 50000"/>
            </a:avLst>
          </a:prstGeom>
          <a:ln w="12700">
            <a:solidFill>
              <a:srgbClr val="5F86AC"/>
            </a:solidFill>
            <a:prstDash val="solid"/>
          </a:ln>
        </p:spPr>
        <p:txBody>
          <a:bodyPr/>
          <a:lstStyle/>
          <a:p>
            <a:endParaRPr lang="en-US"/>
          </a:p>
        </p:txBody>
      </p:sp>
      <p:sp>
        <p:nvSpPr>
          <p:cNvPr id="20" name="Shape 18"/>
          <p:cNvSpPr/>
          <p:nvPr/>
        </p:nvSpPr>
        <p:spPr>
          <a:xfrm>
            <a:off x="822960" y="4800600"/>
            <a:ext cx="10515600" cy="0"/>
          </a:xfrm>
          <a:prstGeom prst="line">
            <a:avLst/>
          </a:prstGeom>
          <a:noFill/>
          <a:ln w="12700">
            <a:solidFill>
              <a:srgbClr val="2C4A6E"/>
            </a:solidFill>
            <a:prstDash val="solid"/>
          </a:ln>
        </p:spPr>
        <p:txBody>
          <a:bodyPr/>
          <a:lstStyle/>
          <a:p>
            <a:endParaRPr lang="en-US"/>
          </a:p>
        </p:txBody>
      </p:sp>
      <p:sp>
        <p:nvSpPr>
          <p:cNvPr id="21" name="Text 19"/>
          <p:cNvSpPr/>
          <p:nvPr/>
        </p:nvSpPr>
        <p:spPr>
          <a:xfrm>
            <a:off x="822960" y="5029200"/>
            <a:ext cx="3657600" cy="274320"/>
          </a:xfrm>
          <a:prstGeom prst="rect">
            <a:avLst/>
          </a:prstGeom>
          <a:noFill/>
          <a:ln/>
        </p:spPr>
        <p:txBody>
          <a:bodyPr wrap="square" rtlCol="0" anchor="ctr"/>
          <a:lstStyle/>
          <a:p>
            <a:pPr marL="0" indent="0">
              <a:buNone/>
            </a:pPr>
            <a:r>
              <a:rPr lang="en-US" sz="1100" b="1" dirty="0">
                <a:solidFill>
                  <a:srgbClr val="7FA6C9"/>
                </a:solidFill>
                <a:latin typeface="Calibri" pitchFamily="34" charset="0"/>
                <a:ea typeface="Calibri" pitchFamily="34" charset="-122"/>
                <a:cs typeface="Calibri" pitchFamily="34" charset="-120"/>
              </a:rPr>
              <a:t>Presented by</a:t>
            </a:r>
            <a:endParaRPr lang="en-US" sz="1100" dirty="0"/>
          </a:p>
        </p:txBody>
      </p:sp>
      <p:sp>
        <p:nvSpPr>
          <p:cNvPr id="22" name="Text 20"/>
          <p:cNvSpPr/>
          <p:nvPr/>
        </p:nvSpPr>
        <p:spPr>
          <a:xfrm>
            <a:off x="822960" y="5321808"/>
            <a:ext cx="5029200" cy="6400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Abdul Fatawu Umar</a:t>
            </a:r>
            <a:endParaRPr lang="en-US" sz="1500" dirty="0"/>
          </a:p>
          <a:p>
            <a:pPr marL="0" indent="0">
              <a:buNone/>
            </a:pPr>
            <a:r>
              <a:rPr lang="en-US" sz="1200" dirty="0">
                <a:solidFill>
                  <a:srgbClr val="9FC6E0"/>
                </a:solidFill>
                <a:latin typeface="Calibri" pitchFamily="34" charset="0"/>
                <a:ea typeface="Calibri" pitchFamily="34" charset="-122"/>
                <a:cs typeface="Calibri" pitchFamily="34" charset="-120"/>
              </a:rPr>
              <a:t>2026/FCDF/16899</a:t>
            </a:r>
            <a:endParaRPr lang="en-US" sz="1500" dirty="0"/>
          </a:p>
        </p:txBody>
      </p:sp>
      <p:sp>
        <p:nvSpPr>
          <p:cNvPr id="23" name="Text 21"/>
          <p:cNvSpPr/>
          <p:nvPr/>
        </p:nvSpPr>
        <p:spPr>
          <a:xfrm>
            <a:off x="6035040" y="5321808"/>
            <a:ext cx="5029200" cy="6400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Maryjudith Chidinma Ogunaka</a:t>
            </a:r>
            <a:endParaRPr lang="en-US" sz="1500" dirty="0"/>
          </a:p>
          <a:p>
            <a:pPr marL="0" indent="0">
              <a:buNone/>
            </a:pPr>
            <a:r>
              <a:rPr lang="en-US" sz="1200" dirty="0">
                <a:solidFill>
                  <a:srgbClr val="9FC6E0"/>
                </a:solidFill>
                <a:latin typeface="Calibri" pitchFamily="34" charset="0"/>
                <a:ea typeface="Calibri" pitchFamily="34" charset="-122"/>
                <a:cs typeface="Calibri" pitchFamily="34" charset="-120"/>
              </a:rPr>
              <a:t>C11/26/FCDF/17151</a:t>
            </a:r>
            <a:endParaRPr lang="en-US" sz="1500" dirty="0"/>
          </a:p>
        </p:txBody>
      </p:sp>
      <p:sp>
        <p:nvSpPr>
          <p:cNvPr id="24" name="Text 22"/>
          <p:cNvSpPr/>
          <p:nvPr/>
        </p:nvSpPr>
        <p:spPr>
          <a:xfrm>
            <a:off x="822960" y="6263640"/>
            <a:ext cx="10515600" cy="320040"/>
          </a:xfrm>
          <a:prstGeom prst="rect">
            <a:avLst/>
          </a:prstGeom>
          <a:noFill/>
          <a:ln/>
        </p:spPr>
        <p:txBody>
          <a:bodyPr wrap="square" rtlCol="0" anchor="ctr"/>
          <a:lstStyle/>
          <a:p>
            <a:pPr marL="0" indent="0">
              <a:buNone/>
            </a:pPr>
            <a:r>
              <a:rPr lang="en-US" sz="1050" i="1" dirty="0">
                <a:solidFill>
                  <a:srgbClr val="5F86AC"/>
                </a:solidFill>
                <a:latin typeface="Calibri" pitchFamily="34" charset="0"/>
                <a:ea typeface="Calibri" pitchFamily="34" charset="-122"/>
                <a:cs typeface="Calibri" pitchFamily="34" charset="-120"/>
              </a:rPr>
              <a:t>Scenario: Opening a Secure Website (HTTPS)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C"/>
        </a:solidFill>
        <a:effectLst/>
      </p:bgPr>
    </p:bg>
    <p:spTree>
      <p:nvGrpSpPr>
        <p:cNvPr id="1" name=""/>
        <p:cNvGrpSpPr/>
        <p:nvPr/>
      </p:nvGrpSpPr>
      <p:grpSpPr>
        <a:xfrm>
          <a:off x="0" y="0"/>
          <a:ext cx="0" cy="0"/>
          <a:chOff x="0" y="0"/>
          <a:chExt cx="0" cy="0"/>
        </a:xfrm>
      </p:grpSpPr>
      <p:sp>
        <p:nvSpPr>
          <p:cNvPr id="2" name="Text 0"/>
          <p:cNvSpPr/>
          <p:nvPr/>
        </p:nvSpPr>
        <p:spPr>
          <a:xfrm>
            <a:off x="457200" y="292608"/>
            <a:ext cx="9144000" cy="274320"/>
          </a:xfrm>
          <a:prstGeom prst="rect">
            <a:avLst/>
          </a:prstGeom>
          <a:noFill/>
          <a:ln/>
        </p:spPr>
        <p:txBody>
          <a:bodyPr wrap="square"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457200" y="548640"/>
            <a:ext cx="11247120" cy="640080"/>
          </a:xfrm>
          <a:prstGeom prst="rect">
            <a:avLst/>
          </a:prstGeom>
          <a:noFill/>
          <a:ln/>
        </p:spPr>
        <p:txBody>
          <a:bodyPr wrap="square" rtlCol="0" anchor="ctr"/>
          <a:lstStyle/>
          <a:p>
            <a:pPr marL="0" indent="0">
              <a:buNone/>
            </a:pPr>
            <a:r>
              <a:rPr lang="en-US" sz="3000" b="1" dirty="0">
                <a:solidFill>
                  <a:srgbClr val="0A2647"/>
                </a:solidFill>
                <a:latin typeface="Cambria" pitchFamily="34" charset="0"/>
                <a:ea typeface="Cambria" pitchFamily="34" charset="-122"/>
                <a:cs typeface="Cambria" pitchFamily="34" charset="-120"/>
              </a:rPr>
              <a:t>What Is the TCP/IP Model?</a:t>
            </a:r>
            <a:endParaRPr lang="en-US" sz="3000" dirty="0"/>
          </a:p>
        </p:txBody>
      </p:sp>
      <p:sp>
        <p:nvSpPr>
          <p:cNvPr id="4" name="Text 2"/>
          <p:cNvSpPr/>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5C7A99"/>
                </a:solidFill>
                <a:latin typeface="Calibri" pitchFamily="34" charset="0"/>
                <a:ea typeface="Calibri" pitchFamily="34" charset="-122"/>
                <a:cs typeface="Calibri" pitchFamily="34" charset="-120"/>
              </a:rPr>
              <a:t>TEAM-02 · TCP/IP Communication in Action · FCDF-COHORT-11</a:t>
            </a:r>
            <a:endParaRPr lang="en-US" sz="900" dirty="0"/>
          </a:p>
        </p:txBody>
      </p:sp>
      <p:sp>
        <p:nvSpPr>
          <p:cNvPr id="5" name="Text 3"/>
          <p:cNvSpPr/>
          <p:nvPr/>
        </p:nvSpPr>
        <p:spPr>
          <a:xfrm>
            <a:off x="11155680" y="6547104"/>
            <a:ext cx="640080" cy="256032"/>
          </a:xfrm>
          <a:prstGeom prst="rect">
            <a:avLst/>
          </a:prstGeom>
          <a:noFill/>
          <a:ln/>
        </p:spPr>
        <p:txBody>
          <a:bodyPr wrap="square" rtlCol="0" anchor="ctr"/>
          <a:lstStyle/>
          <a:p>
            <a:pPr marL="0" indent="0" algn="r">
              <a:buNone/>
            </a:pPr>
            <a:r>
              <a:rPr lang="en-US" sz="900" dirty="0">
                <a:solidFill>
                  <a:srgbClr val="5C7A99"/>
                </a:solidFill>
                <a:latin typeface="Calibri" pitchFamily="34" charset="0"/>
                <a:ea typeface="Calibri" pitchFamily="34" charset="-122"/>
                <a:cs typeface="Calibri" pitchFamily="34" charset="-120"/>
              </a:rPr>
              <a:t>1 / 12</a:t>
            </a:r>
            <a:endParaRPr lang="en-US" sz="900" dirty="0"/>
          </a:p>
        </p:txBody>
      </p:sp>
      <p:sp>
        <p:nvSpPr>
          <p:cNvPr id="6" name="Text 4"/>
          <p:cNvSpPr/>
          <p:nvPr/>
        </p:nvSpPr>
        <p:spPr>
          <a:xfrm>
            <a:off x="457200" y="1417320"/>
            <a:ext cx="5577840" cy="4389120"/>
          </a:xfrm>
          <a:prstGeom prst="rect">
            <a:avLst/>
          </a:prstGeom>
          <a:noFill/>
          <a:ln/>
        </p:spPr>
        <p:txBody>
          <a:bodyPr wrap="square" lIns="0" tIns="0" rIns="0" bIns="0" rtlCol="0" anchor="t"/>
          <a:lstStyle/>
          <a:p>
            <a:pPr marL="228600" indent="-228600">
              <a:spcAft>
                <a:spcPts val="1000"/>
              </a:spcAft>
              <a:buSzPct val="100000"/>
              <a:buChar char="▪"/>
            </a:pPr>
            <a:r>
              <a:rPr lang="en-US" sz="1450" dirty="0">
                <a:solidFill>
                  <a:srgbClr val="0A2647"/>
                </a:solidFill>
                <a:latin typeface="Calibri" pitchFamily="34" charset="0"/>
                <a:ea typeface="Calibri" pitchFamily="34" charset="-122"/>
                <a:cs typeface="Calibri" pitchFamily="34" charset="-120"/>
              </a:rPr>
              <a:t>TCP/IP (Transmission Control Protocol / Internet Protocol) is the rule set that governs how devices communicate over the Internet.</a:t>
            </a:r>
            <a:endParaRPr lang="en-US" sz="1450" dirty="0"/>
          </a:p>
          <a:p>
            <a:pPr marL="228600" indent="-228600">
              <a:spcAft>
                <a:spcPts val="1000"/>
              </a:spcAft>
              <a:buSzPct val="100000"/>
              <a:buChar char="▪"/>
            </a:pPr>
            <a:r>
              <a:rPr lang="en-US" sz="1450" dirty="0">
                <a:solidFill>
                  <a:srgbClr val="0A2647"/>
                </a:solidFill>
                <a:latin typeface="Calibri" pitchFamily="34" charset="0"/>
                <a:ea typeface="Calibri" pitchFamily="34" charset="-122"/>
                <a:cs typeface="Calibri" pitchFamily="34" charset="-120"/>
              </a:rPr>
              <a:t>It organizes communication into four layers, each with a distinct job — from generating a request to placing bits on the wire.</a:t>
            </a:r>
            <a:endParaRPr lang="en-US" sz="1450" dirty="0"/>
          </a:p>
          <a:p>
            <a:pPr marL="228600" indent="-228600">
              <a:spcAft>
                <a:spcPts val="1000"/>
              </a:spcAft>
              <a:buSzPct val="100000"/>
              <a:buChar char="▪"/>
            </a:pPr>
            <a:r>
              <a:rPr lang="en-US" sz="1450" dirty="0">
                <a:solidFill>
                  <a:srgbClr val="0A2647"/>
                </a:solidFill>
                <a:latin typeface="Calibri" pitchFamily="34" charset="0"/>
                <a:ea typeface="Calibri" pitchFamily="34" charset="-122"/>
                <a:cs typeface="Calibri" pitchFamily="34" charset="-120"/>
              </a:rPr>
              <a:t>Every online activity — browsing, email, video calls, file transfer — depends on all four layers working together.</a:t>
            </a:r>
            <a:endParaRPr lang="en-US" sz="1450" dirty="0"/>
          </a:p>
          <a:p>
            <a:pPr marL="228600" indent="-228600">
              <a:spcAft>
                <a:spcPts val="1000"/>
              </a:spcAft>
              <a:buSzPct val="100000"/>
              <a:buChar char="▪"/>
            </a:pPr>
            <a:r>
              <a:rPr lang="en-US" sz="1450" dirty="0">
                <a:solidFill>
                  <a:srgbClr val="0A2647"/>
                </a:solidFill>
                <a:latin typeface="Calibri" pitchFamily="34" charset="0"/>
                <a:ea typeface="Calibri" pitchFamily="34" charset="-122"/>
                <a:cs typeface="Calibri" pitchFamily="34" charset="-120"/>
              </a:rPr>
              <a:t>Our scenario (opening a secure website) exercises every layer, which is why it is a good vehicle for explaining the model.</a:t>
            </a:r>
            <a:endParaRPr lang="en-US" sz="1450" dirty="0"/>
          </a:p>
        </p:txBody>
      </p:sp>
      <p:sp>
        <p:nvSpPr>
          <p:cNvPr id="7" name="Shape 5"/>
          <p:cNvSpPr/>
          <p:nvPr/>
        </p:nvSpPr>
        <p:spPr>
          <a:xfrm>
            <a:off x="6492240" y="1508760"/>
            <a:ext cx="5212080" cy="777240"/>
          </a:xfrm>
          <a:prstGeom prst="roundRect">
            <a:avLst>
              <a:gd name="adj" fmla="val 9412"/>
            </a:avLst>
          </a:prstGeom>
          <a:solidFill>
            <a:srgbClr val="4FB0C6"/>
          </a:solidFill>
          <a:ln/>
        </p:spPr>
        <p:txBody>
          <a:bodyPr/>
          <a:lstStyle/>
          <a:p>
            <a:endParaRPr lang="en-US"/>
          </a:p>
        </p:txBody>
      </p:sp>
      <p:sp>
        <p:nvSpPr>
          <p:cNvPr id="8" name="Text 6"/>
          <p:cNvSpPr/>
          <p:nvPr/>
        </p:nvSpPr>
        <p:spPr>
          <a:xfrm>
            <a:off x="6720840" y="1508760"/>
            <a:ext cx="3749040" cy="7772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Application Layer</a:t>
            </a:r>
            <a:endParaRPr lang="en-US" sz="1500" dirty="0"/>
          </a:p>
        </p:txBody>
      </p:sp>
      <p:sp>
        <p:nvSpPr>
          <p:cNvPr id="9" name="Text 7"/>
          <p:cNvSpPr/>
          <p:nvPr/>
        </p:nvSpPr>
        <p:spPr>
          <a:xfrm>
            <a:off x="10287000" y="1508760"/>
            <a:ext cx="1234440" cy="777240"/>
          </a:xfrm>
          <a:prstGeom prst="rect">
            <a:avLst/>
          </a:prstGeom>
          <a:noFill/>
          <a:ln/>
        </p:spPr>
        <p:txBody>
          <a:bodyPr wrap="square" lIns="0" tIns="0" rIns="0" bIns="0" rtlCol="0" anchor="ctr"/>
          <a:lstStyle/>
          <a:p>
            <a:pPr marL="0" indent="0" algn="r">
              <a:buNone/>
            </a:pPr>
            <a:r>
              <a:rPr lang="en-US" sz="1100" i="1" dirty="0">
                <a:solidFill>
                  <a:srgbClr val="FFFFFF"/>
                </a:solidFill>
                <a:latin typeface="Calibri" pitchFamily="34" charset="0"/>
                <a:ea typeface="Calibri" pitchFamily="34" charset="-122"/>
                <a:cs typeface="Calibri" pitchFamily="34" charset="-120"/>
              </a:rPr>
              <a:t>Data</a:t>
            </a:r>
            <a:endParaRPr lang="en-US" sz="1100" dirty="0"/>
          </a:p>
        </p:txBody>
      </p:sp>
      <p:sp>
        <p:nvSpPr>
          <p:cNvPr id="10" name="Shape 8"/>
          <p:cNvSpPr/>
          <p:nvPr/>
        </p:nvSpPr>
        <p:spPr>
          <a:xfrm>
            <a:off x="9098280" y="2286000"/>
            <a:ext cx="0" cy="164592"/>
          </a:xfrm>
          <a:prstGeom prst="line">
            <a:avLst/>
          </a:prstGeom>
          <a:noFill/>
          <a:ln w="25400">
            <a:solidFill>
              <a:srgbClr val="5C7A99"/>
            </a:solidFill>
            <a:prstDash val="solid"/>
            <a:tailEnd type="triangle"/>
          </a:ln>
        </p:spPr>
        <p:txBody>
          <a:bodyPr/>
          <a:lstStyle/>
          <a:p>
            <a:endParaRPr lang="en-US"/>
          </a:p>
        </p:txBody>
      </p:sp>
      <p:sp>
        <p:nvSpPr>
          <p:cNvPr id="11" name="Shape 9"/>
          <p:cNvSpPr/>
          <p:nvPr/>
        </p:nvSpPr>
        <p:spPr>
          <a:xfrm>
            <a:off x="6492240" y="2450592"/>
            <a:ext cx="5212080" cy="777240"/>
          </a:xfrm>
          <a:prstGeom prst="roundRect">
            <a:avLst>
              <a:gd name="adj" fmla="val 9412"/>
            </a:avLst>
          </a:prstGeom>
          <a:solidFill>
            <a:srgbClr val="2C82C9"/>
          </a:solidFill>
          <a:ln/>
        </p:spPr>
        <p:txBody>
          <a:bodyPr/>
          <a:lstStyle/>
          <a:p>
            <a:endParaRPr lang="en-US"/>
          </a:p>
        </p:txBody>
      </p:sp>
      <p:sp>
        <p:nvSpPr>
          <p:cNvPr id="12" name="Text 10"/>
          <p:cNvSpPr/>
          <p:nvPr/>
        </p:nvSpPr>
        <p:spPr>
          <a:xfrm>
            <a:off x="6720840" y="2450592"/>
            <a:ext cx="3749040" cy="7772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Transport Layer</a:t>
            </a:r>
            <a:endParaRPr lang="en-US" sz="1500" dirty="0"/>
          </a:p>
        </p:txBody>
      </p:sp>
      <p:sp>
        <p:nvSpPr>
          <p:cNvPr id="13" name="Text 11"/>
          <p:cNvSpPr/>
          <p:nvPr/>
        </p:nvSpPr>
        <p:spPr>
          <a:xfrm>
            <a:off x="10287000" y="2450592"/>
            <a:ext cx="1234440" cy="777240"/>
          </a:xfrm>
          <a:prstGeom prst="rect">
            <a:avLst/>
          </a:prstGeom>
          <a:noFill/>
          <a:ln/>
        </p:spPr>
        <p:txBody>
          <a:bodyPr wrap="square" lIns="0" tIns="0" rIns="0" bIns="0" rtlCol="0" anchor="ctr"/>
          <a:lstStyle/>
          <a:p>
            <a:pPr marL="0" indent="0" algn="r">
              <a:buNone/>
            </a:pPr>
            <a:r>
              <a:rPr lang="en-US" sz="1100" i="1" dirty="0">
                <a:solidFill>
                  <a:srgbClr val="FFFFFF"/>
                </a:solidFill>
                <a:latin typeface="Calibri" pitchFamily="34" charset="0"/>
                <a:ea typeface="Calibri" pitchFamily="34" charset="-122"/>
                <a:cs typeface="Calibri" pitchFamily="34" charset="-120"/>
              </a:rPr>
              <a:t>Segments</a:t>
            </a:r>
            <a:endParaRPr lang="en-US" sz="1100" dirty="0"/>
          </a:p>
        </p:txBody>
      </p:sp>
      <p:sp>
        <p:nvSpPr>
          <p:cNvPr id="14" name="Shape 12"/>
          <p:cNvSpPr/>
          <p:nvPr/>
        </p:nvSpPr>
        <p:spPr>
          <a:xfrm>
            <a:off x="9098280" y="3227832"/>
            <a:ext cx="0" cy="164592"/>
          </a:xfrm>
          <a:prstGeom prst="line">
            <a:avLst/>
          </a:prstGeom>
          <a:noFill/>
          <a:ln w="25400">
            <a:solidFill>
              <a:srgbClr val="5C7A99"/>
            </a:solidFill>
            <a:prstDash val="solid"/>
            <a:tailEnd type="triangle"/>
          </a:ln>
        </p:spPr>
        <p:txBody>
          <a:bodyPr/>
          <a:lstStyle/>
          <a:p>
            <a:endParaRPr lang="en-US"/>
          </a:p>
        </p:txBody>
      </p:sp>
      <p:sp>
        <p:nvSpPr>
          <p:cNvPr id="15" name="Shape 13"/>
          <p:cNvSpPr/>
          <p:nvPr/>
        </p:nvSpPr>
        <p:spPr>
          <a:xfrm>
            <a:off x="6492240" y="3392424"/>
            <a:ext cx="5212080" cy="777240"/>
          </a:xfrm>
          <a:prstGeom prst="roundRect">
            <a:avLst>
              <a:gd name="adj" fmla="val 9412"/>
            </a:avLst>
          </a:prstGeom>
          <a:solidFill>
            <a:srgbClr val="1B4F72"/>
          </a:solidFill>
          <a:ln/>
        </p:spPr>
        <p:txBody>
          <a:bodyPr/>
          <a:lstStyle/>
          <a:p>
            <a:endParaRPr lang="en-US"/>
          </a:p>
        </p:txBody>
      </p:sp>
      <p:sp>
        <p:nvSpPr>
          <p:cNvPr id="16" name="Text 14"/>
          <p:cNvSpPr/>
          <p:nvPr/>
        </p:nvSpPr>
        <p:spPr>
          <a:xfrm>
            <a:off x="6720840" y="3392424"/>
            <a:ext cx="3749040" cy="7772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Internet Layer</a:t>
            </a:r>
            <a:endParaRPr lang="en-US" sz="1500" dirty="0"/>
          </a:p>
        </p:txBody>
      </p:sp>
      <p:sp>
        <p:nvSpPr>
          <p:cNvPr id="17" name="Text 15"/>
          <p:cNvSpPr/>
          <p:nvPr/>
        </p:nvSpPr>
        <p:spPr>
          <a:xfrm>
            <a:off x="10287000" y="3392424"/>
            <a:ext cx="1234440" cy="777240"/>
          </a:xfrm>
          <a:prstGeom prst="rect">
            <a:avLst/>
          </a:prstGeom>
          <a:noFill/>
          <a:ln/>
        </p:spPr>
        <p:txBody>
          <a:bodyPr wrap="square" lIns="0" tIns="0" rIns="0" bIns="0" rtlCol="0" anchor="ctr"/>
          <a:lstStyle/>
          <a:p>
            <a:pPr marL="0" indent="0" algn="r">
              <a:buNone/>
            </a:pPr>
            <a:r>
              <a:rPr lang="en-US" sz="1100" i="1" dirty="0">
                <a:solidFill>
                  <a:srgbClr val="FFFFFF"/>
                </a:solidFill>
                <a:latin typeface="Calibri" pitchFamily="34" charset="0"/>
                <a:ea typeface="Calibri" pitchFamily="34" charset="-122"/>
                <a:cs typeface="Calibri" pitchFamily="34" charset="-120"/>
              </a:rPr>
              <a:t>Packets</a:t>
            </a:r>
            <a:endParaRPr lang="en-US" sz="1100" dirty="0"/>
          </a:p>
        </p:txBody>
      </p:sp>
      <p:sp>
        <p:nvSpPr>
          <p:cNvPr id="18" name="Shape 16"/>
          <p:cNvSpPr/>
          <p:nvPr/>
        </p:nvSpPr>
        <p:spPr>
          <a:xfrm>
            <a:off x="9098280" y="4169664"/>
            <a:ext cx="0" cy="164592"/>
          </a:xfrm>
          <a:prstGeom prst="line">
            <a:avLst/>
          </a:prstGeom>
          <a:noFill/>
          <a:ln w="25400">
            <a:solidFill>
              <a:srgbClr val="5C7A99"/>
            </a:solidFill>
            <a:prstDash val="solid"/>
            <a:tailEnd type="triangle"/>
          </a:ln>
        </p:spPr>
        <p:txBody>
          <a:bodyPr/>
          <a:lstStyle/>
          <a:p>
            <a:endParaRPr lang="en-US"/>
          </a:p>
        </p:txBody>
      </p:sp>
      <p:sp>
        <p:nvSpPr>
          <p:cNvPr id="19" name="Shape 17"/>
          <p:cNvSpPr/>
          <p:nvPr/>
        </p:nvSpPr>
        <p:spPr>
          <a:xfrm>
            <a:off x="6492240" y="4334256"/>
            <a:ext cx="5212080" cy="777240"/>
          </a:xfrm>
          <a:prstGeom prst="roundRect">
            <a:avLst>
              <a:gd name="adj" fmla="val 9412"/>
            </a:avLst>
          </a:prstGeom>
          <a:solidFill>
            <a:srgbClr val="0A2647"/>
          </a:solidFill>
          <a:ln/>
        </p:spPr>
        <p:txBody>
          <a:bodyPr/>
          <a:lstStyle/>
          <a:p>
            <a:endParaRPr lang="en-US"/>
          </a:p>
        </p:txBody>
      </p:sp>
      <p:sp>
        <p:nvSpPr>
          <p:cNvPr id="20" name="Text 18"/>
          <p:cNvSpPr/>
          <p:nvPr/>
        </p:nvSpPr>
        <p:spPr>
          <a:xfrm>
            <a:off x="6720840" y="4334256"/>
            <a:ext cx="3749040" cy="7772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Network Access Layer</a:t>
            </a:r>
            <a:endParaRPr lang="en-US" sz="1500" dirty="0"/>
          </a:p>
        </p:txBody>
      </p:sp>
      <p:sp>
        <p:nvSpPr>
          <p:cNvPr id="21" name="Text 19"/>
          <p:cNvSpPr/>
          <p:nvPr/>
        </p:nvSpPr>
        <p:spPr>
          <a:xfrm>
            <a:off x="10287000" y="4334256"/>
            <a:ext cx="1234440" cy="777240"/>
          </a:xfrm>
          <a:prstGeom prst="rect">
            <a:avLst/>
          </a:prstGeom>
          <a:noFill/>
          <a:ln/>
        </p:spPr>
        <p:txBody>
          <a:bodyPr wrap="square" lIns="0" tIns="0" rIns="0" bIns="0" rtlCol="0" anchor="ctr"/>
          <a:lstStyle/>
          <a:p>
            <a:pPr marL="0" indent="0" algn="r">
              <a:buNone/>
            </a:pPr>
            <a:r>
              <a:rPr lang="en-US" sz="1100" i="1" dirty="0">
                <a:solidFill>
                  <a:srgbClr val="FFFFFF"/>
                </a:solidFill>
                <a:latin typeface="Calibri" pitchFamily="34" charset="0"/>
                <a:ea typeface="Calibri" pitchFamily="34" charset="-122"/>
                <a:cs typeface="Calibri" pitchFamily="34" charset="-120"/>
              </a:rPr>
              <a:t>Frames / Bits</a:t>
            </a:r>
            <a:endParaRPr lang="en-US" sz="1100" dirty="0"/>
          </a:p>
        </p:txBody>
      </p:sp>
      <p:sp>
        <p:nvSpPr>
          <p:cNvPr id="22" name="Text 20"/>
          <p:cNvSpPr/>
          <p:nvPr/>
        </p:nvSpPr>
        <p:spPr>
          <a:xfrm>
            <a:off x="6492240" y="1216152"/>
            <a:ext cx="2743200" cy="228600"/>
          </a:xfrm>
          <a:prstGeom prst="rect">
            <a:avLst/>
          </a:prstGeom>
          <a:noFill/>
          <a:ln/>
        </p:spPr>
        <p:txBody>
          <a:bodyPr wrap="square" rtlCol="0" anchor="ctr"/>
          <a:lstStyle/>
          <a:p>
            <a:pPr marL="0" indent="0">
              <a:buNone/>
            </a:pPr>
            <a:r>
              <a:rPr lang="en-US" sz="1000" i="1" dirty="0">
                <a:solidFill>
                  <a:srgbClr val="5C7A99"/>
                </a:solidFill>
                <a:latin typeface="Calibri" pitchFamily="34" charset="0"/>
                <a:ea typeface="Calibri" pitchFamily="34" charset="-122"/>
                <a:cs typeface="Calibri" pitchFamily="34" charset="-120"/>
              </a:rPr>
              <a:t>Closest to the user</a:t>
            </a:r>
            <a:endParaRPr lang="en-US" sz="1000" dirty="0"/>
          </a:p>
        </p:txBody>
      </p:sp>
      <p:sp>
        <p:nvSpPr>
          <p:cNvPr id="23" name="Text 21"/>
          <p:cNvSpPr/>
          <p:nvPr/>
        </p:nvSpPr>
        <p:spPr>
          <a:xfrm>
            <a:off x="6492240" y="5184648"/>
            <a:ext cx="2743200" cy="228600"/>
          </a:xfrm>
          <a:prstGeom prst="rect">
            <a:avLst/>
          </a:prstGeom>
          <a:noFill/>
          <a:ln/>
        </p:spPr>
        <p:txBody>
          <a:bodyPr wrap="square" rtlCol="0" anchor="ctr"/>
          <a:lstStyle/>
          <a:p>
            <a:pPr marL="0" indent="0">
              <a:buNone/>
            </a:pPr>
            <a:r>
              <a:rPr lang="en-US" sz="1000" i="1" dirty="0">
                <a:solidFill>
                  <a:srgbClr val="5C7A99"/>
                </a:solidFill>
                <a:latin typeface="Calibri" pitchFamily="34" charset="0"/>
                <a:ea typeface="Calibri" pitchFamily="34" charset="-122"/>
                <a:cs typeface="Calibri" pitchFamily="34" charset="-120"/>
              </a:rPr>
              <a:t>Closest to the wire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9FC"/>
        </a:solidFill>
        <a:effectLst/>
      </p:bgPr>
    </p:bg>
    <p:spTree>
      <p:nvGrpSpPr>
        <p:cNvPr id="1" name=""/>
        <p:cNvGrpSpPr/>
        <p:nvPr/>
      </p:nvGrpSpPr>
      <p:grpSpPr>
        <a:xfrm>
          <a:off x="0" y="0"/>
          <a:ext cx="0" cy="0"/>
          <a:chOff x="0" y="0"/>
          <a:chExt cx="0" cy="0"/>
        </a:xfrm>
      </p:grpSpPr>
      <p:sp>
        <p:nvSpPr>
          <p:cNvPr id="2" name="Text 0"/>
          <p:cNvSpPr/>
          <p:nvPr/>
        </p:nvSpPr>
        <p:spPr>
          <a:xfrm>
            <a:off x="457200" y="292608"/>
            <a:ext cx="9144000" cy="274320"/>
          </a:xfrm>
          <a:prstGeom prst="rect">
            <a:avLst/>
          </a:prstGeom>
          <a:noFill/>
          <a:ln/>
        </p:spPr>
        <p:txBody>
          <a:bodyPr wrap="square"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SCENARIO</a:t>
            </a:r>
            <a:endParaRPr lang="en-US" sz="1200" dirty="0"/>
          </a:p>
        </p:txBody>
      </p:sp>
      <p:sp>
        <p:nvSpPr>
          <p:cNvPr id="3" name="Text 1"/>
          <p:cNvSpPr/>
          <p:nvPr/>
        </p:nvSpPr>
        <p:spPr>
          <a:xfrm>
            <a:off x="457200" y="548640"/>
            <a:ext cx="11247120" cy="640080"/>
          </a:xfrm>
          <a:prstGeom prst="rect">
            <a:avLst/>
          </a:prstGeom>
          <a:noFill/>
          <a:ln/>
        </p:spPr>
        <p:txBody>
          <a:bodyPr wrap="square" rtlCol="0" anchor="ctr"/>
          <a:lstStyle/>
          <a:p>
            <a:pPr marL="0" indent="0">
              <a:buNone/>
            </a:pPr>
            <a:r>
              <a:rPr lang="en-US" sz="3000" b="1" dirty="0">
                <a:solidFill>
                  <a:srgbClr val="0A2647"/>
                </a:solidFill>
                <a:latin typeface="Cambria" pitchFamily="34" charset="0"/>
                <a:ea typeface="Cambria" pitchFamily="34" charset="-122"/>
                <a:cs typeface="Cambria" pitchFamily="34" charset="-120"/>
              </a:rPr>
              <a:t>Selected Scenario: Opening a Secure Website</a:t>
            </a:r>
            <a:endParaRPr lang="en-US" sz="3000" dirty="0"/>
          </a:p>
        </p:txBody>
      </p:sp>
      <p:sp>
        <p:nvSpPr>
          <p:cNvPr id="4" name="Text 2"/>
          <p:cNvSpPr/>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5C7A99"/>
                </a:solidFill>
                <a:latin typeface="Calibri" pitchFamily="34" charset="0"/>
                <a:ea typeface="Calibri" pitchFamily="34" charset="-122"/>
                <a:cs typeface="Calibri" pitchFamily="34" charset="-120"/>
              </a:rPr>
              <a:t>TEAM-02 · TCP/IP Communication in Action · FCDF-COHORT-11</a:t>
            </a:r>
            <a:endParaRPr lang="en-US" sz="900" dirty="0"/>
          </a:p>
        </p:txBody>
      </p:sp>
      <p:sp>
        <p:nvSpPr>
          <p:cNvPr id="5" name="Text 3"/>
          <p:cNvSpPr/>
          <p:nvPr/>
        </p:nvSpPr>
        <p:spPr>
          <a:xfrm>
            <a:off x="11155680" y="6547104"/>
            <a:ext cx="640080" cy="256032"/>
          </a:xfrm>
          <a:prstGeom prst="rect">
            <a:avLst/>
          </a:prstGeom>
          <a:noFill/>
          <a:ln/>
        </p:spPr>
        <p:txBody>
          <a:bodyPr wrap="square" rtlCol="0" anchor="ctr"/>
          <a:lstStyle/>
          <a:p>
            <a:pPr marL="0" indent="0" algn="r">
              <a:buNone/>
            </a:pPr>
            <a:r>
              <a:rPr lang="en-US" sz="900" dirty="0">
                <a:solidFill>
                  <a:srgbClr val="5C7A99"/>
                </a:solidFill>
                <a:latin typeface="Calibri" pitchFamily="34" charset="0"/>
                <a:ea typeface="Calibri" pitchFamily="34" charset="-122"/>
                <a:cs typeface="Calibri" pitchFamily="34" charset="-120"/>
              </a:rPr>
              <a:t>2 / 12</a:t>
            </a:r>
            <a:endParaRPr lang="en-US" sz="900" dirty="0"/>
          </a:p>
        </p:txBody>
      </p:sp>
      <p:sp>
        <p:nvSpPr>
          <p:cNvPr id="6" name="Shape 4"/>
          <p:cNvSpPr/>
          <p:nvPr/>
        </p:nvSpPr>
        <p:spPr>
          <a:xfrm>
            <a:off x="457200" y="1417320"/>
            <a:ext cx="11247120" cy="685800"/>
          </a:xfrm>
          <a:prstGeom prst="roundRect">
            <a:avLst>
              <a:gd name="adj" fmla="val 10667"/>
            </a:avLst>
          </a:prstGeom>
          <a:solidFill>
            <a:srgbClr val="E7F3F1"/>
          </a:solidFill>
          <a:ln w="12700">
            <a:solidFill>
              <a:srgbClr val="00A896"/>
            </a:solidFill>
            <a:prstDash val="solid"/>
          </a:ln>
        </p:spPr>
        <p:txBody>
          <a:bodyPr/>
          <a:lstStyle/>
          <a:p>
            <a:endParaRPr lang="en-US"/>
          </a:p>
        </p:txBody>
      </p:sp>
      <p:sp>
        <p:nvSpPr>
          <p:cNvPr id="7" name="Text 5"/>
          <p:cNvSpPr/>
          <p:nvPr/>
        </p:nvSpPr>
        <p:spPr>
          <a:xfrm>
            <a:off x="685800" y="1417320"/>
            <a:ext cx="10789920" cy="685800"/>
          </a:xfrm>
          <a:prstGeom prst="rect">
            <a:avLst/>
          </a:prstGeom>
          <a:noFill/>
          <a:ln/>
        </p:spPr>
        <p:txBody>
          <a:bodyPr wrap="square" lIns="0" tIns="0" rIns="0" bIns="0" rtlCol="0" anchor="ctr"/>
          <a:lstStyle/>
          <a:p>
            <a:pPr marL="0" indent="0">
              <a:buNone/>
            </a:pPr>
            <a:r>
              <a:rPr lang="en-US" sz="1400" b="1" dirty="0">
                <a:solidFill>
                  <a:srgbClr val="0A2647"/>
                </a:solidFill>
                <a:latin typeface="Calibri" pitchFamily="34" charset="0"/>
                <a:ea typeface="Calibri" pitchFamily="34" charset="-122"/>
                <a:cs typeface="Calibri" pitchFamily="34" charset="-120"/>
              </a:rPr>
              <a:t>User action:  </a:t>
            </a:r>
            <a:r>
              <a:rPr lang="en-US" sz="1400" dirty="0">
                <a:solidFill>
                  <a:srgbClr val="0A2647"/>
                </a:solidFill>
                <a:latin typeface="Calibri" pitchFamily="34" charset="0"/>
                <a:ea typeface="Calibri" pitchFamily="34" charset="-122"/>
                <a:cs typeface="Calibri" pitchFamily="34" charset="-120"/>
              </a:rPr>
              <a:t>Typing </a:t>
            </a:r>
            <a:r>
              <a:rPr lang="en-US" sz="1400" b="1" dirty="0">
                <a:solidFill>
                  <a:srgbClr val="00A896"/>
                </a:solidFill>
                <a:latin typeface="Courier New" pitchFamily="34" charset="0"/>
                <a:ea typeface="Courier New" pitchFamily="34" charset="-122"/>
                <a:cs typeface="Courier New" pitchFamily="34" charset="-120"/>
              </a:rPr>
              <a:t>https://www.amazon.com</a:t>
            </a:r>
            <a:r>
              <a:rPr lang="en-US" sz="1400" dirty="0">
                <a:solidFill>
                  <a:srgbClr val="0A2647"/>
                </a:solidFill>
                <a:latin typeface="Calibri" pitchFamily="34" charset="0"/>
                <a:ea typeface="Calibri" pitchFamily="34" charset="-122"/>
                <a:cs typeface="Calibri" pitchFamily="34" charset="-120"/>
              </a:rPr>
              <a:t>  into a browser and loading the page over a secured HTTPS connection.</a:t>
            </a:r>
            <a:endParaRPr lang="en-US" sz="1400" dirty="0"/>
          </a:p>
        </p:txBody>
      </p:sp>
      <p:sp>
        <p:nvSpPr>
          <p:cNvPr id="8" name="Text 6"/>
          <p:cNvSpPr/>
          <p:nvPr/>
        </p:nvSpPr>
        <p:spPr>
          <a:xfrm>
            <a:off x="457200" y="2331720"/>
            <a:ext cx="6675120" cy="384048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0A2647"/>
                </a:solidFill>
                <a:latin typeface="Calibri" pitchFamily="34" charset="0"/>
                <a:ea typeface="Calibri" pitchFamily="34" charset="-122"/>
                <a:cs typeface="Calibri" pitchFamily="34" charset="-120"/>
              </a:rPr>
              <a:t>The user's browser resolves the site's name and opens a secure (encrypted) connection to the web server.</a:t>
            </a:r>
            <a:endParaRPr lang="en-US" sz="1400" dirty="0"/>
          </a:p>
          <a:p>
            <a:pPr marL="228600" indent="-228600">
              <a:spcAft>
                <a:spcPts val="1000"/>
              </a:spcAft>
              <a:buSzPct val="100000"/>
              <a:buChar char="▪"/>
            </a:pPr>
            <a:r>
              <a:rPr lang="en-US" sz="1400" dirty="0">
                <a:solidFill>
                  <a:srgbClr val="0A2647"/>
                </a:solidFill>
                <a:latin typeface="Calibri" pitchFamily="34" charset="0"/>
                <a:ea typeface="Calibri" pitchFamily="34" charset="-122"/>
                <a:cs typeface="Calibri" pitchFamily="34" charset="-120"/>
              </a:rPr>
              <a:t>The request and response pass down through all four TCP/IP layers on the client and back up through all four on the server.</a:t>
            </a:r>
            <a:endParaRPr lang="en-US" sz="1400" dirty="0"/>
          </a:p>
          <a:p>
            <a:pPr marL="228600" indent="-228600">
              <a:spcAft>
                <a:spcPts val="1000"/>
              </a:spcAft>
              <a:buSzPct val="100000"/>
              <a:buChar char="▪"/>
            </a:pPr>
            <a:r>
              <a:rPr lang="en-US" sz="1400" dirty="0">
                <a:solidFill>
                  <a:srgbClr val="0A2647"/>
                </a:solidFill>
                <a:latin typeface="Calibri" pitchFamily="34" charset="0"/>
                <a:ea typeface="Calibri" pitchFamily="34" charset="-122"/>
                <a:cs typeface="Calibri" pitchFamily="34" charset="-120"/>
              </a:rPr>
              <a:t>This single request touches addressing (IP), delivery (TCP ports), routing (routers), and physical transmission (Wi-Fi/Ethernet) — making it ideal for showing the whole model end to end.</a:t>
            </a:r>
            <a:endParaRPr lang="en-US" sz="1400" dirty="0"/>
          </a:p>
          <a:p>
            <a:pPr marL="228600" indent="-228600">
              <a:spcAft>
                <a:spcPts val="1000"/>
              </a:spcAft>
              <a:buSzPct val="100000"/>
              <a:buChar char="▪"/>
            </a:pPr>
            <a:r>
              <a:rPr lang="en-US" sz="1400" dirty="0">
                <a:solidFill>
                  <a:srgbClr val="0A2647"/>
                </a:solidFill>
                <a:latin typeface="Calibri" pitchFamily="34" charset="0"/>
                <a:ea typeface="Calibri" pitchFamily="34" charset="-122"/>
                <a:cs typeface="Calibri" pitchFamily="34" charset="-120"/>
              </a:rPr>
              <a:t>We trace it step by step in the following slides: application → transport → internet → network access → across the Internet → and back.</a:t>
            </a:r>
            <a:endParaRPr lang="en-US" sz="1400" dirty="0"/>
          </a:p>
        </p:txBody>
      </p:sp>
      <p:sp>
        <p:nvSpPr>
          <p:cNvPr id="9" name="Shape 7"/>
          <p:cNvSpPr/>
          <p:nvPr/>
        </p:nvSpPr>
        <p:spPr>
          <a:xfrm>
            <a:off x="7498080" y="2377440"/>
            <a:ext cx="457200" cy="457200"/>
          </a:xfrm>
          <a:prstGeom prst="ellipse">
            <a:avLst/>
          </a:prstGeom>
          <a:solidFill>
            <a:srgbClr val="2C82C9"/>
          </a:solidFill>
          <a:ln/>
        </p:spPr>
        <p:txBody>
          <a:bodyPr/>
          <a:lstStyle/>
          <a:p>
            <a:endParaRPr lang="en-US"/>
          </a:p>
        </p:txBody>
      </p:sp>
      <p:sp>
        <p:nvSpPr>
          <p:cNvPr id="10" name="Text 8"/>
          <p:cNvSpPr/>
          <p:nvPr/>
        </p:nvSpPr>
        <p:spPr>
          <a:xfrm>
            <a:off x="7498080" y="2377440"/>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8092440" y="2377440"/>
            <a:ext cx="3200400" cy="457200"/>
          </a:xfrm>
          <a:prstGeom prst="rect">
            <a:avLst/>
          </a:prstGeom>
          <a:noFill/>
          <a:ln/>
        </p:spPr>
        <p:txBody>
          <a:bodyPr wrap="square" lIns="0" tIns="0" rIns="0" bIns="0" rtlCol="0" anchor="ctr"/>
          <a:lstStyle/>
          <a:p>
            <a:pPr marL="0" indent="0">
              <a:buNone/>
            </a:pPr>
            <a:r>
              <a:rPr lang="en-US" sz="1300" b="1" dirty="0">
                <a:solidFill>
                  <a:srgbClr val="0A2647"/>
                </a:solidFill>
                <a:latin typeface="Calibri" pitchFamily="34" charset="0"/>
                <a:ea typeface="Calibri" pitchFamily="34" charset="-122"/>
                <a:cs typeface="Calibri" pitchFamily="34" charset="-120"/>
              </a:rPr>
              <a:t>User</a:t>
            </a:r>
            <a:endParaRPr lang="en-US" sz="1300" dirty="0"/>
          </a:p>
        </p:txBody>
      </p:sp>
      <p:sp>
        <p:nvSpPr>
          <p:cNvPr id="12" name="Shape 10"/>
          <p:cNvSpPr/>
          <p:nvPr/>
        </p:nvSpPr>
        <p:spPr>
          <a:xfrm>
            <a:off x="7726680" y="2834640"/>
            <a:ext cx="0" cy="320040"/>
          </a:xfrm>
          <a:prstGeom prst="line">
            <a:avLst/>
          </a:prstGeom>
          <a:noFill/>
          <a:ln w="25400">
            <a:solidFill>
              <a:srgbClr val="5C7A99"/>
            </a:solidFill>
            <a:prstDash val="solid"/>
            <a:tailEnd type="triangle"/>
          </a:ln>
        </p:spPr>
        <p:txBody>
          <a:bodyPr/>
          <a:lstStyle/>
          <a:p>
            <a:endParaRPr lang="en-US"/>
          </a:p>
        </p:txBody>
      </p:sp>
      <p:sp>
        <p:nvSpPr>
          <p:cNvPr id="13" name="Shape 11"/>
          <p:cNvSpPr/>
          <p:nvPr/>
        </p:nvSpPr>
        <p:spPr>
          <a:xfrm>
            <a:off x="7498080" y="3154680"/>
            <a:ext cx="457200" cy="457200"/>
          </a:xfrm>
          <a:prstGeom prst="ellipse">
            <a:avLst/>
          </a:prstGeom>
          <a:solidFill>
            <a:srgbClr val="2C82C9"/>
          </a:solidFill>
          <a:ln/>
        </p:spPr>
        <p:txBody>
          <a:bodyPr/>
          <a:lstStyle/>
          <a:p>
            <a:endParaRPr lang="en-US"/>
          </a:p>
        </p:txBody>
      </p:sp>
      <p:sp>
        <p:nvSpPr>
          <p:cNvPr id="14" name="Text 12"/>
          <p:cNvSpPr/>
          <p:nvPr/>
        </p:nvSpPr>
        <p:spPr>
          <a:xfrm>
            <a:off x="7498080" y="3154680"/>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8092440" y="3154680"/>
            <a:ext cx="3200400" cy="457200"/>
          </a:xfrm>
          <a:prstGeom prst="rect">
            <a:avLst/>
          </a:prstGeom>
          <a:noFill/>
          <a:ln/>
        </p:spPr>
        <p:txBody>
          <a:bodyPr wrap="square" lIns="0" tIns="0" rIns="0" bIns="0" rtlCol="0" anchor="ctr"/>
          <a:lstStyle/>
          <a:p>
            <a:pPr marL="0" indent="0">
              <a:buNone/>
            </a:pPr>
            <a:r>
              <a:rPr lang="en-US" sz="1300" b="1" dirty="0">
                <a:solidFill>
                  <a:srgbClr val="0A2647"/>
                </a:solidFill>
                <a:latin typeface="Calibri" pitchFamily="34" charset="0"/>
                <a:ea typeface="Calibri" pitchFamily="34" charset="-122"/>
                <a:cs typeface="Calibri" pitchFamily="34" charset="-120"/>
              </a:rPr>
              <a:t>Browser</a:t>
            </a:r>
            <a:endParaRPr lang="en-US" sz="1300" dirty="0"/>
          </a:p>
        </p:txBody>
      </p:sp>
      <p:sp>
        <p:nvSpPr>
          <p:cNvPr id="16" name="Shape 14"/>
          <p:cNvSpPr/>
          <p:nvPr/>
        </p:nvSpPr>
        <p:spPr>
          <a:xfrm>
            <a:off x="7726680" y="3611880"/>
            <a:ext cx="0" cy="320040"/>
          </a:xfrm>
          <a:prstGeom prst="line">
            <a:avLst/>
          </a:prstGeom>
          <a:noFill/>
          <a:ln w="25400">
            <a:solidFill>
              <a:srgbClr val="5C7A99"/>
            </a:solidFill>
            <a:prstDash val="solid"/>
            <a:tailEnd type="triangle"/>
          </a:ln>
        </p:spPr>
        <p:txBody>
          <a:bodyPr/>
          <a:lstStyle/>
          <a:p>
            <a:endParaRPr lang="en-US"/>
          </a:p>
        </p:txBody>
      </p:sp>
      <p:sp>
        <p:nvSpPr>
          <p:cNvPr id="17" name="Shape 15"/>
          <p:cNvSpPr/>
          <p:nvPr/>
        </p:nvSpPr>
        <p:spPr>
          <a:xfrm>
            <a:off x="7498080" y="3931920"/>
            <a:ext cx="457200" cy="457200"/>
          </a:xfrm>
          <a:prstGeom prst="ellipse">
            <a:avLst/>
          </a:prstGeom>
          <a:solidFill>
            <a:srgbClr val="2C82C9"/>
          </a:solidFill>
          <a:ln/>
        </p:spPr>
        <p:txBody>
          <a:bodyPr/>
          <a:lstStyle/>
          <a:p>
            <a:endParaRPr lang="en-US"/>
          </a:p>
        </p:txBody>
      </p:sp>
      <p:sp>
        <p:nvSpPr>
          <p:cNvPr id="18" name="Text 16"/>
          <p:cNvSpPr/>
          <p:nvPr/>
        </p:nvSpPr>
        <p:spPr>
          <a:xfrm>
            <a:off x="7498080" y="3931920"/>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19" name="Text 17"/>
          <p:cNvSpPr/>
          <p:nvPr/>
        </p:nvSpPr>
        <p:spPr>
          <a:xfrm>
            <a:off x="8092440" y="3931920"/>
            <a:ext cx="3200400" cy="457200"/>
          </a:xfrm>
          <a:prstGeom prst="rect">
            <a:avLst/>
          </a:prstGeom>
          <a:noFill/>
          <a:ln/>
        </p:spPr>
        <p:txBody>
          <a:bodyPr wrap="square" lIns="0" tIns="0" rIns="0" bIns="0" rtlCol="0" anchor="ctr"/>
          <a:lstStyle/>
          <a:p>
            <a:pPr marL="0" indent="0">
              <a:buNone/>
            </a:pPr>
            <a:r>
              <a:rPr lang="en-US" sz="1300" b="1" dirty="0">
                <a:solidFill>
                  <a:srgbClr val="0A2647"/>
                </a:solidFill>
                <a:latin typeface="Calibri" pitchFamily="34" charset="0"/>
                <a:ea typeface="Calibri" pitchFamily="34" charset="-122"/>
                <a:cs typeface="Calibri" pitchFamily="34" charset="-120"/>
              </a:rPr>
              <a:t>Home Router</a:t>
            </a:r>
            <a:endParaRPr lang="en-US" sz="1300" dirty="0"/>
          </a:p>
        </p:txBody>
      </p:sp>
      <p:sp>
        <p:nvSpPr>
          <p:cNvPr id="20" name="Shape 18"/>
          <p:cNvSpPr/>
          <p:nvPr/>
        </p:nvSpPr>
        <p:spPr>
          <a:xfrm>
            <a:off x="7726680" y="4389120"/>
            <a:ext cx="0" cy="320040"/>
          </a:xfrm>
          <a:prstGeom prst="line">
            <a:avLst/>
          </a:prstGeom>
          <a:noFill/>
          <a:ln w="25400">
            <a:solidFill>
              <a:srgbClr val="5C7A99"/>
            </a:solidFill>
            <a:prstDash val="solid"/>
            <a:tailEnd type="triangle"/>
          </a:ln>
        </p:spPr>
        <p:txBody>
          <a:bodyPr/>
          <a:lstStyle/>
          <a:p>
            <a:endParaRPr lang="en-US"/>
          </a:p>
        </p:txBody>
      </p:sp>
      <p:sp>
        <p:nvSpPr>
          <p:cNvPr id="21" name="Shape 19"/>
          <p:cNvSpPr/>
          <p:nvPr/>
        </p:nvSpPr>
        <p:spPr>
          <a:xfrm>
            <a:off x="7498080" y="4709160"/>
            <a:ext cx="457200" cy="457200"/>
          </a:xfrm>
          <a:prstGeom prst="ellipse">
            <a:avLst/>
          </a:prstGeom>
          <a:solidFill>
            <a:srgbClr val="2C82C9"/>
          </a:solidFill>
          <a:ln/>
        </p:spPr>
        <p:txBody>
          <a:bodyPr/>
          <a:lstStyle/>
          <a:p>
            <a:endParaRPr lang="en-US"/>
          </a:p>
        </p:txBody>
      </p:sp>
      <p:sp>
        <p:nvSpPr>
          <p:cNvPr id="22" name="Text 20"/>
          <p:cNvSpPr/>
          <p:nvPr/>
        </p:nvSpPr>
        <p:spPr>
          <a:xfrm>
            <a:off x="7498080" y="4709160"/>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23" name="Text 21"/>
          <p:cNvSpPr/>
          <p:nvPr/>
        </p:nvSpPr>
        <p:spPr>
          <a:xfrm>
            <a:off x="8092440" y="4709160"/>
            <a:ext cx="3200400" cy="457200"/>
          </a:xfrm>
          <a:prstGeom prst="rect">
            <a:avLst/>
          </a:prstGeom>
          <a:noFill/>
          <a:ln/>
        </p:spPr>
        <p:txBody>
          <a:bodyPr wrap="square" lIns="0" tIns="0" rIns="0" bIns="0" rtlCol="0" anchor="ctr"/>
          <a:lstStyle/>
          <a:p>
            <a:pPr marL="0" indent="0">
              <a:buNone/>
            </a:pPr>
            <a:r>
              <a:rPr lang="en-US" sz="1300" b="1" dirty="0">
                <a:solidFill>
                  <a:srgbClr val="0A2647"/>
                </a:solidFill>
                <a:latin typeface="Calibri" pitchFamily="34" charset="0"/>
                <a:ea typeface="Calibri" pitchFamily="34" charset="-122"/>
                <a:cs typeface="Calibri" pitchFamily="34" charset="-120"/>
              </a:rPr>
              <a:t>ISP Network</a:t>
            </a:r>
            <a:endParaRPr lang="en-US" sz="1300" dirty="0"/>
          </a:p>
        </p:txBody>
      </p:sp>
      <p:sp>
        <p:nvSpPr>
          <p:cNvPr id="24" name="Shape 22"/>
          <p:cNvSpPr/>
          <p:nvPr/>
        </p:nvSpPr>
        <p:spPr>
          <a:xfrm>
            <a:off x="7726680" y="5166360"/>
            <a:ext cx="0" cy="320040"/>
          </a:xfrm>
          <a:prstGeom prst="line">
            <a:avLst/>
          </a:prstGeom>
          <a:noFill/>
          <a:ln w="25400">
            <a:solidFill>
              <a:srgbClr val="5C7A99"/>
            </a:solidFill>
            <a:prstDash val="solid"/>
            <a:tailEnd type="triangle"/>
          </a:ln>
        </p:spPr>
        <p:txBody>
          <a:bodyPr/>
          <a:lstStyle/>
          <a:p>
            <a:endParaRPr lang="en-US"/>
          </a:p>
        </p:txBody>
      </p:sp>
      <p:sp>
        <p:nvSpPr>
          <p:cNvPr id="25" name="Shape 23"/>
          <p:cNvSpPr/>
          <p:nvPr/>
        </p:nvSpPr>
        <p:spPr>
          <a:xfrm>
            <a:off x="7498080" y="5486400"/>
            <a:ext cx="457200" cy="457200"/>
          </a:xfrm>
          <a:prstGeom prst="ellipse">
            <a:avLst/>
          </a:prstGeom>
          <a:solidFill>
            <a:srgbClr val="1B4F72"/>
          </a:solidFill>
          <a:ln/>
        </p:spPr>
        <p:txBody>
          <a:bodyPr/>
          <a:lstStyle/>
          <a:p>
            <a:endParaRPr lang="en-US"/>
          </a:p>
        </p:txBody>
      </p:sp>
      <p:sp>
        <p:nvSpPr>
          <p:cNvPr id="26" name="Text 24"/>
          <p:cNvSpPr/>
          <p:nvPr/>
        </p:nvSpPr>
        <p:spPr>
          <a:xfrm>
            <a:off x="7498080" y="5486400"/>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27" name="Text 25"/>
          <p:cNvSpPr/>
          <p:nvPr/>
        </p:nvSpPr>
        <p:spPr>
          <a:xfrm>
            <a:off x="8092440" y="5486400"/>
            <a:ext cx="3200400" cy="457200"/>
          </a:xfrm>
          <a:prstGeom prst="rect">
            <a:avLst/>
          </a:prstGeom>
          <a:noFill/>
          <a:ln/>
        </p:spPr>
        <p:txBody>
          <a:bodyPr wrap="square" lIns="0" tIns="0" rIns="0" bIns="0" rtlCol="0" anchor="ctr"/>
          <a:lstStyle/>
          <a:p>
            <a:pPr marL="0" indent="0">
              <a:buNone/>
            </a:pPr>
            <a:r>
              <a:rPr lang="en-US" sz="1300" b="1" dirty="0">
                <a:solidFill>
                  <a:srgbClr val="0A2647"/>
                </a:solidFill>
                <a:latin typeface="Calibri" pitchFamily="34" charset="0"/>
                <a:ea typeface="Calibri" pitchFamily="34" charset="-122"/>
                <a:cs typeface="Calibri" pitchFamily="34" charset="-120"/>
              </a:rPr>
              <a:t>Web Server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9FC"/>
        </a:solidFill>
        <a:effectLst/>
      </p:bgPr>
    </p:bg>
    <p:spTree>
      <p:nvGrpSpPr>
        <p:cNvPr id="1" name=""/>
        <p:cNvGrpSpPr/>
        <p:nvPr/>
      </p:nvGrpSpPr>
      <p:grpSpPr>
        <a:xfrm>
          <a:off x="0" y="0"/>
          <a:ext cx="0" cy="0"/>
          <a:chOff x="0" y="0"/>
          <a:chExt cx="0" cy="0"/>
        </a:xfrm>
      </p:grpSpPr>
      <p:sp>
        <p:nvSpPr>
          <p:cNvPr id="2" name="Text 0"/>
          <p:cNvSpPr/>
          <p:nvPr/>
        </p:nvSpPr>
        <p:spPr>
          <a:xfrm>
            <a:off x="457200" y="292608"/>
            <a:ext cx="9144000" cy="274320"/>
          </a:xfrm>
          <a:prstGeom prst="rect">
            <a:avLst/>
          </a:prstGeom>
          <a:noFill/>
          <a:ln/>
        </p:spPr>
        <p:txBody>
          <a:bodyPr wrap="square"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LAYER 1 OF 4</a:t>
            </a:r>
            <a:endParaRPr lang="en-US" sz="1200" dirty="0"/>
          </a:p>
        </p:txBody>
      </p:sp>
      <p:sp>
        <p:nvSpPr>
          <p:cNvPr id="3" name="Text 1"/>
          <p:cNvSpPr/>
          <p:nvPr/>
        </p:nvSpPr>
        <p:spPr>
          <a:xfrm>
            <a:off x="457200" y="548640"/>
            <a:ext cx="11247120" cy="640080"/>
          </a:xfrm>
          <a:prstGeom prst="rect">
            <a:avLst/>
          </a:prstGeom>
          <a:noFill/>
          <a:ln/>
        </p:spPr>
        <p:txBody>
          <a:bodyPr wrap="square" rtlCol="0" anchor="ctr"/>
          <a:lstStyle/>
          <a:p>
            <a:pPr marL="0" indent="0">
              <a:buNone/>
            </a:pPr>
            <a:r>
              <a:rPr lang="en-US" sz="3000" b="1" dirty="0">
                <a:solidFill>
                  <a:srgbClr val="0A2647"/>
                </a:solidFill>
                <a:latin typeface="Cambria" pitchFamily="34" charset="0"/>
                <a:ea typeface="Cambria" pitchFamily="34" charset="-122"/>
                <a:cs typeface="Cambria" pitchFamily="34" charset="-120"/>
              </a:rPr>
              <a:t>Application Layer — Starting the Request</a:t>
            </a:r>
            <a:endParaRPr lang="en-US" sz="3000" dirty="0"/>
          </a:p>
        </p:txBody>
      </p:sp>
      <p:sp>
        <p:nvSpPr>
          <p:cNvPr id="4" name="Text 2"/>
          <p:cNvSpPr/>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5C7A99"/>
                </a:solidFill>
                <a:latin typeface="Calibri" pitchFamily="34" charset="0"/>
                <a:ea typeface="Calibri" pitchFamily="34" charset="-122"/>
                <a:cs typeface="Calibri" pitchFamily="34" charset="-120"/>
              </a:rPr>
              <a:t>TEAM-02 · TCP/IP Communication in Action · FCDF-COHORT-11</a:t>
            </a:r>
            <a:endParaRPr lang="en-US" sz="900" dirty="0"/>
          </a:p>
        </p:txBody>
      </p:sp>
      <p:sp>
        <p:nvSpPr>
          <p:cNvPr id="5" name="Text 3"/>
          <p:cNvSpPr/>
          <p:nvPr/>
        </p:nvSpPr>
        <p:spPr>
          <a:xfrm>
            <a:off x="11155680" y="6547104"/>
            <a:ext cx="640080" cy="256032"/>
          </a:xfrm>
          <a:prstGeom prst="rect">
            <a:avLst/>
          </a:prstGeom>
          <a:noFill/>
          <a:ln/>
        </p:spPr>
        <p:txBody>
          <a:bodyPr wrap="square" rtlCol="0" anchor="ctr"/>
          <a:lstStyle/>
          <a:p>
            <a:pPr marL="0" indent="0" algn="r">
              <a:buNone/>
            </a:pPr>
            <a:r>
              <a:rPr lang="en-US" sz="900" dirty="0">
                <a:solidFill>
                  <a:srgbClr val="5C7A99"/>
                </a:solidFill>
                <a:latin typeface="Calibri" pitchFamily="34" charset="0"/>
                <a:ea typeface="Calibri" pitchFamily="34" charset="-122"/>
                <a:cs typeface="Calibri" pitchFamily="34" charset="-120"/>
              </a:rPr>
              <a:t>3 / 12</a:t>
            </a:r>
            <a:endParaRPr lang="en-US" sz="900" dirty="0"/>
          </a:p>
        </p:txBody>
      </p:sp>
      <p:sp>
        <p:nvSpPr>
          <p:cNvPr id="6" name="Shape 4"/>
          <p:cNvSpPr/>
          <p:nvPr/>
        </p:nvSpPr>
        <p:spPr>
          <a:xfrm>
            <a:off x="457200" y="1371600"/>
            <a:ext cx="2743200" cy="365760"/>
          </a:xfrm>
          <a:prstGeom prst="roundRect">
            <a:avLst>
              <a:gd name="adj" fmla="val 50000"/>
            </a:avLst>
          </a:prstGeom>
          <a:solidFill>
            <a:srgbClr val="4FB0C6"/>
          </a:solidFill>
          <a:ln/>
        </p:spPr>
        <p:txBody>
          <a:bodyPr/>
          <a:lstStyle/>
          <a:p>
            <a:endParaRPr lang="en-US"/>
          </a:p>
        </p:txBody>
      </p:sp>
      <p:sp>
        <p:nvSpPr>
          <p:cNvPr id="7" name="Text 5"/>
          <p:cNvSpPr/>
          <p:nvPr/>
        </p:nvSpPr>
        <p:spPr>
          <a:xfrm>
            <a:off x="457200" y="1371600"/>
            <a:ext cx="274320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APPLICATION LAYER</a:t>
            </a:r>
            <a:endParaRPr lang="en-US" sz="1200" dirty="0"/>
          </a:p>
        </p:txBody>
      </p:sp>
      <p:sp>
        <p:nvSpPr>
          <p:cNvPr id="8" name="Text 6"/>
          <p:cNvSpPr/>
          <p:nvPr/>
        </p:nvSpPr>
        <p:spPr>
          <a:xfrm>
            <a:off x="457200" y="1920240"/>
            <a:ext cx="5760720" cy="393192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0A2647"/>
                </a:solidFill>
                <a:latin typeface="Calibri" pitchFamily="34" charset="0"/>
                <a:ea typeface="Calibri" pitchFamily="34" charset="-122"/>
                <a:cs typeface="Calibri" pitchFamily="34" charset="-120"/>
              </a:rPr>
              <a:t>Function: generates the user-facing request and interprets the response — the only layer users directly interact with.</a:t>
            </a:r>
            <a:endParaRPr lang="en-US" sz="1400" dirty="0"/>
          </a:p>
          <a:p>
            <a:pPr marL="228600" indent="-228600">
              <a:spcAft>
                <a:spcPts val="1000"/>
              </a:spcAft>
              <a:buSzPct val="100000"/>
              <a:buChar char="▪"/>
            </a:pPr>
            <a:r>
              <a:rPr lang="en-US" sz="1400" dirty="0">
                <a:solidFill>
                  <a:srgbClr val="0A2647"/>
                </a:solidFill>
                <a:latin typeface="Calibri" pitchFamily="34" charset="0"/>
                <a:ea typeface="Calibri" pitchFamily="34" charset="-122"/>
                <a:cs typeface="Calibri" pitchFamily="34" charset="-120"/>
              </a:rPr>
              <a:t>Key protocols: HTTPS/HTTP (web pages), DNS (name resolution), TLS (encryption for HTTPS).</a:t>
            </a:r>
            <a:endParaRPr lang="en-US" sz="1400" dirty="0"/>
          </a:p>
          <a:p>
            <a:pPr marL="228600" indent="-228600">
              <a:spcAft>
                <a:spcPts val="1000"/>
              </a:spcAft>
              <a:buSzPct val="100000"/>
              <a:buChar char="▪"/>
            </a:pPr>
            <a:r>
              <a:rPr lang="en-US" sz="1400" dirty="0">
                <a:solidFill>
                  <a:srgbClr val="0A2647"/>
                </a:solidFill>
                <a:latin typeface="Calibri" pitchFamily="34" charset="0"/>
                <a:ea typeface="Calibri" pitchFamily="34" charset="-122"/>
                <a:cs typeface="Calibri" pitchFamily="34" charset="-120"/>
              </a:rPr>
              <a:t>DNS first resolves www.amazon.com to an IP address; then the browser builds an HTTPS request.</a:t>
            </a:r>
            <a:endParaRPr lang="en-US" sz="1400" dirty="0"/>
          </a:p>
          <a:p>
            <a:pPr marL="228600" indent="-228600">
              <a:spcAft>
                <a:spcPts val="1000"/>
              </a:spcAft>
              <a:buSzPct val="100000"/>
              <a:buChar char="▪"/>
            </a:pPr>
            <a:r>
              <a:rPr lang="en-US" sz="1400" dirty="0">
                <a:solidFill>
                  <a:srgbClr val="0A2647"/>
                </a:solidFill>
                <a:latin typeface="Calibri" pitchFamily="34" charset="0"/>
                <a:ea typeface="Calibri" pitchFamily="34" charset="-122"/>
                <a:cs typeface="Calibri" pitchFamily="34" charset="-120"/>
              </a:rPr>
              <a:t>Destination port: 443 (HTTPS) is the well-known port the server listens on for secure web traffic.</a:t>
            </a:r>
            <a:endParaRPr lang="en-US" sz="1400" dirty="0"/>
          </a:p>
        </p:txBody>
      </p:sp>
      <p:sp>
        <p:nvSpPr>
          <p:cNvPr id="9" name="Shape 7"/>
          <p:cNvSpPr/>
          <p:nvPr/>
        </p:nvSpPr>
        <p:spPr>
          <a:xfrm>
            <a:off x="6492240" y="1965960"/>
            <a:ext cx="5212080" cy="2103120"/>
          </a:xfrm>
          <a:prstGeom prst="roundRect">
            <a:avLst>
              <a:gd name="adj" fmla="val 4348"/>
            </a:avLst>
          </a:prstGeom>
          <a:solidFill>
            <a:srgbClr val="FFFFFF"/>
          </a:solidFill>
          <a:ln w="19050">
            <a:solidFill>
              <a:srgbClr val="4FB0C6"/>
            </a:solidFill>
            <a:prstDash val="solid"/>
          </a:ln>
        </p:spPr>
        <p:txBody>
          <a:bodyPr/>
          <a:lstStyle/>
          <a:p>
            <a:endParaRPr lang="en-US"/>
          </a:p>
        </p:txBody>
      </p:sp>
      <p:sp>
        <p:nvSpPr>
          <p:cNvPr id="10" name="Text 8"/>
          <p:cNvSpPr/>
          <p:nvPr/>
        </p:nvSpPr>
        <p:spPr>
          <a:xfrm>
            <a:off x="6766560" y="2130552"/>
            <a:ext cx="4663440" cy="274320"/>
          </a:xfrm>
          <a:prstGeom prst="rect">
            <a:avLst/>
          </a:prstGeom>
          <a:noFill/>
          <a:ln/>
        </p:spPr>
        <p:txBody>
          <a:bodyPr wrap="square" lIns="0" tIns="0" rIns="0" bIns="0" rtlCol="0" anchor="ctr"/>
          <a:lstStyle/>
          <a:p>
            <a:pPr marL="0" indent="0">
              <a:buNone/>
            </a:pPr>
            <a:r>
              <a:rPr lang="en-US" sz="1100" b="1" dirty="0">
                <a:solidFill>
                  <a:srgbClr val="5C7A99"/>
                </a:solidFill>
                <a:latin typeface="Calibri" pitchFamily="34" charset="0"/>
                <a:ea typeface="Calibri" pitchFamily="34" charset="-122"/>
                <a:cs typeface="Calibri" pitchFamily="34" charset="-120"/>
              </a:rPr>
              <a:t>Sample request generated</a:t>
            </a:r>
            <a:endParaRPr lang="en-US" sz="1100" dirty="0"/>
          </a:p>
        </p:txBody>
      </p:sp>
      <p:sp>
        <p:nvSpPr>
          <p:cNvPr id="11" name="Text 9"/>
          <p:cNvSpPr/>
          <p:nvPr/>
        </p:nvSpPr>
        <p:spPr>
          <a:xfrm>
            <a:off x="6766560" y="2468880"/>
            <a:ext cx="4663440" cy="1417320"/>
          </a:xfrm>
          <a:prstGeom prst="rect">
            <a:avLst/>
          </a:prstGeom>
          <a:noFill/>
          <a:ln/>
        </p:spPr>
        <p:txBody>
          <a:bodyPr wrap="square" lIns="0" tIns="0" rIns="0" bIns="0" rtlCol="0" anchor="ctr"/>
          <a:lstStyle/>
          <a:p>
            <a:pPr marL="0" indent="0">
              <a:buNone/>
            </a:pPr>
            <a:r>
              <a:rPr lang="en-US" sz="1300" b="1" dirty="0">
                <a:solidFill>
                  <a:srgbClr val="0A2647"/>
                </a:solidFill>
                <a:latin typeface="Courier New" pitchFamily="34" charset="0"/>
                <a:ea typeface="Courier New" pitchFamily="34" charset="-122"/>
                <a:cs typeface="Courier New" pitchFamily="34" charset="-120"/>
              </a:rPr>
              <a:t>GET / HTTP/1.1</a:t>
            </a:r>
            <a:endParaRPr lang="en-US" sz="1300" dirty="0"/>
          </a:p>
          <a:p>
            <a:pPr marL="0" indent="0">
              <a:buNone/>
            </a:pPr>
            <a:r>
              <a:rPr lang="en-US" sz="1300" dirty="0">
                <a:solidFill>
                  <a:srgbClr val="0A2647"/>
                </a:solidFill>
                <a:latin typeface="Courier New" pitchFamily="34" charset="0"/>
                <a:ea typeface="Courier New" pitchFamily="34" charset="-122"/>
                <a:cs typeface="Courier New" pitchFamily="34" charset="-120"/>
              </a:rPr>
              <a:t>Host: www.amazon.com</a:t>
            </a:r>
            <a:endParaRPr lang="en-US" sz="1300" dirty="0"/>
          </a:p>
          <a:p>
            <a:pPr marL="0" indent="0">
              <a:buNone/>
            </a:pPr>
            <a:r>
              <a:rPr lang="en-US" sz="1300" b="1" dirty="0">
                <a:solidFill>
                  <a:srgbClr val="00A896"/>
                </a:solidFill>
                <a:latin typeface="Courier New" pitchFamily="34" charset="0"/>
                <a:ea typeface="Courier New" pitchFamily="34" charset="-122"/>
                <a:cs typeface="Courier New" pitchFamily="34" charset="-120"/>
              </a:rPr>
              <a:t>Destination Port: 443 (HTTPS)</a:t>
            </a:r>
            <a:endParaRPr lang="en-US" sz="1300" dirty="0"/>
          </a:p>
        </p:txBody>
      </p:sp>
      <p:sp>
        <p:nvSpPr>
          <p:cNvPr id="12" name="Shape 10"/>
          <p:cNvSpPr/>
          <p:nvPr/>
        </p:nvSpPr>
        <p:spPr>
          <a:xfrm>
            <a:off x="6492240" y="4343400"/>
            <a:ext cx="5212080" cy="1737360"/>
          </a:xfrm>
          <a:prstGeom prst="roundRect">
            <a:avLst>
              <a:gd name="adj" fmla="val 5263"/>
            </a:avLst>
          </a:prstGeom>
          <a:solidFill>
            <a:srgbClr val="0A2647"/>
          </a:solidFill>
          <a:ln/>
        </p:spPr>
        <p:txBody>
          <a:bodyPr/>
          <a:lstStyle/>
          <a:p>
            <a:endParaRPr lang="en-US"/>
          </a:p>
        </p:txBody>
      </p:sp>
      <p:sp>
        <p:nvSpPr>
          <p:cNvPr id="13" name="Shape 11"/>
          <p:cNvSpPr/>
          <p:nvPr/>
        </p:nvSpPr>
        <p:spPr>
          <a:xfrm>
            <a:off x="6720840" y="4572000"/>
            <a:ext cx="457200" cy="457200"/>
          </a:xfrm>
          <a:prstGeom prst="ellipse">
            <a:avLst/>
          </a:prstGeom>
          <a:solidFill>
            <a:srgbClr val="00A896"/>
          </a:solidFill>
          <a:ln/>
        </p:spPr>
        <p:txBody>
          <a:bodyPr/>
          <a:lstStyle/>
          <a:p>
            <a:endParaRPr lang="en-US"/>
          </a:p>
        </p:txBody>
      </p:sp>
      <p:sp>
        <p:nvSpPr>
          <p:cNvPr id="14" name="Text 12"/>
          <p:cNvSpPr/>
          <p:nvPr/>
        </p:nvSpPr>
        <p:spPr>
          <a:xfrm>
            <a:off x="6720840" y="4572000"/>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7360920" y="4544568"/>
            <a:ext cx="41148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Why HTTPS, not HTTP?</a:t>
            </a:r>
            <a:endParaRPr lang="en-US" sz="1300" dirty="0"/>
          </a:p>
        </p:txBody>
      </p:sp>
      <p:sp>
        <p:nvSpPr>
          <p:cNvPr id="16" name="Text 14"/>
          <p:cNvSpPr/>
          <p:nvPr/>
        </p:nvSpPr>
        <p:spPr>
          <a:xfrm>
            <a:off x="6766560" y="5120640"/>
            <a:ext cx="4663440" cy="822960"/>
          </a:xfrm>
          <a:prstGeom prst="rect">
            <a:avLst/>
          </a:prstGeom>
          <a:noFill/>
          <a:ln/>
        </p:spPr>
        <p:txBody>
          <a:bodyPr wrap="square" lIns="0" tIns="0" rIns="0" bIns="0" rtlCol="0" anchor="ctr"/>
          <a:lstStyle/>
          <a:p>
            <a:pPr marL="0" indent="0">
              <a:buNone/>
            </a:pPr>
            <a:r>
              <a:rPr lang="en-US" sz="1150" dirty="0">
                <a:solidFill>
                  <a:srgbClr val="CADCFC"/>
                </a:solidFill>
                <a:latin typeface="Calibri" pitchFamily="34" charset="0"/>
                <a:ea typeface="Calibri" pitchFamily="34" charset="-122"/>
                <a:cs typeface="Calibri" pitchFamily="34" charset="-120"/>
              </a:rPr>
              <a:t>TLS encrypts the request before it ever leaves the Application Layer, protecting it from eavesdropping further down the stack.</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9FC"/>
        </a:solidFill>
        <a:effectLst/>
      </p:bgPr>
    </p:bg>
    <p:spTree>
      <p:nvGrpSpPr>
        <p:cNvPr id="1" name=""/>
        <p:cNvGrpSpPr/>
        <p:nvPr/>
      </p:nvGrpSpPr>
      <p:grpSpPr>
        <a:xfrm>
          <a:off x="0" y="0"/>
          <a:ext cx="0" cy="0"/>
          <a:chOff x="0" y="0"/>
          <a:chExt cx="0" cy="0"/>
        </a:xfrm>
      </p:grpSpPr>
      <p:sp>
        <p:nvSpPr>
          <p:cNvPr id="2" name="Text 0"/>
          <p:cNvSpPr/>
          <p:nvPr/>
        </p:nvSpPr>
        <p:spPr>
          <a:xfrm>
            <a:off x="457200" y="292608"/>
            <a:ext cx="9144000" cy="274320"/>
          </a:xfrm>
          <a:prstGeom prst="rect">
            <a:avLst/>
          </a:prstGeom>
          <a:noFill/>
          <a:ln/>
        </p:spPr>
        <p:txBody>
          <a:bodyPr wrap="square"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LAYER 2 OF 4</a:t>
            </a:r>
            <a:endParaRPr lang="en-US" sz="1200" dirty="0"/>
          </a:p>
        </p:txBody>
      </p:sp>
      <p:sp>
        <p:nvSpPr>
          <p:cNvPr id="3" name="Text 1"/>
          <p:cNvSpPr/>
          <p:nvPr/>
        </p:nvSpPr>
        <p:spPr>
          <a:xfrm>
            <a:off x="457200" y="548640"/>
            <a:ext cx="11247120" cy="640080"/>
          </a:xfrm>
          <a:prstGeom prst="rect">
            <a:avLst/>
          </a:prstGeom>
          <a:noFill/>
          <a:ln/>
        </p:spPr>
        <p:txBody>
          <a:bodyPr wrap="square" rtlCol="0" anchor="ctr"/>
          <a:lstStyle/>
          <a:p>
            <a:pPr marL="0" indent="0">
              <a:buNone/>
            </a:pPr>
            <a:r>
              <a:rPr lang="en-US" sz="3000" b="1" dirty="0">
                <a:solidFill>
                  <a:srgbClr val="0A2647"/>
                </a:solidFill>
                <a:latin typeface="Cambria" pitchFamily="34" charset="0"/>
                <a:ea typeface="Cambria" pitchFamily="34" charset="-122"/>
                <a:cs typeface="Cambria" pitchFamily="34" charset="-120"/>
              </a:rPr>
              <a:t>Transport Layer — TCP Segmentation &amp; Handshake</a:t>
            </a:r>
            <a:endParaRPr lang="en-US" sz="3000" dirty="0"/>
          </a:p>
        </p:txBody>
      </p:sp>
      <p:sp>
        <p:nvSpPr>
          <p:cNvPr id="4" name="Text 2"/>
          <p:cNvSpPr/>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5C7A99"/>
                </a:solidFill>
                <a:latin typeface="Calibri" pitchFamily="34" charset="0"/>
                <a:ea typeface="Calibri" pitchFamily="34" charset="-122"/>
                <a:cs typeface="Calibri" pitchFamily="34" charset="-120"/>
              </a:rPr>
              <a:t>TEAM-02 · TCP/IP Communication in Action · FCDF-COHORT-11</a:t>
            </a:r>
            <a:endParaRPr lang="en-US" sz="900" dirty="0"/>
          </a:p>
        </p:txBody>
      </p:sp>
      <p:sp>
        <p:nvSpPr>
          <p:cNvPr id="5" name="Text 3"/>
          <p:cNvSpPr/>
          <p:nvPr/>
        </p:nvSpPr>
        <p:spPr>
          <a:xfrm>
            <a:off x="11155680" y="6547104"/>
            <a:ext cx="640080" cy="256032"/>
          </a:xfrm>
          <a:prstGeom prst="rect">
            <a:avLst/>
          </a:prstGeom>
          <a:noFill/>
          <a:ln/>
        </p:spPr>
        <p:txBody>
          <a:bodyPr wrap="square" rtlCol="0" anchor="ctr"/>
          <a:lstStyle/>
          <a:p>
            <a:pPr marL="0" indent="0" algn="r">
              <a:buNone/>
            </a:pPr>
            <a:r>
              <a:rPr lang="en-US" sz="900" dirty="0">
                <a:solidFill>
                  <a:srgbClr val="5C7A99"/>
                </a:solidFill>
                <a:latin typeface="Calibri" pitchFamily="34" charset="0"/>
                <a:ea typeface="Calibri" pitchFamily="34" charset="-122"/>
                <a:cs typeface="Calibri" pitchFamily="34" charset="-120"/>
              </a:rPr>
              <a:t>4 / 12</a:t>
            </a:r>
            <a:endParaRPr lang="en-US" sz="900" dirty="0"/>
          </a:p>
        </p:txBody>
      </p:sp>
      <p:sp>
        <p:nvSpPr>
          <p:cNvPr id="6" name="Shape 4"/>
          <p:cNvSpPr/>
          <p:nvPr/>
        </p:nvSpPr>
        <p:spPr>
          <a:xfrm>
            <a:off x="457200" y="1371600"/>
            <a:ext cx="2743200" cy="365760"/>
          </a:xfrm>
          <a:prstGeom prst="roundRect">
            <a:avLst>
              <a:gd name="adj" fmla="val 50000"/>
            </a:avLst>
          </a:prstGeom>
          <a:solidFill>
            <a:srgbClr val="2C82C9"/>
          </a:solidFill>
          <a:ln/>
        </p:spPr>
        <p:txBody>
          <a:bodyPr/>
          <a:lstStyle/>
          <a:p>
            <a:endParaRPr lang="en-US"/>
          </a:p>
        </p:txBody>
      </p:sp>
      <p:sp>
        <p:nvSpPr>
          <p:cNvPr id="7" name="Text 5"/>
          <p:cNvSpPr/>
          <p:nvPr/>
        </p:nvSpPr>
        <p:spPr>
          <a:xfrm>
            <a:off x="457200" y="1371600"/>
            <a:ext cx="274320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TRANSPORT LAYER</a:t>
            </a:r>
            <a:endParaRPr lang="en-US" sz="1200" dirty="0"/>
          </a:p>
        </p:txBody>
      </p:sp>
      <p:sp>
        <p:nvSpPr>
          <p:cNvPr id="8" name="Text 6"/>
          <p:cNvSpPr/>
          <p:nvPr/>
        </p:nvSpPr>
        <p:spPr>
          <a:xfrm>
            <a:off x="457200" y="1920240"/>
            <a:ext cx="5760720" cy="393192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0A2647"/>
                </a:solidFill>
                <a:latin typeface="Calibri" pitchFamily="34" charset="0"/>
                <a:ea typeface="Calibri" pitchFamily="34" charset="-122"/>
                <a:cs typeface="Calibri" pitchFamily="34" charset="-120"/>
              </a:rPr>
              <a:t>Function: breaks application data into segments, adds port numbers, and guarantees reliable, ordered, error-checked delivery.</a:t>
            </a:r>
            <a:endParaRPr lang="en-US" sz="1400" dirty="0"/>
          </a:p>
          <a:p>
            <a:pPr marL="228600" indent="-228600">
              <a:spcAft>
                <a:spcPts val="1000"/>
              </a:spcAft>
              <a:buSzPct val="100000"/>
              <a:buChar char="▪"/>
            </a:pPr>
            <a:r>
              <a:rPr lang="en-US" sz="1400" dirty="0">
                <a:solidFill>
                  <a:srgbClr val="0A2647"/>
                </a:solidFill>
                <a:latin typeface="Calibri" pitchFamily="34" charset="0"/>
                <a:ea typeface="Calibri" pitchFamily="34" charset="-122"/>
                <a:cs typeface="Calibri" pitchFamily="34" charset="-120"/>
              </a:rPr>
              <a:t>Protocol used here: TCP (Transmission Control Protocol) — chosen because HTTPS needs guaranteed, in-order delivery.</a:t>
            </a:r>
            <a:endParaRPr lang="en-US" sz="1400" dirty="0"/>
          </a:p>
          <a:p>
            <a:pPr marL="228600" indent="-228600">
              <a:spcAft>
                <a:spcPts val="1000"/>
              </a:spcAft>
              <a:buSzPct val="100000"/>
              <a:buChar char="▪"/>
            </a:pPr>
            <a:r>
              <a:rPr lang="en-US" sz="1400" dirty="0">
                <a:solidFill>
                  <a:srgbClr val="0A2647"/>
                </a:solidFill>
                <a:latin typeface="Calibri" pitchFamily="34" charset="0"/>
                <a:ea typeface="Calibri" pitchFamily="34" charset="-122"/>
                <a:cs typeface="Calibri" pitchFamily="34" charset="-120"/>
              </a:rPr>
              <a:t>Port numbers: source = a random ephemeral port (e.g. 51322) on the client; destination = well-known port 443 on the server.</a:t>
            </a:r>
            <a:endParaRPr lang="en-US" sz="1400" dirty="0"/>
          </a:p>
          <a:p>
            <a:pPr marL="228600" indent="-228600">
              <a:spcAft>
                <a:spcPts val="1000"/>
              </a:spcAft>
              <a:buSzPct val="100000"/>
              <a:buChar char="▪"/>
            </a:pPr>
            <a:r>
              <a:rPr lang="en-US" sz="1400" dirty="0">
                <a:solidFill>
                  <a:srgbClr val="0A2647"/>
                </a:solidFill>
                <a:latin typeface="Calibri" pitchFamily="34" charset="0"/>
                <a:ea typeface="Calibri" pitchFamily="34" charset="-122"/>
                <a:cs typeface="Calibri" pitchFamily="34" charset="-120"/>
              </a:rPr>
              <a:t>Before any data moves, TCP opens the connection with a three-way handshake.</a:t>
            </a:r>
            <a:endParaRPr lang="en-US" sz="1400" dirty="0"/>
          </a:p>
        </p:txBody>
      </p:sp>
      <p:sp>
        <p:nvSpPr>
          <p:cNvPr id="9" name="Text 7"/>
          <p:cNvSpPr/>
          <p:nvPr/>
        </p:nvSpPr>
        <p:spPr>
          <a:xfrm>
            <a:off x="6309360" y="1783080"/>
            <a:ext cx="1097280" cy="274320"/>
          </a:xfrm>
          <a:prstGeom prst="rect">
            <a:avLst/>
          </a:prstGeom>
          <a:noFill/>
          <a:ln/>
        </p:spPr>
        <p:txBody>
          <a:bodyPr wrap="square" rtlCol="0" anchor="ctr"/>
          <a:lstStyle/>
          <a:p>
            <a:pPr marL="0" indent="0">
              <a:buNone/>
            </a:pPr>
            <a:r>
              <a:rPr lang="en-US" sz="1200" b="1" dirty="0">
                <a:solidFill>
                  <a:srgbClr val="0A2647"/>
                </a:solidFill>
                <a:latin typeface="Calibri" pitchFamily="34" charset="0"/>
                <a:ea typeface="Calibri" pitchFamily="34" charset="-122"/>
                <a:cs typeface="Calibri" pitchFamily="34" charset="-120"/>
              </a:rPr>
              <a:t>Client</a:t>
            </a:r>
            <a:endParaRPr lang="en-US" sz="1200" dirty="0"/>
          </a:p>
        </p:txBody>
      </p:sp>
      <p:sp>
        <p:nvSpPr>
          <p:cNvPr id="10" name="Text 8"/>
          <p:cNvSpPr/>
          <p:nvPr/>
        </p:nvSpPr>
        <p:spPr>
          <a:xfrm>
            <a:off x="10789920" y="1783080"/>
            <a:ext cx="1097280" cy="274320"/>
          </a:xfrm>
          <a:prstGeom prst="rect">
            <a:avLst/>
          </a:prstGeom>
          <a:noFill/>
          <a:ln/>
        </p:spPr>
        <p:txBody>
          <a:bodyPr wrap="square" rtlCol="0" anchor="ctr"/>
          <a:lstStyle/>
          <a:p>
            <a:pPr marL="0" indent="0" algn="r">
              <a:buNone/>
            </a:pPr>
            <a:r>
              <a:rPr lang="en-US" sz="1200" b="1" dirty="0">
                <a:solidFill>
                  <a:srgbClr val="0A2647"/>
                </a:solidFill>
                <a:latin typeface="Calibri" pitchFamily="34" charset="0"/>
                <a:ea typeface="Calibri" pitchFamily="34" charset="-122"/>
                <a:cs typeface="Calibri" pitchFamily="34" charset="-120"/>
              </a:rPr>
              <a:t>Server</a:t>
            </a:r>
            <a:endParaRPr lang="en-US" sz="1200" dirty="0"/>
          </a:p>
        </p:txBody>
      </p:sp>
      <p:sp>
        <p:nvSpPr>
          <p:cNvPr id="11" name="Shape 9"/>
          <p:cNvSpPr/>
          <p:nvPr/>
        </p:nvSpPr>
        <p:spPr>
          <a:xfrm>
            <a:off x="6766560" y="2103120"/>
            <a:ext cx="0" cy="3017520"/>
          </a:xfrm>
          <a:prstGeom prst="line">
            <a:avLst/>
          </a:prstGeom>
          <a:noFill/>
          <a:ln w="19050">
            <a:solidFill>
              <a:srgbClr val="5C7A99"/>
            </a:solidFill>
            <a:prstDash val="solid"/>
          </a:ln>
        </p:spPr>
        <p:txBody>
          <a:bodyPr/>
          <a:lstStyle/>
          <a:p>
            <a:endParaRPr lang="en-US"/>
          </a:p>
        </p:txBody>
      </p:sp>
      <p:sp>
        <p:nvSpPr>
          <p:cNvPr id="12" name="Shape 10"/>
          <p:cNvSpPr/>
          <p:nvPr/>
        </p:nvSpPr>
        <p:spPr>
          <a:xfrm>
            <a:off x="11430000" y="2103120"/>
            <a:ext cx="0" cy="3017520"/>
          </a:xfrm>
          <a:prstGeom prst="line">
            <a:avLst/>
          </a:prstGeom>
          <a:noFill/>
          <a:ln w="19050">
            <a:solidFill>
              <a:srgbClr val="5C7A99"/>
            </a:solidFill>
            <a:prstDash val="solid"/>
          </a:ln>
        </p:spPr>
        <p:txBody>
          <a:bodyPr/>
          <a:lstStyle/>
          <a:p>
            <a:endParaRPr lang="en-US"/>
          </a:p>
        </p:txBody>
      </p:sp>
      <p:sp>
        <p:nvSpPr>
          <p:cNvPr id="13" name="Shape 11"/>
          <p:cNvSpPr/>
          <p:nvPr/>
        </p:nvSpPr>
        <p:spPr>
          <a:xfrm>
            <a:off x="6766560" y="2377440"/>
            <a:ext cx="4663440" cy="0"/>
          </a:xfrm>
          <a:prstGeom prst="line">
            <a:avLst/>
          </a:prstGeom>
          <a:noFill/>
          <a:ln w="25400">
            <a:solidFill>
              <a:srgbClr val="2C82C9"/>
            </a:solidFill>
            <a:prstDash val="solid"/>
            <a:tailEnd type="triangle"/>
          </a:ln>
        </p:spPr>
        <p:txBody>
          <a:bodyPr/>
          <a:lstStyle/>
          <a:p>
            <a:endParaRPr lang="en-US"/>
          </a:p>
        </p:txBody>
      </p:sp>
      <p:sp>
        <p:nvSpPr>
          <p:cNvPr id="14" name="Text 12"/>
          <p:cNvSpPr/>
          <p:nvPr/>
        </p:nvSpPr>
        <p:spPr>
          <a:xfrm>
            <a:off x="6766560" y="2084832"/>
            <a:ext cx="4663440" cy="274320"/>
          </a:xfrm>
          <a:prstGeom prst="rect">
            <a:avLst/>
          </a:prstGeom>
          <a:noFill/>
          <a:ln/>
        </p:spPr>
        <p:txBody>
          <a:bodyPr wrap="square" lIns="0" tIns="0" rIns="0" bIns="0" rtlCol="0" anchor="ctr"/>
          <a:lstStyle/>
          <a:p>
            <a:pPr marL="0" indent="0" algn="ctr">
              <a:buNone/>
            </a:pPr>
            <a:r>
              <a:rPr lang="en-US" sz="1150" dirty="0">
                <a:solidFill>
                  <a:srgbClr val="0A2647"/>
                </a:solidFill>
                <a:latin typeface="Calibri" pitchFamily="34" charset="0"/>
                <a:ea typeface="Calibri" pitchFamily="34" charset="-122"/>
                <a:cs typeface="Calibri" pitchFamily="34" charset="-120"/>
              </a:rPr>
              <a:t>SYN  (port 51322 → 443)</a:t>
            </a:r>
            <a:endParaRPr lang="en-US" sz="1150" dirty="0"/>
          </a:p>
        </p:txBody>
      </p:sp>
      <p:sp>
        <p:nvSpPr>
          <p:cNvPr id="15" name="Shape 13"/>
          <p:cNvSpPr/>
          <p:nvPr/>
        </p:nvSpPr>
        <p:spPr>
          <a:xfrm>
            <a:off x="11430000" y="3246120"/>
            <a:ext cx="0" cy="0"/>
          </a:xfrm>
          <a:prstGeom prst="line">
            <a:avLst/>
          </a:prstGeom>
          <a:noFill/>
          <a:ln w="25400">
            <a:solidFill>
              <a:srgbClr val="1B4F72"/>
            </a:solidFill>
            <a:prstDash val="solid"/>
            <a:tailEnd type="triangle"/>
          </a:ln>
        </p:spPr>
        <p:txBody>
          <a:bodyPr/>
          <a:lstStyle/>
          <a:p>
            <a:endParaRPr lang="en-US"/>
          </a:p>
        </p:txBody>
      </p:sp>
      <p:sp>
        <p:nvSpPr>
          <p:cNvPr id="16" name="Text 14"/>
          <p:cNvSpPr/>
          <p:nvPr/>
        </p:nvSpPr>
        <p:spPr>
          <a:xfrm>
            <a:off x="6766560" y="2953512"/>
            <a:ext cx="4663440" cy="274320"/>
          </a:xfrm>
          <a:prstGeom prst="rect">
            <a:avLst/>
          </a:prstGeom>
          <a:noFill/>
          <a:ln/>
        </p:spPr>
        <p:txBody>
          <a:bodyPr wrap="square" lIns="0" tIns="0" rIns="0" bIns="0" rtlCol="0" anchor="ctr"/>
          <a:lstStyle/>
          <a:p>
            <a:pPr marL="0" indent="0" algn="ctr">
              <a:buNone/>
            </a:pPr>
            <a:r>
              <a:rPr lang="en-US" sz="1150" dirty="0">
                <a:solidFill>
                  <a:srgbClr val="0A2647"/>
                </a:solidFill>
                <a:latin typeface="Calibri" pitchFamily="34" charset="0"/>
                <a:ea typeface="Calibri" pitchFamily="34" charset="-122"/>
                <a:cs typeface="Calibri" pitchFamily="34" charset="-120"/>
              </a:rPr>
              <a:t>SYN-ACK  (443 → 51322)</a:t>
            </a:r>
            <a:endParaRPr lang="en-US" sz="1150" dirty="0"/>
          </a:p>
        </p:txBody>
      </p:sp>
      <p:sp>
        <p:nvSpPr>
          <p:cNvPr id="17" name="Shape 15"/>
          <p:cNvSpPr/>
          <p:nvPr/>
        </p:nvSpPr>
        <p:spPr>
          <a:xfrm>
            <a:off x="6766560" y="4114800"/>
            <a:ext cx="4663440" cy="0"/>
          </a:xfrm>
          <a:prstGeom prst="line">
            <a:avLst/>
          </a:prstGeom>
          <a:noFill/>
          <a:ln w="25400">
            <a:solidFill>
              <a:srgbClr val="2C82C9"/>
            </a:solidFill>
            <a:prstDash val="solid"/>
            <a:tailEnd type="triangle"/>
          </a:ln>
        </p:spPr>
        <p:txBody>
          <a:bodyPr/>
          <a:lstStyle/>
          <a:p>
            <a:endParaRPr lang="en-US"/>
          </a:p>
        </p:txBody>
      </p:sp>
      <p:sp>
        <p:nvSpPr>
          <p:cNvPr id="18" name="Text 16"/>
          <p:cNvSpPr/>
          <p:nvPr/>
        </p:nvSpPr>
        <p:spPr>
          <a:xfrm>
            <a:off x="6766560" y="3822192"/>
            <a:ext cx="4663440" cy="274320"/>
          </a:xfrm>
          <a:prstGeom prst="rect">
            <a:avLst/>
          </a:prstGeom>
          <a:noFill/>
          <a:ln/>
        </p:spPr>
        <p:txBody>
          <a:bodyPr wrap="square" lIns="0" tIns="0" rIns="0" bIns="0" rtlCol="0" anchor="ctr"/>
          <a:lstStyle/>
          <a:p>
            <a:pPr marL="0" indent="0" algn="ctr">
              <a:buNone/>
            </a:pPr>
            <a:r>
              <a:rPr lang="en-US" sz="1150" dirty="0">
                <a:solidFill>
                  <a:srgbClr val="0A2647"/>
                </a:solidFill>
                <a:latin typeface="Calibri" pitchFamily="34" charset="0"/>
                <a:ea typeface="Calibri" pitchFamily="34" charset="-122"/>
                <a:cs typeface="Calibri" pitchFamily="34" charset="-120"/>
              </a:rPr>
              <a:t>ACK — connection established</a:t>
            </a:r>
            <a:endParaRPr lang="en-US" sz="1150" dirty="0"/>
          </a:p>
        </p:txBody>
      </p:sp>
      <p:sp>
        <p:nvSpPr>
          <p:cNvPr id="19" name="Text 17"/>
          <p:cNvSpPr/>
          <p:nvPr/>
        </p:nvSpPr>
        <p:spPr>
          <a:xfrm>
            <a:off x="6492240" y="5257800"/>
            <a:ext cx="5212080" cy="457200"/>
          </a:xfrm>
          <a:prstGeom prst="rect">
            <a:avLst/>
          </a:prstGeom>
          <a:noFill/>
          <a:ln/>
        </p:spPr>
        <p:txBody>
          <a:bodyPr wrap="square" rtlCol="0" anchor="ctr"/>
          <a:lstStyle/>
          <a:p>
            <a:pPr marL="0" indent="0">
              <a:buNone/>
            </a:pPr>
            <a:r>
              <a:rPr lang="en-US" sz="1150" i="1" dirty="0">
                <a:solidFill>
                  <a:srgbClr val="5C7A99"/>
                </a:solidFill>
                <a:latin typeface="Calibri" pitchFamily="34" charset="0"/>
                <a:ea typeface="Calibri" pitchFamily="34" charset="-122"/>
                <a:cs typeface="Calibri" pitchFamily="34" charset="-120"/>
              </a:rPr>
              <a:t>Once established, the client's HTTPS request is sent as one or more TCP segments.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9FC"/>
        </a:solidFill>
        <a:effectLst/>
      </p:bgPr>
    </p:bg>
    <p:spTree>
      <p:nvGrpSpPr>
        <p:cNvPr id="1" name=""/>
        <p:cNvGrpSpPr/>
        <p:nvPr/>
      </p:nvGrpSpPr>
      <p:grpSpPr>
        <a:xfrm>
          <a:off x="0" y="0"/>
          <a:ext cx="0" cy="0"/>
          <a:chOff x="0" y="0"/>
          <a:chExt cx="0" cy="0"/>
        </a:xfrm>
      </p:grpSpPr>
      <p:sp>
        <p:nvSpPr>
          <p:cNvPr id="2" name="Text 0"/>
          <p:cNvSpPr/>
          <p:nvPr/>
        </p:nvSpPr>
        <p:spPr>
          <a:xfrm>
            <a:off x="457200" y="292608"/>
            <a:ext cx="9144000" cy="274320"/>
          </a:xfrm>
          <a:prstGeom prst="rect">
            <a:avLst/>
          </a:prstGeom>
          <a:noFill/>
          <a:ln/>
        </p:spPr>
        <p:txBody>
          <a:bodyPr wrap="square"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LAYER 3 OF 4</a:t>
            </a:r>
            <a:endParaRPr lang="en-US" sz="1200" dirty="0"/>
          </a:p>
        </p:txBody>
      </p:sp>
      <p:sp>
        <p:nvSpPr>
          <p:cNvPr id="3" name="Text 1"/>
          <p:cNvSpPr/>
          <p:nvPr/>
        </p:nvSpPr>
        <p:spPr>
          <a:xfrm>
            <a:off x="457200" y="548640"/>
            <a:ext cx="11247120" cy="640080"/>
          </a:xfrm>
          <a:prstGeom prst="rect">
            <a:avLst/>
          </a:prstGeom>
          <a:noFill/>
          <a:ln/>
        </p:spPr>
        <p:txBody>
          <a:bodyPr wrap="square" rtlCol="0" anchor="ctr"/>
          <a:lstStyle/>
          <a:p>
            <a:pPr marL="0" indent="0">
              <a:buNone/>
            </a:pPr>
            <a:r>
              <a:rPr lang="en-US" sz="3000" b="1" dirty="0">
                <a:solidFill>
                  <a:srgbClr val="0A2647"/>
                </a:solidFill>
                <a:latin typeface="Cambria" pitchFamily="34" charset="0"/>
                <a:ea typeface="Cambria" pitchFamily="34" charset="-122"/>
                <a:cs typeface="Cambria" pitchFamily="34" charset="-120"/>
              </a:rPr>
              <a:t>Internet Layer — IP Addressing &amp; Routing</a:t>
            </a:r>
            <a:endParaRPr lang="en-US" sz="3000" dirty="0"/>
          </a:p>
        </p:txBody>
      </p:sp>
      <p:sp>
        <p:nvSpPr>
          <p:cNvPr id="4" name="Text 2"/>
          <p:cNvSpPr/>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5C7A99"/>
                </a:solidFill>
                <a:latin typeface="Calibri" pitchFamily="34" charset="0"/>
                <a:ea typeface="Calibri" pitchFamily="34" charset="-122"/>
                <a:cs typeface="Calibri" pitchFamily="34" charset="-120"/>
              </a:rPr>
              <a:t>TEAM-02 · TCP/IP Communication in Action · FCDF-COHORT-11</a:t>
            </a:r>
            <a:endParaRPr lang="en-US" sz="900" dirty="0"/>
          </a:p>
        </p:txBody>
      </p:sp>
      <p:sp>
        <p:nvSpPr>
          <p:cNvPr id="5" name="Text 3"/>
          <p:cNvSpPr/>
          <p:nvPr/>
        </p:nvSpPr>
        <p:spPr>
          <a:xfrm>
            <a:off x="11155680" y="6547104"/>
            <a:ext cx="640080" cy="256032"/>
          </a:xfrm>
          <a:prstGeom prst="rect">
            <a:avLst/>
          </a:prstGeom>
          <a:noFill/>
          <a:ln/>
        </p:spPr>
        <p:txBody>
          <a:bodyPr wrap="square" rtlCol="0" anchor="ctr"/>
          <a:lstStyle/>
          <a:p>
            <a:pPr marL="0" indent="0" algn="r">
              <a:buNone/>
            </a:pPr>
            <a:r>
              <a:rPr lang="en-US" sz="900" dirty="0">
                <a:solidFill>
                  <a:srgbClr val="5C7A99"/>
                </a:solidFill>
                <a:latin typeface="Calibri" pitchFamily="34" charset="0"/>
                <a:ea typeface="Calibri" pitchFamily="34" charset="-122"/>
                <a:cs typeface="Calibri" pitchFamily="34" charset="-120"/>
              </a:rPr>
              <a:t>5 / 12</a:t>
            </a:r>
            <a:endParaRPr lang="en-US" sz="900" dirty="0"/>
          </a:p>
        </p:txBody>
      </p:sp>
      <p:sp>
        <p:nvSpPr>
          <p:cNvPr id="6" name="Shape 4"/>
          <p:cNvSpPr/>
          <p:nvPr/>
        </p:nvSpPr>
        <p:spPr>
          <a:xfrm>
            <a:off x="457200" y="1371600"/>
            <a:ext cx="2743200" cy="365760"/>
          </a:xfrm>
          <a:prstGeom prst="roundRect">
            <a:avLst>
              <a:gd name="adj" fmla="val 50000"/>
            </a:avLst>
          </a:prstGeom>
          <a:solidFill>
            <a:srgbClr val="1B4F72"/>
          </a:solidFill>
          <a:ln/>
        </p:spPr>
        <p:txBody>
          <a:bodyPr/>
          <a:lstStyle/>
          <a:p>
            <a:endParaRPr lang="en-US"/>
          </a:p>
        </p:txBody>
      </p:sp>
      <p:sp>
        <p:nvSpPr>
          <p:cNvPr id="7" name="Text 5"/>
          <p:cNvSpPr/>
          <p:nvPr/>
        </p:nvSpPr>
        <p:spPr>
          <a:xfrm>
            <a:off x="457200" y="1371600"/>
            <a:ext cx="274320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INTERNET LAYER</a:t>
            </a:r>
            <a:endParaRPr lang="en-US" sz="1200" dirty="0"/>
          </a:p>
        </p:txBody>
      </p:sp>
      <p:sp>
        <p:nvSpPr>
          <p:cNvPr id="8" name="Text 6"/>
          <p:cNvSpPr/>
          <p:nvPr/>
        </p:nvSpPr>
        <p:spPr>
          <a:xfrm>
            <a:off x="457200" y="1920240"/>
            <a:ext cx="5760720" cy="393192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0A2647"/>
                </a:solidFill>
                <a:latin typeface="Calibri" pitchFamily="34" charset="0"/>
                <a:ea typeface="Calibri" pitchFamily="34" charset="-122"/>
                <a:cs typeface="Calibri" pitchFamily="34" charset="-120"/>
              </a:rPr>
              <a:t>Function: wraps each segment in an IP packet, adds source and destination IP addresses, and routes the packet toward the destination.</a:t>
            </a:r>
            <a:endParaRPr lang="en-US" sz="1400" dirty="0"/>
          </a:p>
          <a:p>
            <a:pPr marL="228600" indent="-228600">
              <a:spcAft>
                <a:spcPts val="1000"/>
              </a:spcAft>
              <a:buSzPct val="100000"/>
              <a:buChar char="▪"/>
            </a:pPr>
            <a:r>
              <a:rPr lang="en-US" sz="1400" dirty="0">
                <a:solidFill>
                  <a:srgbClr val="0A2647"/>
                </a:solidFill>
                <a:latin typeface="Calibri" pitchFamily="34" charset="0"/>
                <a:ea typeface="Calibri" pitchFamily="34" charset="-122"/>
                <a:cs typeface="Calibri" pitchFamily="34" charset="-120"/>
              </a:rPr>
              <a:t>Protocol used: IP (Internet Protocol) — acts like a postal address system for the network.</a:t>
            </a:r>
            <a:endParaRPr lang="en-US" sz="1400" dirty="0"/>
          </a:p>
          <a:p>
            <a:pPr marL="228600" indent="-228600">
              <a:spcAft>
                <a:spcPts val="1000"/>
              </a:spcAft>
              <a:buSzPct val="100000"/>
              <a:buChar char="▪"/>
            </a:pPr>
            <a:r>
              <a:rPr lang="en-US" sz="1400" dirty="0">
                <a:solidFill>
                  <a:srgbClr val="0A2647"/>
                </a:solidFill>
                <a:latin typeface="Calibri" pitchFamily="34" charset="0"/>
                <a:ea typeface="Calibri" pitchFamily="34" charset="-122"/>
                <a:cs typeface="Calibri" pitchFamily="34" charset="-120"/>
              </a:rPr>
              <a:t>Routers examine the destination IP address and forward the packet along the best available path, hop by hop.</a:t>
            </a:r>
            <a:endParaRPr lang="en-US" sz="1400" dirty="0"/>
          </a:p>
          <a:p>
            <a:pPr marL="228600" indent="-228600">
              <a:spcAft>
                <a:spcPts val="1000"/>
              </a:spcAft>
              <a:buSzPct val="100000"/>
              <a:buChar char="▪"/>
            </a:pPr>
            <a:r>
              <a:rPr lang="en-US" sz="1400" dirty="0">
                <a:solidFill>
                  <a:srgbClr val="0A2647"/>
                </a:solidFill>
                <a:latin typeface="Calibri" pitchFamily="34" charset="0"/>
                <a:ea typeface="Calibri" pitchFamily="34" charset="-122"/>
                <a:cs typeface="Calibri" pitchFamily="34" charset="-120"/>
              </a:rPr>
              <a:t>The same source/destination IP pair is used for both the request and the reply, so the server's response can find its way back.</a:t>
            </a:r>
            <a:endParaRPr lang="en-US" sz="1400" dirty="0"/>
          </a:p>
        </p:txBody>
      </p:sp>
      <p:sp>
        <p:nvSpPr>
          <p:cNvPr id="9" name="Shape 7"/>
          <p:cNvSpPr/>
          <p:nvPr/>
        </p:nvSpPr>
        <p:spPr>
          <a:xfrm>
            <a:off x="6492240" y="2011680"/>
            <a:ext cx="5212080" cy="1234440"/>
          </a:xfrm>
          <a:prstGeom prst="roundRect">
            <a:avLst>
              <a:gd name="adj" fmla="val 7407"/>
            </a:avLst>
          </a:prstGeom>
          <a:solidFill>
            <a:srgbClr val="FFFFFF"/>
          </a:solidFill>
          <a:ln w="19050">
            <a:solidFill>
              <a:srgbClr val="1B4F72"/>
            </a:solidFill>
            <a:prstDash val="solid"/>
          </a:ln>
        </p:spPr>
        <p:txBody>
          <a:bodyPr/>
          <a:lstStyle/>
          <a:p>
            <a:endParaRPr lang="en-US"/>
          </a:p>
        </p:txBody>
      </p:sp>
      <p:sp>
        <p:nvSpPr>
          <p:cNvPr id="10" name="Text 8"/>
          <p:cNvSpPr/>
          <p:nvPr/>
        </p:nvSpPr>
        <p:spPr>
          <a:xfrm>
            <a:off x="6766560" y="2121408"/>
            <a:ext cx="4663440" cy="548640"/>
          </a:xfrm>
          <a:prstGeom prst="rect">
            <a:avLst/>
          </a:prstGeom>
          <a:noFill/>
          <a:ln/>
        </p:spPr>
        <p:txBody>
          <a:bodyPr wrap="square" lIns="0" tIns="0" rIns="0" bIns="0"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Source IP (client):   </a:t>
            </a:r>
            <a:endParaRPr lang="en-US" sz="1300" dirty="0"/>
          </a:p>
          <a:p>
            <a:pPr marL="0" indent="0">
              <a:buNone/>
            </a:pPr>
            <a:r>
              <a:rPr lang="en-US" sz="1300" b="1" dirty="0">
                <a:solidFill>
                  <a:srgbClr val="1B4F72"/>
                </a:solidFill>
                <a:latin typeface="Courier New" pitchFamily="34" charset="0"/>
                <a:ea typeface="Courier New" pitchFamily="34" charset="-122"/>
                <a:cs typeface="Courier New" pitchFamily="34" charset="-120"/>
              </a:rPr>
              <a:t>192.168.1.10</a:t>
            </a:r>
            <a:endParaRPr lang="en-US" sz="1300" dirty="0"/>
          </a:p>
        </p:txBody>
      </p:sp>
      <p:sp>
        <p:nvSpPr>
          <p:cNvPr id="11" name="Text 9"/>
          <p:cNvSpPr/>
          <p:nvPr/>
        </p:nvSpPr>
        <p:spPr>
          <a:xfrm>
            <a:off x="6766560" y="2697480"/>
            <a:ext cx="4663440" cy="457200"/>
          </a:xfrm>
          <a:prstGeom prst="rect">
            <a:avLst/>
          </a:prstGeom>
          <a:noFill/>
          <a:ln/>
        </p:spPr>
        <p:txBody>
          <a:bodyPr wrap="square" lIns="0" tIns="0" rIns="0" bIns="0"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Destination IP (server):   </a:t>
            </a:r>
            <a:endParaRPr lang="en-US" sz="1300" dirty="0"/>
          </a:p>
          <a:p>
            <a:pPr marL="0" indent="0">
              <a:buNone/>
            </a:pPr>
            <a:r>
              <a:rPr lang="en-US" sz="1300" b="1" dirty="0">
                <a:solidFill>
                  <a:srgbClr val="1B4F72"/>
                </a:solidFill>
                <a:latin typeface="Courier New" pitchFamily="34" charset="0"/>
                <a:ea typeface="Courier New" pitchFamily="34" charset="-122"/>
                <a:cs typeface="Courier New" pitchFamily="34" charset="-120"/>
              </a:rPr>
              <a:t>54.239.28.85</a:t>
            </a:r>
            <a:endParaRPr lang="en-US" sz="1300" dirty="0"/>
          </a:p>
        </p:txBody>
      </p:sp>
      <p:sp>
        <p:nvSpPr>
          <p:cNvPr id="12" name="Shape 10"/>
          <p:cNvSpPr/>
          <p:nvPr/>
        </p:nvSpPr>
        <p:spPr>
          <a:xfrm>
            <a:off x="6869430" y="3749040"/>
            <a:ext cx="548640" cy="548640"/>
          </a:xfrm>
          <a:prstGeom prst="ellipse">
            <a:avLst/>
          </a:prstGeom>
          <a:solidFill>
            <a:srgbClr val="1B4F72"/>
          </a:solidFill>
          <a:ln/>
        </p:spPr>
        <p:txBody>
          <a:bodyPr/>
          <a:lstStyle/>
          <a:p>
            <a:endParaRPr lang="en-US"/>
          </a:p>
        </p:txBody>
      </p:sp>
      <p:sp>
        <p:nvSpPr>
          <p:cNvPr id="13" name="Text 11"/>
          <p:cNvSpPr/>
          <p:nvPr/>
        </p:nvSpPr>
        <p:spPr>
          <a:xfrm>
            <a:off x="6869430" y="3749040"/>
            <a:ext cx="548640" cy="54864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14" name="Text 12"/>
          <p:cNvSpPr/>
          <p:nvPr/>
        </p:nvSpPr>
        <p:spPr>
          <a:xfrm>
            <a:off x="6492240" y="4343400"/>
            <a:ext cx="1303020" cy="457200"/>
          </a:xfrm>
          <a:prstGeom prst="rect">
            <a:avLst/>
          </a:prstGeom>
          <a:noFill/>
          <a:ln/>
        </p:spPr>
        <p:txBody>
          <a:bodyPr wrap="square" lIns="0" tIns="0" rIns="0" bIns="0" rtlCol="0" anchor="ctr"/>
          <a:lstStyle/>
          <a:p>
            <a:pPr marL="0" indent="0" algn="ctr">
              <a:buNone/>
            </a:pPr>
            <a:r>
              <a:rPr lang="en-US" sz="1050" dirty="0">
                <a:solidFill>
                  <a:srgbClr val="0A2647"/>
                </a:solidFill>
                <a:latin typeface="Calibri" pitchFamily="34" charset="0"/>
                <a:ea typeface="Calibri" pitchFamily="34" charset="-122"/>
                <a:cs typeface="Calibri" pitchFamily="34" charset="-120"/>
              </a:rPr>
              <a:t>Client</a:t>
            </a:r>
            <a:endParaRPr lang="en-US" sz="1050" dirty="0"/>
          </a:p>
        </p:txBody>
      </p:sp>
      <p:sp>
        <p:nvSpPr>
          <p:cNvPr id="15" name="Shape 13"/>
          <p:cNvSpPr/>
          <p:nvPr/>
        </p:nvSpPr>
        <p:spPr>
          <a:xfrm>
            <a:off x="7658100" y="4023360"/>
            <a:ext cx="708660" cy="0"/>
          </a:xfrm>
          <a:prstGeom prst="line">
            <a:avLst/>
          </a:prstGeom>
          <a:noFill/>
          <a:ln w="25400">
            <a:solidFill>
              <a:srgbClr val="5C7A99"/>
            </a:solidFill>
            <a:prstDash val="solid"/>
            <a:tailEnd type="triangle"/>
          </a:ln>
        </p:spPr>
        <p:txBody>
          <a:bodyPr/>
          <a:lstStyle/>
          <a:p>
            <a:endParaRPr lang="en-US"/>
          </a:p>
        </p:txBody>
      </p:sp>
      <p:sp>
        <p:nvSpPr>
          <p:cNvPr id="16" name="Shape 14"/>
          <p:cNvSpPr/>
          <p:nvPr/>
        </p:nvSpPr>
        <p:spPr>
          <a:xfrm>
            <a:off x="8172450" y="3749040"/>
            <a:ext cx="548640" cy="548640"/>
          </a:xfrm>
          <a:prstGeom prst="ellipse">
            <a:avLst/>
          </a:prstGeom>
          <a:solidFill>
            <a:srgbClr val="2C82C9"/>
          </a:solidFill>
          <a:ln/>
        </p:spPr>
        <p:txBody>
          <a:bodyPr/>
          <a:lstStyle/>
          <a:p>
            <a:endParaRPr lang="en-US"/>
          </a:p>
        </p:txBody>
      </p:sp>
      <p:sp>
        <p:nvSpPr>
          <p:cNvPr id="17" name="Text 15"/>
          <p:cNvSpPr/>
          <p:nvPr/>
        </p:nvSpPr>
        <p:spPr>
          <a:xfrm>
            <a:off x="8172450" y="3749040"/>
            <a:ext cx="548640" cy="54864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7795260" y="4343400"/>
            <a:ext cx="1303020" cy="457200"/>
          </a:xfrm>
          <a:prstGeom prst="rect">
            <a:avLst/>
          </a:prstGeom>
          <a:noFill/>
          <a:ln/>
        </p:spPr>
        <p:txBody>
          <a:bodyPr wrap="square" lIns="0" tIns="0" rIns="0" bIns="0" rtlCol="0" anchor="ctr"/>
          <a:lstStyle/>
          <a:p>
            <a:pPr marL="0" indent="0" algn="ctr">
              <a:buNone/>
            </a:pPr>
            <a:r>
              <a:rPr lang="en-US" sz="1050" dirty="0">
                <a:solidFill>
                  <a:srgbClr val="0A2647"/>
                </a:solidFill>
                <a:latin typeface="Calibri" pitchFamily="34" charset="0"/>
                <a:ea typeface="Calibri" pitchFamily="34" charset="-122"/>
                <a:cs typeface="Calibri" pitchFamily="34" charset="-120"/>
              </a:rPr>
              <a:t>Home Router</a:t>
            </a:r>
            <a:endParaRPr lang="en-US" sz="1050" dirty="0"/>
          </a:p>
        </p:txBody>
      </p:sp>
      <p:sp>
        <p:nvSpPr>
          <p:cNvPr id="19" name="Shape 17"/>
          <p:cNvSpPr/>
          <p:nvPr/>
        </p:nvSpPr>
        <p:spPr>
          <a:xfrm>
            <a:off x="8961120" y="4023360"/>
            <a:ext cx="708660" cy="0"/>
          </a:xfrm>
          <a:prstGeom prst="line">
            <a:avLst/>
          </a:prstGeom>
          <a:noFill/>
          <a:ln w="25400">
            <a:solidFill>
              <a:srgbClr val="5C7A99"/>
            </a:solidFill>
            <a:prstDash val="solid"/>
            <a:tailEnd type="triangle"/>
          </a:ln>
        </p:spPr>
        <p:txBody>
          <a:bodyPr/>
          <a:lstStyle/>
          <a:p>
            <a:endParaRPr lang="en-US"/>
          </a:p>
        </p:txBody>
      </p:sp>
      <p:sp>
        <p:nvSpPr>
          <p:cNvPr id="20" name="Shape 18"/>
          <p:cNvSpPr/>
          <p:nvPr/>
        </p:nvSpPr>
        <p:spPr>
          <a:xfrm>
            <a:off x="9475470" y="3749040"/>
            <a:ext cx="548640" cy="548640"/>
          </a:xfrm>
          <a:prstGeom prst="ellipse">
            <a:avLst/>
          </a:prstGeom>
          <a:solidFill>
            <a:srgbClr val="1B4F72"/>
          </a:solidFill>
          <a:ln/>
        </p:spPr>
        <p:txBody>
          <a:bodyPr/>
          <a:lstStyle/>
          <a:p>
            <a:endParaRPr lang="en-US"/>
          </a:p>
        </p:txBody>
      </p:sp>
      <p:sp>
        <p:nvSpPr>
          <p:cNvPr id="21" name="Text 19"/>
          <p:cNvSpPr/>
          <p:nvPr/>
        </p:nvSpPr>
        <p:spPr>
          <a:xfrm>
            <a:off x="9475470" y="3749040"/>
            <a:ext cx="548640" cy="54864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9098280" y="4343400"/>
            <a:ext cx="1303020" cy="457200"/>
          </a:xfrm>
          <a:prstGeom prst="rect">
            <a:avLst/>
          </a:prstGeom>
          <a:noFill/>
          <a:ln/>
        </p:spPr>
        <p:txBody>
          <a:bodyPr wrap="square" lIns="0" tIns="0" rIns="0" bIns="0" rtlCol="0" anchor="ctr"/>
          <a:lstStyle/>
          <a:p>
            <a:pPr marL="0" indent="0" algn="ctr">
              <a:buNone/>
            </a:pPr>
            <a:r>
              <a:rPr lang="en-US" sz="1050" dirty="0">
                <a:solidFill>
                  <a:srgbClr val="0A2647"/>
                </a:solidFill>
                <a:latin typeface="Calibri" pitchFamily="34" charset="0"/>
                <a:ea typeface="Calibri" pitchFamily="34" charset="-122"/>
                <a:cs typeface="Calibri" pitchFamily="34" charset="-120"/>
              </a:rPr>
              <a:t>ISP Router</a:t>
            </a:r>
            <a:endParaRPr lang="en-US" sz="1050" dirty="0"/>
          </a:p>
        </p:txBody>
      </p:sp>
      <p:sp>
        <p:nvSpPr>
          <p:cNvPr id="23" name="Shape 21"/>
          <p:cNvSpPr/>
          <p:nvPr/>
        </p:nvSpPr>
        <p:spPr>
          <a:xfrm>
            <a:off x="10264140" y="4023360"/>
            <a:ext cx="708660" cy="0"/>
          </a:xfrm>
          <a:prstGeom prst="line">
            <a:avLst/>
          </a:prstGeom>
          <a:noFill/>
          <a:ln w="25400">
            <a:solidFill>
              <a:srgbClr val="5C7A99"/>
            </a:solidFill>
            <a:prstDash val="solid"/>
            <a:tailEnd type="triangle"/>
          </a:ln>
        </p:spPr>
        <p:txBody>
          <a:bodyPr/>
          <a:lstStyle/>
          <a:p>
            <a:endParaRPr lang="en-US"/>
          </a:p>
        </p:txBody>
      </p:sp>
      <p:sp>
        <p:nvSpPr>
          <p:cNvPr id="24" name="Shape 22"/>
          <p:cNvSpPr/>
          <p:nvPr/>
        </p:nvSpPr>
        <p:spPr>
          <a:xfrm>
            <a:off x="10778490" y="3749040"/>
            <a:ext cx="548640" cy="548640"/>
          </a:xfrm>
          <a:prstGeom prst="ellipse">
            <a:avLst/>
          </a:prstGeom>
          <a:solidFill>
            <a:srgbClr val="2C82C9"/>
          </a:solidFill>
          <a:ln/>
        </p:spPr>
        <p:txBody>
          <a:bodyPr/>
          <a:lstStyle/>
          <a:p>
            <a:endParaRPr lang="en-US"/>
          </a:p>
        </p:txBody>
      </p:sp>
      <p:sp>
        <p:nvSpPr>
          <p:cNvPr id="25" name="Text 23"/>
          <p:cNvSpPr/>
          <p:nvPr/>
        </p:nvSpPr>
        <p:spPr>
          <a:xfrm>
            <a:off x="10778490" y="3749040"/>
            <a:ext cx="548640" cy="54864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26" name="Text 24"/>
          <p:cNvSpPr/>
          <p:nvPr/>
        </p:nvSpPr>
        <p:spPr>
          <a:xfrm>
            <a:off x="10401300" y="4343400"/>
            <a:ext cx="1303020" cy="457200"/>
          </a:xfrm>
          <a:prstGeom prst="rect">
            <a:avLst/>
          </a:prstGeom>
          <a:noFill/>
          <a:ln/>
        </p:spPr>
        <p:txBody>
          <a:bodyPr wrap="square" lIns="0" tIns="0" rIns="0" bIns="0" rtlCol="0" anchor="ctr"/>
          <a:lstStyle/>
          <a:p>
            <a:pPr marL="0" indent="0" algn="ctr">
              <a:buNone/>
            </a:pPr>
            <a:r>
              <a:rPr lang="en-US" sz="1050" dirty="0">
                <a:solidFill>
                  <a:srgbClr val="0A2647"/>
                </a:solidFill>
                <a:latin typeface="Calibri" pitchFamily="34" charset="0"/>
                <a:ea typeface="Calibri" pitchFamily="34" charset="-122"/>
                <a:cs typeface="Calibri" pitchFamily="34" charset="-120"/>
              </a:rPr>
              <a:t>Web Server</a:t>
            </a:r>
            <a:endParaRPr lang="en-US" sz="1050" dirty="0"/>
          </a:p>
        </p:txBody>
      </p:sp>
      <p:sp>
        <p:nvSpPr>
          <p:cNvPr id="27" name="Text 25"/>
          <p:cNvSpPr/>
          <p:nvPr/>
        </p:nvSpPr>
        <p:spPr>
          <a:xfrm>
            <a:off x="6492240" y="4892040"/>
            <a:ext cx="5212080" cy="365760"/>
          </a:xfrm>
          <a:prstGeom prst="rect">
            <a:avLst/>
          </a:prstGeom>
          <a:noFill/>
          <a:ln/>
        </p:spPr>
        <p:txBody>
          <a:bodyPr wrap="square" rtlCol="0" anchor="ctr"/>
          <a:lstStyle/>
          <a:p>
            <a:pPr marL="0" indent="0" algn="ctr">
              <a:buNone/>
            </a:pPr>
            <a:r>
              <a:rPr lang="en-US" sz="1100" i="1" dirty="0">
                <a:solidFill>
                  <a:srgbClr val="5C7A99"/>
                </a:solidFill>
                <a:latin typeface="Calibri" pitchFamily="34" charset="0"/>
                <a:ea typeface="Calibri" pitchFamily="34" charset="-122"/>
                <a:cs typeface="Calibri" pitchFamily="34" charset="-120"/>
              </a:rPr>
              <a:t>Packets are routed hop by hop using the destination IP address.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9FC"/>
        </a:solidFill>
        <a:effectLst/>
      </p:bgPr>
    </p:bg>
    <p:spTree>
      <p:nvGrpSpPr>
        <p:cNvPr id="1" name=""/>
        <p:cNvGrpSpPr/>
        <p:nvPr/>
      </p:nvGrpSpPr>
      <p:grpSpPr>
        <a:xfrm>
          <a:off x="0" y="0"/>
          <a:ext cx="0" cy="0"/>
          <a:chOff x="0" y="0"/>
          <a:chExt cx="0" cy="0"/>
        </a:xfrm>
      </p:grpSpPr>
      <p:sp>
        <p:nvSpPr>
          <p:cNvPr id="2" name="Text 0"/>
          <p:cNvSpPr/>
          <p:nvPr/>
        </p:nvSpPr>
        <p:spPr>
          <a:xfrm>
            <a:off x="457200" y="292608"/>
            <a:ext cx="9144000" cy="274320"/>
          </a:xfrm>
          <a:prstGeom prst="rect">
            <a:avLst/>
          </a:prstGeom>
          <a:noFill/>
          <a:ln/>
        </p:spPr>
        <p:txBody>
          <a:bodyPr wrap="square"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LAYER 4 OF 4</a:t>
            </a:r>
            <a:endParaRPr lang="en-US" sz="1200" dirty="0"/>
          </a:p>
        </p:txBody>
      </p:sp>
      <p:sp>
        <p:nvSpPr>
          <p:cNvPr id="3" name="Text 1"/>
          <p:cNvSpPr/>
          <p:nvPr/>
        </p:nvSpPr>
        <p:spPr>
          <a:xfrm>
            <a:off x="457200" y="548640"/>
            <a:ext cx="11247120" cy="640080"/>
          </a:xfrm>
          <a:prstGeom prst="rect">
            <a:avLst/>
          </a:prstGeom>
          <a:noFill/>
          <a:ln/>
        </p:spPr>
        <p:txBody>
          <a:bodyPr wrap="square" rtlCol="0" anchor="ctr"/>
          <a:lstStyle/>
          <a:p>
            <a:pPr marL="0" indent="0">
              <a:buNone/>
            </a:pPr>
            <a:r>
              <a:rPr lang="en-US" sz="3000" b="1" dirty="0">
                <a:solidFill>
                  <a:srgbClr val="0A2647"/>
                </a:solidFill>
                <a:latin typeface="Cambria" pitchFamily="34" charset="0"/>
                <a:ea typeface="Cambria" pitchFamily="34" charset="-122"/>
                <a:cs typeface="Cambria" pitchFamily="34" charset="-120"/>
              </a:rPr>
              <a:t>Network Access Layer — Physical Transmission</a:t>
            </a:r>
            <a:endParaRPr lang="en-US" sz="3000" dirty="0"/>
          </a:p>
        </p:txBody>
      </p:sp>
      <p:sp>
        <p:nvSpPr>
          <p:cNvPr id="4" name="Text 2"/>
          <p:cNvSpPr/>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5C7A99"/>
                </a:solidFill>
                <a:latin typeface="Calibri" pitchFamily="34" charset="0"/>
                <a:ea typeface="Calibri" pitchFamily="34" charset="-122"/>
                <a:cs typeface="Calibri" pitchFamily="34" charset="-120"/>
              </a:rPr>
              <a:t>TEAM-02 · TCP/IP Communication in Action · FCDF-COHORT-11</a:t>
            </a:r>
            <a:endParaRPr lang="en-US" sz="900" dirty="0"/>
          </a:p>
        </p:txBody>
      </p:sp>
      <p:sp>
        <p:nvSpPr>
          <p:cNvPr id="5" name="Text 3"/>
          <p:cNvSpPr/>
          <p:nvPr/>
        </p:nvSpPr>
        <p:spPr>
          <a:xfrm>
            <a:off x="11155680" y="6547104"/>
            <a:ext cx="640080" cy="256032"/>
          </a:xfrm>
          <a:prstGeom prst="rect">
            <a:avLst/>
          </a:prstGeom>
          <a:noFill/>
          <a:ln/>
        </p:spPr>
        <p:txBody>
          <a:bodyPr wrap="square" rtlCol="0" anchor="ctr"/>
          <a:lstStyle/>
          <a:p>
            <a:pPr marL="0" indent="0" algn="r">
              <a:buNone/>
            </a:pPr>
            <a:r>
              <a:rPr lang="en-US" sz="900" dirty="0">
                <a:solidFill>
                  <a:srgbClr val="5C7A99"/>
                </a:solidFill>
                <a:latin typeface="Calibri" pitchFamily="34" charset="0"/>
                <a:ea typeface="Calibri" pitchFamily="34" charset="-122"/>
                <a:cs typeface="Calibri" pitchFamily="34" charset="-120"/>
              </a:rPr>
              <a:t>6 / 12</a:t>
            </a:r>
            <a:endParaRPr lang="en-US" sz="900" dirty="0"/>
          </a:p>
        </p:txBody>
      </p:sp>
      <p:sp>
        <p:nvSpPr>
          <p:cNvPr id="6" name="Shape 4"/>
          <p:cNvSpPr/>
          <p:nvPr/>
        </p:nvSpPr>
        <p:spPr>
          <a:xfrm>
            <a:off x="457200" y="1371600"/>
            <a:ext cx="3017520" cy="365760"/>
          </a:xfrm>
          <a:prstGeom prst="roundRect">
            <a:avLst>
              <a:gd name="adj" fmla="val 50000"/>
            </a:avLst>
          </a:prstGeom>
          <a:solidFill>
            <a:srgbClr val="0A2647"/>
          </a:solidFill>
          <a:ln/>
        </p:spPr>
        <p:txBody>
          <a:bodyPr/>
          <a:lstStyle/>
          <a:p>
            <a:endParaRPr lang="en-US"/>
          </a:p>
        </p:txBody>
      </p:sp>
      <p:sp>
        <p:nvSpPr>
          <p:cNvPr id="7" name="Text 5"/>
          <p:cNvSpPr/>
          <p:nvPr/>
        </p:nvSpPr>
        <p:spPr>
          <a:xfrm>
            <a:off x="457200" y="1371600"/>
            <a:ext cx="301752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NETWORK ACCESS LAYER</a:t>
            </a:r>
            <a:endParaRPr lang="en-US" sz="1200" dirty="0"/>
          </a:p>
        </p:txBody>
      </p:sp>
      <p:sp>
        <p:nvSpPr>
          <p:cNvPr id="8" name="Text 6"/>
          <p:cNvSpPr/>
          <p:nvPr/>
        </p:nvSpPr>
        <p:spPr>
          <a:xfrm>
            <a:off x="457200" y="1920240"/>
            <a:ext cx="5760720" cy="393192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0A2647"/>
                </a:solidFill>
                <a:latin typeface="Calibri" pitchFamily="34" charset="0"/>
                <a:ea typeface="Calibri" pitchFamily="34" charset="-122"/>
                <a:cs typeface="Calibri" pitchFamily="34" charset="-120"/>
              </a:rPr>
              <a:t>Function: wraps the IP packet in a frame and physically transmits bits across a medium — Wi-Fi, Ethernet cable, or fibre.</a:t>
            </a:r>
            <a:endParaRPr lang="en-US" sz="1400" dirty="0"/>
          </a:p>
          <a:p>
            <a:pPr marL="228600" indent="-228600">
              <a:spcAft>
                <a:spcPts val="1000"/>
              </a:spcAft>
              <a:buSzPct val="100000"/>
              <a:buChar char="▪"/>
            </a:pPr>
            <a:r>
              <a:rPr lang="en-US" sz="1400" dirty="0">
                <a:solidFill>
                  <a:srgbClr val="0A2647"/>
                </a:solidFill>
                <a:latin typeface="Calibri" pitchFamily="34" charset="0"/>
                <a:ea typeface="Calibri" pitchFamily="34" charset="-122"/>
                <a:cs typeface="Calibri" pitchFamily="34" charset="-120"/>
              </a:rPr>
              <a:t>Uses MAC addresses — physical hardware addresses — to move the frame to the next device on the local network (e.g., the router).</a:t>
            </a:r>
            <a:endParaRPr lang="en-US" sz="1400" dirty="0"/>
          </a:p>
          <a:p>
            <a:pPr marL="228600" indent="-228600">
              <a:spcAft>
                <a:spcPts val="1000"/>
              </a:spcAft>
              <a:buSzPct val="100000"/>
              <a:buChar char="▪"/>
            </a:pPr>
            <a:r>
              <a:rPr lang="en-US" sz="1400" dirty="0">
                <a:solidFill>
                  <a:srgbClr val="0A2647"/>
                </a:solidFill>
                <a:latin typeface="Calibri" pitchFamily="34" charset="0"/>
                <a:ea typeface="Calibri" pitchFamily="34" charset="-122"/>
                <a:cs typeface="Calibri" pitchFamily="34" charset="-120"/>
              </a:rPr>
              <a:t>Network devices involved: network interface card (NIC), Wi-Fi access point / switch, and the router's local interface.</a:t>
            </a:r>
            <a:endParaRPr lang="en-US" sz="1400" dirty="0"/>
          </a:p>
          <a:p>
            <a:pPr marL="228600" indent="-228600">
              <a:spcAft>
                <a:spcPts val="1000"/>
              </a:spcAft>
              <a:buSzPct val="100000"/>
              <a:buChar char="▪"/>
            </a:pPr>
            <a:r>
              <a:rPr lang="en-US" sz="1400" dirty="0">
                <a:solidFill>
                  <a:srgbClr val="0A2647"/>
                </a:solidFill>
                <a:latin typeface="Calibri" pitchFamily="34" charset="0"/>
                <a:ea typeface="Calibri" pitchFamily="34" charset="-122"/>
                <a:cs typeface="Calibri" pitchFamily="34" charset="-120"/>
              </a:rPr>
              <a:t>This is the only layer that touches the physical medium — every layer above it is logical.</a:t>
            </a:r>
            <a:endParaRPr lang="en-US" sz="1400" dirty="0"/>
          </a:p>
        </p:txBody>
      </p:sp>
      <p:sp>
        <p:nvSpPr>
          <p:cNvPr id="9" name="Shape 7"/>
          <p:cNvSpPr/>
          <p:nvPr/>
        </p:nvSpPr>
        <p:spPr>
          <a:xfrm>
            <a:off x="6492240" y="2057400"/>
            <a:ext cx="502920" cy="502920"/>
          </a:xfrm>
          <a:prstGeom prst="ellipse">
            <a:avLst/>
          </a:prstGeom>
          <a:solidFill>
            <a:srgbClr val="0A2647"/>
          </a:solidFill>
          <a:ln/>
        </p:spPr>
        <p:txBody>
          <a:bodyPr/>
          <a:lstStyle/>
          <a:p>
            <a:endParaRPr lang="en-US"/>
          </a:p>
        </p:txBody>
      </p:sp>
      <p:sp>
        <p:nvSpPr>
          <p:cNvPr id="10" name="Text 8"/>
          <p:cNvSpPr/>
          <p:nvPr/>
        </p:nvSpPr>
        <p:spPr>
          <a:xfrm>
            <a:off x="6492240" y="2057400"/>
            <a:ext cx="50292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7132320" y="2039112"/>
            <a:ext cx="3291840" cy="274320"/>
          </a:xfrm>
          <a:prstGeom prst="rect">
            <a:avLst/>
          </a:prstGeom>
          <a:noFill/>
          <a:ln/>
        </p:spPr>
        <p:txBody>
          <a:bodyPr wrap="square" lIns="0" tIns="0" rIns="0" bIns="0" rtlCol="0" anchor="ctr"/>
          <a:lstStyle/>
          <a:p>
            <a:pPr marL="0" indent="0">
              <a:buNone/>
            </a:pPr>
            <a:r>
              <a:rPr lang="en-US" sz="1300" b="1" dirty="0">
                <a:solidFill>
                  <a:srgbClr val="0A2647"/>
                </a:solidFill>
                <a:latin typeface="Calibri" pitchFamily="34" charset="0"/>
                <a:ea typeface="Calibri" pitchFamily="34" charset="-122"/>
                <a:cs typeface="Calibri" pitchFamily="34" charset="-120"/>
              </a:rPr>
              <a:t>Laptop (NIC)</a:t>
            </a:r>
            <a:endParaRPr lang="en-US" sz="1300" dirty="0"/>
          </a:p>
        </p:txBody>
      </p:sp>
      <p:sp>
        <p:nvSpPr>
          <p:cNvPr id="12" name="Text 10"/>
          <p:cNvSpPr/>
          <p:nvPr/>
        </p:nvSpPr>
        <p:spPr>
          <a:xfrm>
            <a:off x="7132320" y="2313432"/>
            <a:ext cx="3291840" cy="274320"/>
          </a:xfrm>
          <a:prstGeom prst="rect">
            <a:avLst/>
          </a:prstGeom>
          <a:noFill/>
          <a:ln/>
        </p:spPr>
        <p:txBody>
          <a:bodyPr wrap="square" lIns="0" tIns="0" rIns="0" bIns="0" rtlCol="0" anchor="ctr"/>
          <a:lstStyle/>
          <a:p>
            <a:pPr marL="0" indent="0">
              <a:buNone/>
            </a:pPr>
            <a:r>
              <a:rPr lang="en-US" sz="1050" dirty="0">
                <a:solidFill>
                  <a:srgbClr val="5C7A99"/>
                </a:solidFill>
                <a:latin typeface="Courier New" pitchFamily="34" charset="0"/>
                <a:ea typeface="Courier New" pitchFamily="34" charset="-122"/>
                <a:cs typeface="Courier New" pitchFamily="34" charset="-120"/>
              </a:rPr>
              <a:t>MAC: A4:5E:60:11:22:33</a:t>
            </a:r>
            <a:endParaRPr lang="en-US" sz="1050" dirty="0"/>
          </a:p>
        </p:txBody>
      </p:sp>
      <p:sp>
        <p:nvSpPr>
          <p:cNvPr id="13" name="Shape 11"/>
          <p:cNvSpPr/>
          <p:nvPr/>
        </p:nvSpPr>
        <p:spPr>
          <a:xfrm>
            <a:off x="6743700" y="2606040"/>
            <a:ext cx="0" cy="320040"/>
          </a:xfrm>
          <a:prstGeom prst="line">
            <a:avLst/>
          </a:prstGeom>
          <a:noFill/>
          <a:ln w="25400">
            <a:solidFill>
              <a:srgbClr val="5C7A99"/>
            </a:solidFill>
            <a:prstDash val="solid"/>
            <a:tailEnd type="triangle"/>
          </a:ln>
        </p:spPr>
        <p:txBody>
          <a:bodyPr/>
          <a:lstStyle/>
          <a:p>
            <a:endParaRPr lang="en-US"/>
          </a:p>
        </p:txBody>
      </p:sp>
      <p:sp>
        <p:nvSpPr>
          <p:cNvPr id="14" name="Shape 12"/>
          <p:cNvSpPr/>
          <p:nvPr/>
        </p:nvSpPr>
        <p:spPr>
          <a:xfrm>
            <a:off x="6492240" y="2926080"/>
            <a:ext cx="502920" cy="502920"/>
          </a:xfrm>
          <a:prstGeom prst="ellipse">
            <a:avLst/>
          </a:prstGeom>
          <a:solidFill>
            <a:srgbClr val="0A2647"/>
          </a:solidFill>
          <a:ln/>
        </p:spPr>
        <p:txBody>
          <a:bodyPr/>
          <a:lstStyle/>
          <a:p>
            <a:endParaRPr lang="en-US"/>
          </a:p>
        </p:txBody>
      </p:sp>
      <p:sp>
        <p:nvSpPr>
          <p:cNvPr id="15" name="Text 13"/>
          <p:cNvSpPr/>
          <p:nvPr/>
        </p:nvSpPr>
        <p:spPr>
          <a:xfrm>
            <a:off x="6492240" y="2926080"/>
            <a:ext cx="50292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16" name="Text 14"/>
          <p:cNvSpPr/>
          <p:nvPr/>
        </p:nvSpPr>
        <p:spPr>
          <a:xfrm>
            <a:off x="7132320" y="2907792"/>
            <a:ext cx="3291840" cy="274320"/>
          </a:xfrm>
          <a:prstGeom prst="rect">
            <a:avLst/>
          </a:prstGeom>
          <a:noFill/>
          <a:ln/>
        </p:spPr>
        <p:txBody>
          <a:bodyPr wrap="square" lIns="0" tIns="0" rIns="0" bIns="0" rtlCol="0" anchor="ctr"/>
          <a:lstStyle/>
          <a:p>
            <a:pPr marL="0" indent="0">
              <a:buNone/>
            </a:pPr>
            <a:r>
              <a:rPr lang="en-US" sz="1300" b="1" dirty="0">
                <a:solidFill>
                  <a:srgbClr val="0A2647"/>
                </a:solidFill>
                <a:latin typeface="Calibri" pitchFamily="34" charset="0"/>
                <a:ea typeface="Calibri" pitchFamily="34" charset="-122"/>
                <a:cs typeface="Calibri" pitchFamily="34" charset="-120"/>
              </a:rPr>
              <a:t>Wi-Fi Access Point</a:t>
            </a:r>
            <a:endParaRPr lang="en-US" sz="1300" dirty="0"/>
          </a:p>
        </p:txBody>
      </p:sp>
      <p:sp>
        <p:nvSpPr>
          <p:cNvPr id="17" name="Text 15"/>
          <p:cNvSpPr/>
          <p:nvPr/>
        </p:nvSpPr>
        <p:spPr>
          <a:xfrm>
            <a:off x="7132320" y="3182112"/>
            <a:ext cx="3291840" cy="274320"/>
          </a:xfrm>
          <a:prstGeom prst="rect">
            <a:avLst/>
          </a:prstGeom>
          <a:noFill/>
          <a:ln/>
        </p:spPr>
        <p:txBody>
          <a:bodyPr wrap="square" lIns="0" tIns="0" rIns="0" bIns="0" rtlCol="0" anchor="ctr"/>
          <a:lstStyle/>
          <a:p>
            <a:pPr marL="0" indent="0">
              <a:buNone/>
            </a:pPr>
            <a:r>
              <a:rPr lang="en-US" sz="1050" dirty="0">
                <a:solidFill>
                  <a:srgbClr val="5C7A99"/>
                </a:solidFill>
                <a:latin typeface="Courier New" pitchFamily="34" charset="0"/>
                <a:ea typeface="Courier New" pitchFamily="34" charset="-122"/>
                <a:cs typeface="Courier New" pitchFamily="34" charset="-120"/>
              </a:rPr>
              <a:t>802.11 wireless link</a:t>
            </a:r>
            <a:endParaRPr lang="en-US" sz="1050" dirty="0"/>
          </a:p>
        </p:txBody>
      </p:sp>
      <p:sp>
        <p:nvSpPr>
          <p:cNvPr id="18" name="Shape 16"/>
          <p:cNvSpPr/>
          <p:nvPr/>
        </p:nvSpPr>
        <p:spPr>
          <a:xfrm>
            <a:off x="6743700" y="3474720"/>
            <a:ext cx="0" cy="320040"/>
          </a:xfrm>
          <a:prstGeom prst="line">
            <a:avLst/>
          </a:prstGeom>
          <a:noFill/>
          <a:ln w="25400">
            <a:solidFill>
              <a:srgbClr val="5C7A99"/>
            </a:solidFill>
            <a:prstDash val="solid"/>
            <a:tailEnd type="triangle"/>
          </a:ln>
        </p:spPr>
        <p:txBody>
          <a:bodyPr/>
          <a:lstStyle/>
          <a:p>
            <a:endParaRPr lang="en-US"/>
          </a:p>
        </p:txBody>
      </p:sp>
      <p:sp>
        <p:nvSpPr>
          <p:cNvPr id="19" name="Shape 17"/>
          <p:cNvSpPr/>
          <p:nvPr/>
        </p:nvSpPr>
        <p:spPr>
          <a:xfrm>
            <a:off x="6492240" y="3794760"/>
            <a:ext cx="502920" cy="502920"/>
          </a:xfrm>
          <a:prstGeom prst="ellipse">
            <a:avLst/>
          </a:prstGeom>
          <a:solidFill>
            <a:srgbClr val="0A2647"/>
          </a:solidFill>
          <a:ln/>
        </p:spPr>
        <p:txBody>
          <a:bodyPr/>
          <a:lstStyle/>
          <a:p>
            <a:endParaRPr lang="en-US"/>
          </a:p>
        </p:txBody>
      </p:sp>
      <p:sp>
        <p:nvSpPr>
          <p:cNvPr id="20" name="Text 18"/>
          <p:cNvSpPr/>
          <p:nvPr/>
        </p:nvSpPr>
        <p:spPr>
          <a:xfrm>
            <a:off x="6492240" y="3794760"/>
            <a:ext cx="50292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21" name="Text 19"/>
          <p:cNvSpPr/>
          <p:nvPr/>
        </p:nvSpPr>
        <p:spPr>
          <a:xfrm>
            <a:off x="7132320" y="3776472"/>
            <a:ext cx="3291840" cy="274320"/>
          </a:xfrm>
          <a:prstGeom prst="rect">
            <a:avLst/>
          </a:prstGeom>
          <a:noFill/>
          <a:ln/>
        </p:spPr>
        <p:txBody>
          <a:bodyPr wrap="square" lIns="0" tIns="0" rIns="0" bIns="0" rtlCol="0" anchor="ctr"/>
          <a:lstStyle/>
          <a:p>
            <a:pPr marL="0" indent="0">
              <a:buNone/>
            </a:pPr>
            <a:r>
              <a:rPr lang="en-US" sz="1300" b="1" dirty="0">
                <a:solidFill>
                  <a:srgbClr val="0A2647"/>
                </a:solidFill>
                <a:latin typeface="Calibri" pitchFamily="34" charset="0"/>
                <a:ea typeface="Calibri" pitchFamily="34" charset="-122"/>
                <a:cs typeface="Calibri" pitchFamily="34" charset="-120"/>
              </a:rPr>
              <a:t>Router / Switch</a:t>
            </a:r>
            <a:endParaRPr lang="en-US" sz="1300" dirty="0"/>
          </a:p>
        </p:txBody>
      </p:sp>
      <p:sp>
        <p:nvSpPr>
          <p:cNvPr id="22" name="Text 20"/>
          <p:cNvSpPr/>
          <p:nvPr/>
        </p:nvSpPr>
        <p:spPr>
          <a:xfrm>
            <a:off x="7132320" y="4050792"/>
            <a:ext cx="3291840" cy="274320"/>
          </a:xfrm>
          <a:prstGeom prst="rect">
            <a:avLst/>
          </a:prstGeom>
          <a:noFill/>
          <a:ln/>
        </p:spPr>
        <p:txBody>
          <a:bodyPr wrap="square" lIns="0" tIns="0" rIns="0" bIns="0" rtlCol="0" anchor="ctr"/>
          <a:lstStyle/>
          <a:p>
            <a:pPr marL="0" indent="0">
              <a:buNone/>
            </a:pPr>
            <a:r>
              <a:rPr lang="en-US" sz="1050" dirty="0">
                <a:solidFill>
                  <a:srgbClr val="5C7A99"/>
                </a:solidFill>
                <a:latin typeface="Courier New" pitchFamily="34" charset="0"/>
                <a:ea typeface="Courier New" pitchFamily="34" charset="-122"/>
                <a:cs typeface="Courier New" pitchFamily="34" charset="-120"/>
              </a:rPr>
              <a:t>Forwards frame onward</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9FC"/>
        </a:solidFill>
        <a:effectLst/>
      </p:bgPr>
    </p:bg>
    <p:spTree>
      <p:nvGrpSpPr>
        <p:cNvPr id="1" name=""/>
        <p:cNvGrpSpPr/>
        <p:nvPr/>
      </p:nvGrpSpPr>
      <p:grpSpPr>
        <a:xfrm>
          <a:off x="0" y="0"/>
          <a:ext cx="0" cy="0"/>
          <a:chOff x="0" y="0"/>
          <a:chExt cx="0" cy="0"/>
        </a:xfrm>
      </p:grpSpPr>
      <p:sp>
        <p:nvSpPr>
          <p:cNvPr id="2" name="Text 0"/>
          <p:cNvSpPr/>
          <p:nvPr/>
        </p:nvSpPr>
        <p:spPr>
          <a:xfrm>
            <a:off x="457200" y="292608"/>
            <a:ext cx="9144000" cy="274320"/>
          </a:xfrm>
          <a:prstGeom prst="rect">
            <a:avLst/>
          </a:prstGeom>
          <a:noFill/>
          <a:ln/>
        </p:spPr>
        <p:txBody>
          <a:bodyPr wrap="square"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DATA JOURNEY</a:t>
            </a:r>
            <a:endParaRPr lang="en-US" sz="1200" dirty="0"/>
          </a:p>
        </p:txBody>
      </p:sp>
      <p:sp>
        <p:nvSpPr>
          <p:cNvPr id="3" name="Text 1"/>
          <p:cNvSpPr/>
          <p:nvPr/>
        </p:nvSpPr>
        <p:spPr>
          <a:xfrm>
            <a:off x="457200" y="548640"/>
            <a:ext cx="11247120" cy="640080"/>
          </a:xfrm>
          <a:prstGeom prst="rect">
            <a:avLst/>
          </a:prstGeom>
          <a:noFill/>
          <a:ln/>
        </p:spPr>
        <p:txBody>
          <a:bodyPr wrap="square" rtlCol="0" anchor="ctr"/>
          <a:lstStyle/>
          <a:p>
            <a:pPr marL="0" indent="0">
              <a:buNone/>
            </a:pPr>
            <a:r>
              <a:rPr lang="en-US" sz="3000" b="1" dirty="0">
                <a:solidFill>
                  <a:srgbClr val="0A2647"/>
                </a:solidFill>
                <a:latin typeface="Cambria" pitchFamily="34" charset="0"/>
                <a:ea typeface="Cambria" pitchFamily="34" charset="-122"/>
                <a:cs typeface="Cambria" pitchFamily="34" charset="-120"/>
              </a:rPr>
              <a:t>Encapsulation &amp; Decapsulation</a:t>
            </a:r>
            <a:endParaRPr lang="en-US" sz="3000" dirty="0"/>
          </a:p>
        </p:txBody>
      </p:sp>
      <p:sp>
        <p:nvSpPr>
          <p:cNvPr id="4" name="Text 2"/>
          <p:cNvSpPr/>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5C7A99"/>
                </a:solidFill>
                <a:latin typeface="Calibri" pitchFamily="34" charset="0"/>
                <a:ea typeface="Calibri" pitchFamily="34" charset="-122"/>
                <a:cs typeface="Calibri" pitchFamily="34" charset="-120"/>
              </a:rPr>
              <a:t>TEAM-02 · TCP/IP Communication in Action · FCDF-COHORT-11</a:t>
            </a:r>
            <a:endParaRPr lang="en-US" sz="900" dirty="0"/>
          </a:p>
        </p:txBody>
      </p:sp>
      <p:sp>
        <p:nvSpPr>
          <p:cNvPr id="5" name="Text 3"/>
          <p:cNvSpPr/>
          <p:nvPr/>
        </p:nvSpPr>
        <p:spPr>
          <a:xfrm>
            <a:off x="11155680" y="6547104"/>
            <a:ext cx="640080" cy="256032"/>
          </a:xfrm>
          <a:prstGeom prst="rect">
            <a:avLst/>
          </a:prstGeom>
          <a:noFill/>
          <a:ln/>
        </p:spPr>
        <p:txBody>
          <a:bodyPr wrap="square" rtlCol="0" anchor="ctr"/>
          <a:lstStyle/>
          <a:p>
            <a:pPr marL="0" indent="0" algn="r">
              <a:buNone/>
            </a:pPr>
            <a:r>
              <a:rPr lang="en-US" sz="900" dirty="0">
                <a:solidFill>
                  <a:srgbClr val="5C7A99"/>
                </a:solidFill>
                <a:latin typeface="Calibri" pitchFamily="34" charset="0"/>
                <a:ea typeface="Calibri" pitchFamily="34" charset="-122"/>
                <a:cs typeface="Calibri" pitchFamily="34" charset="-120"/>
              </a:rPr>
              <a:t>7 / 12</a:t>
            </a:r>
            <a:endParaRPr lang="en-US" sz="900" dirty="0"/>
          </a:p>
        </p:txBody>
      </p:sp>
      <p:sp>
        <p:nvSpPr>
          <p:cNvPr id="6" name="Text 4"/>
          <p:cNvSpPr/>
          <p:nvPr/>
        </p:nvSpPr>
        <p:spPr>
          <a:xfrm>
            <a:off x="457200" y="1280160"/>
            <a:ext cx="11247120" cy="320040"/>
          </a:xfrm>
          <a:prstGeom prst="rect">
            <a:avLst/>
          </a:prstGeom>
          <a:noFill/>
          <a:ln/>
        </p:spPr>
        <p:txBody>
          <a:bodyPr wrap="square" rtlCol="0" anchor="ctr"/>
          <a:lstStyle/>
          <a:p>
            <a:pPr marL="0" indent="0">
              <a:buNone/>
            </a:pPr>
            <a:r>
              <a:rPr lang="en-US" sz="1250" i="1" dirty="0">
                <a:solidFill>
                  <a:srgbClr val="5C7A99"/>
                </a:solidFill>
                <a:latin typeface="Calibri" pitchFamily="34" charset="0"/>
                <a:ea typeface="Calibri" pitchFamily="34" charset="-122"/>
                <a:cs typeface="Calibri" pitchFamily="34" charset="-120"/>
              </a:rPr>
              <a:t>As data descends the client's stack, each layer adds its own header (encapsulation). The server reverses the process on receipt (decapsulation).</a:t>
            </a:r>
            <a:endParaRPr lang="en-US" sz="1250" dirty="0"/>
          </a:p>
        </p:txBody>
      </p:sp>
      <p:sp>
        <p:nvSpPr>
          <p:cNvPr id="7" name="Shape 5"/>
          <p:cNvSpPr/>
          <p:nvPr/>
        </p:nvSpPr>
        <p:spPr>
          <a:xfrm>
            <a:off x="457200" y="2011680"/>
            <a:ext cx="4480560" cy="548640"/>
          </a:xfrm>
          <a:prstGeom prst="roundRect">
            <a:avLst>
              <a:gd name="adj" fmla="val 10000"/>
            </a:avLst>
          </a:prstGeom>
          <a:solidFill>
            <a:srgbClr val="4FB0C6"/>
          </a:solidFill>
          <a:ln/>
        </p:spPr>
        <p:txBody>
          <a:bodyPr/>
          <a:lstStyle/>
          <a:p>
            <a:endParaRPr lang="en-US"/>
          </a:p>
        </p:txBody>
      </p:sp>
      <p:sp>
        <p:nvSpPr>
          <p:cNvPr id="8" name="Text 6"/>
          <p:cNvSpPr/>
          <p:nvPr/>
        </p:nvSpPr>
        <p:spPr>
          <a:xfrm>
            <a:off x="640080" y="2011680"/>
            <a:ext cx="4114800" cy="5486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Data</a:t>
            </a:r>
            <a:endParaRPr lang="en-US" sz="1250" dirty="0"/>
          </a:p>
        </p:txBody>
      </p:sp>
      <p:sp>
        <p:nvSpPr>
          <p:cNvPr id="9" name="Shape 7"/>
          <p:cNvSpPr/>
          <p:nvPr/>
        </p:nvSpPr>
        <p:spPr>
          <a:xfrm>
            <a:off x="731520" y="2587752"/>
            <a:ext cx="0" cy="128016"/>
          </a:xfrm>
          <a:prstGeom prst="line">
            <a:avLst/>
          </a:prstGeom>
          <a:noFill/>
          <a:ln w="25400">
            <a:solidFill>
              <a:srgbClr val="5C7A99"/>
            </a:solidFill>
            <a:prstDash val="solid"/>
            <a:tailEnd type="triangle"/>
          </a:ln>
        </p:spPr>
        <p:txBody>
          <a:bodyPr/>
          <a:lstStyle/>
          <a:p>
            <a:endParaRPr lang="en-US"/>
          </a:p>
        </p:txBody>
      </p:sp>
      <p:sp>
        <p:nvSpPr>
          <p:cNvPr id="10" name="Shape 8"/>
          <p:cNvSpPr/>
          <p:nvPr/>
        </p:nvSpPr>
        <p:spPr>
          <a:xfrm>
            <a:off x="457200" y="2743200"/>
            <a:ext cx="4480560" cy="548640"/>
          </a:xfrm>
          <a:prstGeom prst="roundRect">
            <a:avLst>
              <a:gd name="adj" fmla="val 10000"/>
            </a:avLst>
          </a:prstGeom>
          <a:solidFill>
            <a:srgbClr val="2C82C9"/>
          </a:solidFill>
          <a:ln/>
        </p:spPr>
        <p:txBody>
          <a:bodyPr/>
          <a:lstStyle/>
          <a:p>
            <a:endParaRPr lang="en-US"/>
          </a:p>
        </p:txBody>
      </p:sp>
      <p:sp>
        <p:nvSpPr>
          <p:cNvPr id="11" name="Text 9"/>
          <p:cNvSpPr/>
          <p:nvPr/>
        </p:nvSpPr>
        <p:spPr>
          <a:xfrm>
            <a:off x="640080" y="2743200"/>
            <a:ext cx="4114800" cy="5486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Segment (+TCP header)</a:t>
            </a:r>
            <a:endParaRPr lang="en-US" sz="1250" dirty="0"/>
          </a:p>
        </p:txBody>
      </p:sp>
      <p:sp>
        <p:nvSpPr>
          <p:cNvPr id="12" name="Shape 10"/>
          <p:cNvSpPr/>
          <p:nvPr/>
        </p:nvSpPr>
        <p:spPr>
          <a:xfrm>
            <a:off x="731520" y="3319272"/>
            <a:ext cx="0" cy="128016"/>
          </a:xfrm>
          <a:prstGeom prst="line">
            <a:avLst/>
          </a:prstGeom>
          <a:noFill/>
          <a:ln w="25400">
            <a:solidFill>
              <a:srgbClr val="5C7A99"/>
            </a:solidFill>
            <a:prstDash val="solid"/>
            <a:tailEnd type="triangle"/>
          </a:ln>
        </p:spPr>
        <p:txBody>
          <a:bodyPr/>
          <a:lstStyle/>
          <a:p>
            <a:endParaRPr lang="en-US"/>
          </a:p>
        </p:txBody>
      </p:sp>
      <p:sp>
        <p:nvSpPr>
          <p:cNvPr id="13" name="Shape 11"/>
          <p:cNvSpPr/>
          <p:nvPr/>
        </p:nvSpPr>
        <p:spPr>
          <a:xfrm>
            <a:off x="457200" y="3474720"/>
            <a:ext cx="4480560" cy="548640"/>
          </a:xfrm>
          <a:prstGeom prst="roundRect">
            <a:avLst>
              <a:gd name="adj" fmla="val 10000"/>
            </a:avLst>
          </a:prstGeom>
          <a:solidFill>
            <a:srgbClr val="1B4F72"/>
          </a:solidFill>
          <a:ln/>
        </p:spPr>
        <p:txBody>
          <a:bodyPr/>
          <a:lstStyle/>
          <a:p>
            <a:endParaRPr lang="en-US"/>
          </a:p>
        </p:txBody>
      </p:sp>
      <p:sp>
        <p:nvSpPr>
          <p:cNvPr id="14" name="Text 12"/>
          <p:cNvSpPr/>
          <p:nvPr/>
        </p:nvSpPr>
        <p:spPr>
          <a:xfrm>
            <a:off x="640080" y="3474720"/>
            <a:ext cx="4114800" cy="5486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Packet (+IP header)</a:t>
            </a:r>
            <a:endParaRPr lang="en-US" sz="1250" dirty="0"/>
          </a:p>
        </p:txBody>
      </p:sp>
      <p:sp>
        <p:nvSpPr>
          <p:cNvPr id="15" name="Shape 13"/>
          <p:cNvSpPr/>
          <p:nvPr/>
        </p:nvSpPr>
        <p:spPr>
          <a:xfrm>
            <a:off x="731520" y="4050792"/>
            <a:ext cx="0" cy="128016"/>
          </a:xfrm>
          <a:prstGeom prst="line">
            <a:avLst/>
          </a:prstGeom>
          <a:noFill/>
          <a:ln w="25400">
            <a:solidFill>
              <a:srgbClr val="5C7A99"/>
            </a:solidFill>
            <a:prstDash val="solid"/>
            <a:tailEnd type="triangle"/>
          </a:ln>
        </p:spPr>
        <p:txBody>
          <a:bodyPr/>
          <a:lstStyle/>
          <a:p>
            <a:endParaRPr lang="en-US"/>
          </a:p>
        </p:txBody>
      </p:sp>
      <p:sp>
        <p:nvSpPr>
          <p:cNvPr id="16" name="Shape 14"/>
          <p:cNvSpPr/>
          <p:nvPr/>
        </p:nvSpPr>
        <p:spPr>
          <a:xfrm>
            <a:off x="457200" y="4206240"/>
            <a:ext cx="4480560" cy="548640"/>
          </a:xfrm>
          <a:prstGeom prst="roundRect">
            <a:avLst>
              <a:gd name="adj" fmla="val 10000"/>
            </a:avLst>
          </a:prstGeom>
          <a:solidFill>
            <a:srgbClr val="0A2647"/>
          </a:solidFill>
          <a:ln/>
        </p:spPr>
        <p:txBody>
          <a:bodyPr/>
          <a:lstStyle/>
          <a:p>
            <a:endParaRPr lang="en-US"/>
          </a:p>
        </p:txBody>
      </p:sp>
      <p:sp>
        <p:nvSpPr>
          <p:cNvPr id="17" name="Text 15"/>
          <p:cNvSpPr/>
          <p:nvPr/>
        </p:nvSpPr>
        <p:spPr>
          <a:xfrm>
            <a:off x="640080" y="4206240"/>
            <a:ext cx="4114800" cy="5486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Frame (+MAC header) → Bits</a:t>
            </a:r>
            <a:endParaRPr lang="en-US" sz="1250" dirty="0"/>
          </a:p>
        </p:txBody>
      </p:sp>
      <p:sp>
        <p:nvSpPr>
          <p:cNvPr id="18" name="Text 16"/>
          <p:cNvSpPr/>
          <p:nvPr/>
        </p:nvSpPr>
        <p:spPr>
          <a:xfrm>
            <a:off x="457200" y="1719072"/>
            <a:ext cx="4480560" cy="228600"/>
          </a:xfrm>
          <a:prstGeom prst="rect">
            <a:avLst/>
          </a:prstGeom>
          <a:noFill/>
          <a:ln/>
        </p:spPr>
        <p:txBody>
          <a:bodyPr wrap="square" rtlCol="0" anchor="ctr"/>
          <a:lstStyle/>
          <a:p>
            <a:pPr marL="0" indent="0">
              <a:buNone/>
            </a:pPr>
            <a:r>
              <a:rPr lang="en-US" sz="1000" b="1" dirty="0">
                <a:solidFill>
                  <a:srgbClr val="00A896"/>
                </a:solidFill>
                <a:latin typeface="Calibri" pitchFamily="34" charset="0"/>
                <a:ea typeface="Calibri" pitchFamily="34" charset="-122"/>
                <a:cs typeface="Calibri" pitchFamily="34" charset="-120"/>
              </a:rPr>
              <a:t>ENCAPSULATION (sender, top → bottom)</a:t>
            </a:r>
            <a:endParaRPr lang="en-US" sz="1000" dirty="0"/>
          </a:p>
        </p:txBody>
      </p:sp>
      <p:sp>
        <p:nvSpPr>
          <p:cNvPr id="19" name="Text 17"/>
          <p:cNvSpPr/>
          <p:nvPr/>
        </p:nvSpPr>
        <p:spPr>
          <a:xfrm>
            <a:off x="5257800" y="1719072"/>
            <a:ext cx="6446520" cy="228600"/>
          </a:xfrm>
          <a:prstGeom prst="rect">
            <a:avLst/>
          </a:prstGeom>
          <a:noFill/>
          <a:ln/>
        </p:spPr>
        <p:txBody>
          <a:bodyPr wrap="square" rtlCol="0" anchor="ctr"/>
          <a:lstStyle/>
          <a:p>
            <a:pPr marL="0" indent="0">
              <a:buNone/>
            </a:pPr>
            <a:r>
              <a:rPr lang="en-US" sz="1000" b="1" dirty="0">
                <a:solidFill>
                  <a:srgbClr val="00A896"/>
                </a:solidFill>
                <a:latin typeface="Calibri" pitchFamily="34" charset="0"/>
                <a:ea typeface="Calibri" pitchFamily="34" charset="-122"/>
                <a:cs typeface="Calibri" pitchFamily="34" charset="-120"/>
              </a:rPr>
              <a:t>PROTOCOL ANALYSIS TABLE</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257800" y="2011680"/>
          <a:ext cx="6446520" cy="1303020"/>
        </p:xfrm>
        <a:graphic>
          <a:graphicData uri="http://schemas.openxmlformats.org/drawingml/2006/table">
            <a:tbl>
              <a:tblPr/>
              <a:tblGrid>
                <a:gridCol w="13258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0">
                <a:tc>
                  <a:txBody>
                    <a:bodyPr/>
                    <a:lstStyle/>
                    <a:p>
                      <a:pPr marL="0" indent="0">
                        <a:buNone/>
                      </a:pPr>
                      <a:r>
                        <a:rPr lang="en-US" sz="1050" b="1" dirty="0">
                          <a:solidFill>
                            <a:srgbClr val="FFFFFF"/>
                          </a:solidFill>
                        </a:rPr>
                        <a:t>Layer</a:t>
                      </a:r>
                      <a:endParaRPr lang="en-US" sz="105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0A2647"/>
                    </a:solidFill>
                  </a:tcPr>
                </a:tc>
                <a:tc>
                  <a:txBody>
                    <a:bodyPr/>
                    <a:lstStyle/>
                    <a:p>
                      <a:pPr marL="0" indent="0">
                        <a:buNone/>
                      </a:pPr>
                      <a:r>
                        <a:rPr lang="en-US" sz="1050" b="1" dirty="0">
                          <a:solidFill>
                            <a:srgbClr val="FFFFFF"/>
                          </a:solidFill>
                        </a:rPr>
                        <a:t>Protocol</a:t>
                      </a:r>
                      <a:endParaRPr lang="en-US" sz="105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0A2647"/>
                    </a:solidFill>
                  </a:tcPr>
                </a:tc>
                <a:tc>
                  <a:txBody>
                    <a:bodyPr/>
                    <a:lstStyle/>
                    <a:p>
                      <a:pPr marL="0" indent="0">
                        <a:buNone/>
                      </a:pPr>
                      <a:r>
                        <a:rPr lang="en-US" sz="1050" b="1" dirty="0">
                          <a:solidFill>
                            <a:srgbClr val="FFFFFF"/>
                          </a:solidFill>
                        </a:rPr>
                        <a:t>PDU</a:t>
                      </a:r>
                      <a:endParaRPr lang="en-US" sz="105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0A2647"/>
                    </a:solidFill>
                  </a:tcPr>
                </a:tc>
                <a:tc>
                  <a:txBody>
                    <a:bodyPr/>
                    <a:lstStyle/>
                    <a:p>
                      <a:pPr marL="0" indent="0">
                        <a:buNone/>
                      </a:pPr>
                      <a:r>
                        <a:rPr lang="en-US" sz="1050" b="1" dirty="0">
                          <a:solidFill>
                            <a:srgbClr val="FFFFFF"/>
                          </a:solidFill>
                        </a:rPr>
                        <a:t>Addressing</a:t>
                      </a:r>
                      <a:endParaRPr lang="en-US" sz="105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0A2647"/>
                    </a:solidFill>
                  </a:tcPr>
                </a:tc>
                <a:tc>
                  <a:txBody>
                    <a:bodyPr/>
                    <a:lstStyle/>
                    <a:p>
                      <a:pPr marL="0" indent="0">
                        <a:buNone/>
                      </a:pPr>
                      <a:r>
                        <a:rPr lang="en-US" sz="1050" b="1" dirty="0">
                          <a:solidFill>
                            <a:srgbClr val="FFFFFF"/>
                          </a:solidFill>
                        </a:rPr>
                        <a:t>Purpose</a:t>
                      </a:r>
                      <a:endParaRPr lang="en-US" sz="105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0A2647"/>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0A2647"/>
                          </a:solidFill>
                        </a:rPr>
                        <a:t>Application</a:t>
                      </a:r>
                      <a:endParaRPr lang="en-US" sz="100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000" dirty="0">
                          <a:solidFill>
                            <a:srgbClr val="0A2647"/>
                          </a:solidFill>
                        </a:rPr>
                        <a:t>HTTPS/DNS/TLS</a:t>
                      </a:r>
                      <a:endParaRPr lang="en-US" sz="100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000" dirty="0">
                          <a:solidFill>
                            <a:srgbClr val="0A2647"/>
                          </a:solidFill>
                        </a:rPr>
                        <a:t>Data</a:t>
                      </a:r>
                      <a:endParaRPr lang="en-US" sz="100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000" dirty="0">
                          <a:solidFill>
                            <a:srgbClr val="0A2647"/>
                          </a:solidFill>
                        </a:rPr>
                        <a:t>URL / domain name</a:t>
                      </a:r>
                      <a:endParaRPr lang="en-US" sz="100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000" dirty="0">
                          <a:solidFill>
                            <a:srgbClr val="0A2647"/>
                          </a:solidFill>
                        </a:rPr>
                        <a:t>Build &amp; encrypt request</a:t>
                      </a:r>
                      <a:endParaRPr lang="en-US" sz="100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dirty="0">
                          <a:solidFill>
                            <a:srgbClr val="0A2647"/>
                          </a:solidFill>
                        </a:rPr>
                        <a:t>Transport</a:t>
                      </a:r>
                      <a:endParaRPr lang="en-US" sz="100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000" dirty="0">
                          <a:solidFill>
                            <a:srgbClr val="0A2647"/>
                          </a:solidFill>
                        </a:rPr>
                        <a:t>TCP</a:t>
                      </a:r>
                      <a:endParaRPr lang="en-US" sz="100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000" dirty="0">
                          <a:solidFill>
                            <a:srgbClr val="0A2647"/>
                          </a:solidFill>
                        </a:rPr>
                        <a:t>Segment</a:t>
                      </a:r>
                      <a:endParaRPr lang="en-US" sz="100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000" dirty="0">
                          <a:solidFill>
                            <a:srgbClr val="0A2647"/>
                          </a:solidFill>
                        </a:rPr>
                        <a:t>Port 443 / ephemeral</a:t>
                      </a:r>
                      <a:endParaRPr lang="en-US" sz="100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000" dirty="0">
                          <a:solidFill>
                            <a:srgbClr val="0A2647"/>
                          </a:solidFill>
                        </a:rPr>
                        <a:t>Reliable, ordered delivery</a:t>
                      </a:r>
                      <a:endParaRPr lang="en-US" sz="100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000" dirty="0">
                          <a:solidFill>
                            <a:srgbClr val="0A2647"/>
                          </a:solidFill>
                        </a:rPr>
                        <a:t>Internet</a:t>
                      </a:r>
                      <a:endParaRPr lang="en-US" sz="100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000" dirty="0">
                          <a:solidFill>
                            <a:srgbClr val="0A2647"/>
                          </a:solidFill>
                        </a:rPr>
                        <a:t>IP</a:t>
                      </a:r>
                      <a:endParaRPr lang="en-US" sz="100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000" dirty="0">
                          <a:solidFill>
                            <a:srgbClr val="0A2647"/>
                          </a:solidFill>
                        </a:rPr>
                        <a:t>Packet</a:t>
                      </a:r>
                      <a:endParaRPr lang="en-US" sz="100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000" dirty="0">
                          <a:solidFill>
                            <a:srgbClr val="0A2647"/>
                          </a:solidFill>
                        </a:rPr>
                        <a:t>Source / dest. IP</a:t>
                      </a:r>
                      <a:endParaRPr lang="en-US" sz="100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000" dirty="0">
                          <a:solidFill>
                            <a:srgbClr val="0A2647"/>
                          </a:solidFill>
                        </a:rPr>
                        <a:t>Logical addressing &amp; routing</a:t>
                      </a:r>
                      <a:endParaRPr lang="en-US" sz="100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dirty="0">
                          <a:solidFill>
                            <a:srgbClr val="0A2647"/>
                          </a:solidFill>
                        </a:rPr>
                        <a:t>Network Access</a:t>
                      </a:r>
                      <a:endParaRPr lang="en-US" sz="100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000" dirty="0">
                          <a:solidFill>
                            <a:srgbClr val="0A2647"/>
                          </a:solidFill>
                        </a:rPr>
                        <a:t>Ethernet / Wi-Fi</a:t>
                      </a:r>
                      <a:endParaRPr lang="en-US" sz="100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000" dirty="0">
                          <a:solidFill>
                            <a:srgbClr val="0A2647"/>
                          </a:solidFill>
                        </a:rPr>
                        <a:t>Frame</a:t>
                      </a:r>
                      <a:endParaRPr lang="en-US" sz="100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000" dirty="0">
                          <a:solidFill>
                            <a:srgbClr val="0A2647"/>
                          </a:solidFill>
                        </a:rPr>
                        <a:t>Source / dest. MAC</a:t>
                      </a:r>
                      <a:endParaRPr lang="en-US" sz="100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000" dirty="0">
                          <a:solidFill>
                            <a:srgbClr val="0A2647"/>
                          </a:solidFill>
                        </a:rPr>
                        <a:t>Physical transmission</a:t>
                      </a:r>
                      <a:endParaRPr lang="en-US" sz="1000" dirty="0"/>
                    </a:p>
                  </a:txBody>
                  <a:tcPr marL="38100" marR="38100" marT="38100" marB="381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1" name="Shape 18"/>
          <p:cNvSpPr/>
          <p:nvPr/>
        </p:nvSpPr>
        <p:spPr>
          <a:xfrm>
            <a:off x="5257800" y="4160520"/>
            <a:ext cx="6446520" cy="1463040"/>
          </a:xfrm>
          <a:prstGeom prst="roundRect">
            <a:avLst>
              <a:gd name="adj" fmla="val 5000"/>
            </a:avLst>
          </a:prstGeom>
          <a:solidFill>
            <a:srgbClr val="E7F3F1"/>
          </a:solidFill>
          <a:ln w="12700">
            <a:solidFill>
              <a:srgbClr val="00A896"/>
            </a:solidFill>
            <a:prstDash val="solid"/>
          </a:ln>
        </p:spPr>
        <p:txBody>
          <a:bodyPr/>
          <a:lstStyle/>
          <a:p>
            <a:endParaRPr lang="en-US"/>
          </a:p>
        </p:txBody>
      </p:sp>
      <p:sp>
        <p:nvSpPr>
          <p:cNvPr id="22" name="Text 19"/>
          <p:cNvSpPr/>
          <p:nvPr/>
        </p:nvSpPr>
        <p:spPr>
          <a:xfrm>
            <a:off x="5486400" y="4297680"/>
            <a:ext cx="5989320" cy="228600"/>
          </a:xfrm>
          <a:prstGeom prst="rect">
            <a:avLst/>
          </a:prstGeom>
          <a:noFill/>
          <a:ln/>
        </p:spPr>
        <p:txBody>
          <a:bodyPr wrap="square" rtlCol="0" anchor="ctr"/>
          <a:lstStyle/>
          <a:p>
            <a:pPr marL="0" indent="0">
              <a:buNone/>
            </a:pPr>
            <a:r>
              <a:rPr lang="en-US" sz="1000" b="1" dirty="0">
                <a:solidFill>
                  <a:srgbClr val="00A896"/>
                </a:solidFill>
                <a:latin typeface="Calibri" pitchFamily="34" charset="0"/>
                <a:ea typeface="Calibri" pitchFamily="34" charset="-122"/>
                <a:cs typeface="Calibri" pitchFamily="34" charset="-120"/>
              </a:rPr>
              <a:t>DECAPSULATION (receiver, bottom → top)</a:t>
            </a:r>
            <a:endParaRPr lang="en-US" sz="1000" dirty="0"/>
          </a:p>
        </p:txBody>
      </p:sp>
      <p:sp>
        <p:nvSpPr>
          <p:cNvPr id="23" name="Text 20"/>
          <p:cNvSpPr/>
          <p:nvPr/>
        </p:nvSpPr>
        <p:spPr>
          <a:xfrm>
            <a:off x="5486400" y="4572000"/>
            <a:ext cx="5989320" cy="960120"/>
          </a:xfrm>
          <a:prstGeom prst="rect">
            <a:avLst/>
          </a:prstGeom>
          <a:noFill/>
          <a:ln/>
        </p:spPr>
        <p:txBody>
          <a:bodyPr wrap="square" lIns="0" tIns="0" rIns="0" bIns="0" rtlCol="0" anchor="ctr"/>
          <a:lstStyle/>
          <a:p>
            <a:pPr marL="0" indent="0">
              <a:buNone/>
            </a:pPr>
            <a:r>
              <a:rPr lang="en-US" sz="1100" dirty="0">
                <a:solidFill>
                  <a:srgbClr val="0A2647"/>
                </a:solidFill>
                <a:latin typeface="Calibri" pitchFamily="34" charset="0"/>
                <a:ea typeface="Calibri" pitchFamily="34" charset="-122"/>
                <a:cs typeface="Calibri" pitchFamily="34" charset="-120"/>
              </a:rPr>
              <a:t>The web server receives bits, reassembles the frame, strips the MAC header, passes the packet up and strips the IP header, reassembles TCP segments and strips the TCP header, then hands the raw HTTPS request to the web application.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9FC"/>
        </a:solidFill>
        <a:effectLst/>
      </p:bgPr>
    </p:bg>
    <p:spTree>
      <p:nvGrpSpPr>
        <p:cNvPr id="1" name=""/>
        <p:cNvGrpSpPr/>
        <p:nvPr/>
      </p:nvGrpSpPr>
      <p:grpSpPr>
        <a:xfrm>
          <a:off x="0" y="0"/>
          <a:ext cx="0" cy="0"/>
          <a:chOff x="0" y="0"/>
          <a:chExt cx="0" cy="0"/>
        </a:xfrm>
      </p:grpSpPr>
      <p:sp>
        <p:nvSpPr>
          <p:cNvPr id="2" name="Text 0"/>
          <p:cNvSpPr/>
          <p:nvPr/>
        </p:nvSpPr>
        <p:spPr>
          <a:xfrm>
            <a:off x="457200" y="292608"/>
            <a:ext cx="9144000" cy="274320"/>
          </a:xfrm>
          <a:prstGeom prst="rect">
            <a:avLst/>
          </a:prstGeom>
          <a:noFill/>
          <a:ln/>
        </p:spPr>
        <p:txBody>
          <a:bodyPr wrap="square"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MODEL COMPARISON</a:t>
            </a:r>
            <a:endParaRPr lang="en-US" sz="1200" dirty="0"/>
          </a:p>
        </p:txBody>
      </p:sp>
      <p:sp>
        <p:nvSpPr>
          <p:cNvPr id="3" name="Text 1"/>
          <p:cNvSpPr/>
          <p:nvPr/>
        </p:nvSpPr>
        <p:spPr>
          <a:xfrm>
            <a:off x="457200" y="548640"/>
            <a:ext cx="11247120" cy="640080"/>
          </a:xfrm>
          <a:prstGeom prst="rect">
            <a:avLst/>
          </a:prstGeom>
          <a:noFill/>
          <a:ln/>
        </p:spPr>
        <p:txBody>
          <a:bodyPr wrap="square" rtlCol="0" anchor="ctr"/>
          <a:lstStyle/>
          <a:p>
            <a:pPr marL="0" indent="0">
              <a:buNone/>
            </a:pPr>
            <a:r>
              <a:rPr lang="en-US" sz="3000" b="1" dirty="0">
                <a:solidFill>
                  <a:srgbClr val="0A2647"/>
                </a:solidFill>
                <a:latin typeface="Cambria" pitchFamily="34" charset="0"/>
                <a:ea typeface="Cambria" pitchFamily="34" charset="-122"/>
                <a:cs typeface="Cambria" pitchFamily="34" charset="-120"/>
              </a:rPr>
              <a:t>Mapping TCP/IP to the OSI Model</a:t>
            </a:r>
            <a:endParaRPr lang="en-US" sz="3000" dirty="0"/>
          </a:p>
        </p:txBody>
      </p:sp>
      <p:sp>
        <p:nvSpPr>
          <p:cNvPr id="4" name="Text 2"/>
          <p:cNvSpPr/>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5C7A99"/>
                </a:solidFill>
                <a:latin typeface="Calibri" pitchFamily="34" charset="0"/>
                <a:ea typeface="Calibri" pitchFamily="34" charset="-122"/>
                <a:cs typeface="Calibri" pitchFamily="34" charset="-120"/>
              </a:rPr>
              <a:t>TEAM-02 · TCP/IP Communication in Action · FCDF-COHORT-11</a:t>
            </a:r>
            <a:endParaRPr lang="en-US" sz="900" dirty="0"/>
          </a:p>
        </p:txBody>
      </p:sp>
      <p:sp>
        <p:nvSpPr>
          <p:cNvPr id="5" name="Text 3"/>
          <p:cNvSpPr/>
          <p:nvPr/>
        </p:nvSpPr>
        <p:spPr>
          <a:xfrm>
            <a:off x="11155680" y="6547104"/>
            <a:ext cx="640080" cy="256032"/>
          </a:xfrm>
          <a:prstGeom prst="rect">
            <a:avLst/>
          </a:prstGeom>
          <a:noFill/>
          <a:ln/>
        </p:spPr>
        <p:txBody>
          <a:bodyPr wrap="square" rtlCol="0" anchor="ctr"/>
          <a:lstStyle/>
          <a:p>
            <a:pPr marL="0" indent="0" algn="r">
              <a:buNone/>
            </a:pPr>
            <a:r>
              <a:rPr lang="en-US" sz="900" dirty="0">
                <a:solidFill>
                  <a:srgbClr val="5C7A99"/>
                </a:solidFill>
                <a:latin typeface="Calibri" pitchFamily="34" charset="0"/>
                <a:ea typeface="Calibri" pitchFamily="34" charset="-122"/>
                <a:cs typeface="Calibri" pitchFamily="34" charset="-120"/>
              </a:rPr>
              <a:t>8 / 12</a:t>
            </a:r>
            <a:endParaRPr lang="en-US" sz="900" dirty="0"/>
          </a:p>
        </p:txBody>
      </p:sp>
      <p:sp>
        <p:nvSpPr>
          <p:cNvPr id="6" name="Text 4"/>
          <p:cNvSpPr/>
          <p:nvPr/>
        </p:nvSpPr>
        <p:spPr>
          <a:xfrm>
            <a:off x="457200" y="1298448"/>
            <a:ext cx="11247120" cy="365760"/>
          </a:xfrm>
          <a:prstGeom prst="rect">
            <a:avLst/>
          </a:prstGeom>
          <a:noFill/>
          <a:ln/>
        </p:spPr>
        <p:txBody>
          <a:bodyPr wrap="square" rtlCol="0" anchor="ctr"/>
          <a:lstStyle/>
          <a:p>
            <a:pPr marL="0" indent="0">
              <a:buNone/>
            </a:pPr>
            <a:r>
              <a:rPr lang="en-US" sz="1300" i="1" dirty="0">
                <a:solidFill>
                  <a:srgbClr val="5C7A99"/>
                </a:solidFill>
                <a:latin typeface="Calibri" pitchFamily="34" charset="0"/>
                <a:ea typeface="Calibri" pitchFamily="34" charset="-122"/>
                <a:cs typeface="Calibri" pitchFamily="34" charset="-120"/>
              </a:rPr>
              <a:t>The 4-layer TCP/IP model is a practical, condensed version of the 7-layer OSI reference model.</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1247120" cy="3886200"/>
        </p:xfrm>
        <a:graphic>
          <a:graphicData uri="http://schemas.openxmlformats.org/drawingml/2006/table">
            <a:tbl>
              <a:tblPr/>
              <a:tblGrid>
                <a:gridCol w="27432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777240">
                <a:tc>
                  <a:txBody>
                    <a:bodyPr/>
                    <a:lstStyle/>
                    <a:p>
                      <a:pPr marL="0" indent="0">
                        <a:buNone/>
                      </a:pPr>
                      <a:r>
                        <a:rPr lang="en-US" sz="1300" b="1" dirty="0">
                          <a:solidFill>
                            <a:srgbClr val="FFFFFF"/>
                          </a:solidFill>
                        </a:rPr>
                        <a:t>TCP/IP Layer</a:t>
                      </a:r>
                      <a:endParaRPr lang="en-US" sz="1300" dirty="0"/>
                    </a:p>
                  </a:txBody>
                  <a:tcPr marL="76200" marR="76200" marT="76200" marB="762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0A2647"/>
                    </a:solidFill>
                  </a:tcPr>
                </a:tc>
                <a:tc>
                  <a:txBody>
                    <a:bodyPr/>
                    <a:lstStyle/>
                    <a:p>
                      <a:pPr marL="0" indent="0">
                        <a:buNone/>
                      </a:pPr>
                      <a:r>
                        <a:rPr lang="en-US" sz="1300" b="1" dirty="0">
                          <a:solidFill>
                            <a:srgbClr val="FFFFFF"/>
                          </a:solidFill>
                        </a:rPr>
                        <a:t>Corresponding OSI Layer(s)</a:t>
                      </a:r>
                      <a:endParaRPr lang="en-US" sz="1300" dirty="0"/>
                    </a:p>
                  </a:txBody>
                  <a:tcPr marL="76200" marR="76200" marT="76200" marB="762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0A2647"/>
                    </a:solidFill>
                  </a:tcPr>
                </a:tc>
                <a:tc>
                  <a:txBody>
                    <a:bodyPr/>
                    <a:lstStyle/>
                    <a:p>
                      <a:pPr marL="0" indent="0">
                        <a:buNone/>
                      </a:pPr>
                      <a:r>
                        <a:rPr lang="en-US" sz="1300" b="1" dirty="0">
                          <a:solidFill>
                            <a:srgbClr val="FFFFFF"/>
                          </a:solidFill>
                        </a:rPr>
                        <a:t>Example in Our Scenario</a:t>
                      </a:r>
                      <a:endParaRPr lang="en-US" sz="1300" dirty="0"/>
                    </a:p>
                  </a:txBody>
                  <a:tcPr marL="76200" marR="76200" marT="76200" marB="762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0A2647"/>
                    </a:solidFill>
                  </a:tcPr>
                </a:tc>
                <a:extLst>
                  <a:ext uri="{0D108BD9-81ED-4DB2-BD59-A6C34878D82A}">
                    <a16:rowId xmlns:a16="http://schemas.microsoft.com/office/drawing/2014/main" val="10000"/>
                  </a:ext>
                </a:extLst>
              </a:tr>
              <a:tr h="777240">
                <a:tc>
                  <a:txBody>
                    <a:bodyPr/>
                    <a:lstStyle/>
                    <a:p>
                      <a:pPr marL="0" indent="0">
                        <a:buNone/>
                      </a:pPr>
                      <a:r>
                        <a:rPr lang="en-US" sz="1250" dirty="0">
                          <a:solidFill>
                            <a:srgbClr val="0A2647"/>
                          </a:solidFill>
                        </a:rPr>
                        <a:t>Application</a:t>
                      </a:r>
                      <a:endParaRPr lang="en-US" sz="1250" dirty="0"/>
                    </a:p>
                  </a:txBody>
                  <a:tcPr marL="76200" marR="76200" marT="76200" marB="762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250" dirty="0">
                          <a:solidFill>
                            <a:srgbClr val="0A2647"/>
                          </a:solidFill>
                        </a:rPr>
                        <a:t>Application, Presentation, Session</a:t>
                      </a:r>
                      <a:endParaRPr lang="en-US" sz="1250" dirty="0"/>
                    </a:p>
                  </a:txBody>
                  <a:tcPr marL="76200" marR="76200" marT="76200" marB="762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250" dirty="0">
                          <a:solidFill>
                            <a:srgbClr val="0A2647"/>
                          </a:solidFill>
                        </a:rPr>
                        <a:t>Browser builds HTTPS request; TLS session negotiated</a:t>
                      </a:r>
                      <a:endParaRPr lang="en-US" sz="1250" dirty="0"/>
                    </a:p>
                  </a:txBody>
                  <a:tcPr marL="76200" marR="76200" marT="76200" marB="762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250" dirty="0">
                          <a:solidFill>
                            <a:srgbClr val="0A2647"/>
                          </a:solidFill>
                        </a:rPr>
                        <a:t>Transport</a:t>
                      </a:r>
                      <a:endParaRPr lang="en-US" sz="1250" dirty="0"/>
                    </a:p>
                  </a:txBody>
                  <a:tcPr marL="76200" marR="76200" marT="76200" marB="762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EEF5FA"/>
                    </a:solidFill>
                  </a:tcPr>
                </a:tc>
                <a:tc>
                  <a:txBody>
                    <a:bodyPr/>
                    <a:lstStyle/>
                    <a:p>
                      <a:pPr marL="0" indent="0">
                        <a:buNone/>
                      </a:pPr>
                      <a:r>
                        <a:rPr lang="en-US" sz="1250" dirty="0">
                          <a:solidFill>
                            <a:srgbClr val="0A2647"/>
                          </a:solidFill>
                        </a:rPr>
                        <a:t>Transport</a:t>
                      </a:r>
                      <a:endParaRPr lang="en-US" sz="1250" dirty="0"/>
                    </a:p>
                  </a:txBody>
                  <a:tcPr marL="76200" marR="76200" marT="76200" marB="762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EEF5FA"/>
                    </a:solidFill>
                  </a:tcPr>
                </a:tc>
                <a:tc>
                  <a:txBody>
                    <a:bodyPr/>
                    <a:lstStyle/>
                    <a:p>
                      <a:pPr marL="0" indent="0">
                        <a:buNone/>
                      </a:pPr>
                      <a:r>
                        <a:rPr lang="en-US" sz="1250" dirty="0">
                          <a:solidFill>
                            <a:srgbClr val="0A2647"/>
                          </a:solidFill>
                        </a:rPr>
                        <a:t>TCP segments data; ports 443 / ephemeral used</a:t>
                      </a:r>
                      <a:endParaRPr lang="en-US" sz="1250" dirty="0"/>
                    </a:p>
                  </a:txBody>
                  <a:tcPr marL="76200" marR="76200" marT="76200" marB="762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EEF5FA"/>
                    </a:solidFill>
                  </a:tcPr>
                </a:tc>
                <a:extLst>
                  <a:ext uri="{0D108BD9-81ED-4DB2-BD59-A6C34878D82A}">
                    <a16:rowId xmlns:a16="http://schemas.microsoft.com/office/drawing/2014/main" val="10002"/>
                  </a:ext>
                </a:extLst>
              </a:tr>
              <a:tr h="777240">
                <a:tc>
                  <a:txBody>
                    <a:bodyPr/>
                    <a:lstStyle/>
                    <a:p>
                      <a:pPr marL="0" indent="0">
                        <a:buNone/>
                      </a:pPr>
                      <a:r>
                        <a:rPr lang="en-US" sz="1250" dirty="0">
                          <a:solidFill>
                            <a:srgbClr val="0A2647"/>
                          </a:solidFill>
                        </a:rPr>
                        <a:t>Internet</a:t>
                      </a:r>
                      <a:endParaRPr lang="en-US" sz="1250" dirty="0"/>
                    </a:p>
                  </a:txBody>
                  <a:tcPr marL="76200" marR="76200" marT="76200" marB="762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250" dirty="0">
                          <a:solidFill>
                            <a:srgbClr val="0A2647"/>
                          </a:solidFill>
                        </a:rPr>
                        <a:t>Network</a:t>
                      </a:r>
                      <a:endParaRPr lang="en-US" sz="1250" dirty="0"/>
                    </a:p>
                  </a:txBody>
                  <a:tcPr marL="76200" marR="76200" marT="76200" marB="762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250" dirty="0">
                          <a:solidFill>
                            <a:srgbClr val="0A2647"/>
                          </a:solidFill>
                        </a:rPr>
                        <a:t>IP addresses attached; router forwards packet</a:t>
                      </a:r>
                      <a:endParaRPr lang="en-US" sz="1250" dirty="0"/>
                    </a:p>
                  </a:txBody>
                  <a:tcPr marL="76200" marR="76200" marT="76200" marB="762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250" dirty="0">
                          <a:solidFill>
                            <a:srgbClr val="0A2647"/>
                          </a:solidFill>
                        </a:rPr>
                        <a:t>Network Access</a:t>
                      </a:r>
                      <a:endParaRPr lang="en-US" sz="1250" dirty="0"/>
                    </a:p>
                  </a:txBody>
                  <a:tcPr marL="76200" marR="76200" marT="76200" marB="762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EEF5FA"/>
                    </a:solidFill>
                  </a:tcPr>
                </a:tc>
                <a:tc>
                  <a:txBody>
                    <a:bodyPr/>
                    <a:lstStyle/>
                    <a:p>
                      <a:pPr marL="0" indent="0">
                        <a:buNone/>
                      </a:pPr>
                      <a:r>
                        <a:rPr lang="en-US" sz="1250" dirty="0">
                          <a:solidFill>
                            <a:srgbClr val="0A2647"/>
                          </a:solidFill>
                        </a:rPr>
                        <a:t>Data Link, Physical</a:t>
                      </a:r>
                      <a:endParaRPr lang="en-US" sz="1250" dirty="0"/>
                    </a:p>
                  </a:txBody>
                  <a:tcPr marL="76200" marR="76200" marT="76200" marB="762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EEF5FA"/>
                    </a:solidFill>
                  </a:tcPr>
                </a:tc>
                <a:tc>
                  <a:txBody>
                    <a:bodyPr/>
                    <a:lstStyle/>
                    <a:p>
                      <a:pPr marL="0" indent="0">
                        <a:buNone/>
                      </a:pPr>
                      <a:r>
                        <a:rPr lang="en-US" sz="1250" dirty="0">
                          <a:solidFill>
                            <a:srgbClr val="0A2647"/>
                          </a:solidFill>
                        </a:rPr>
                        <a:t>Frame built with MAC address; bits sent over Wi-Fi</a:t>
                      </a:r>
                      <a:endParaRPr lang="en-US" sz="1250" dirty="0"/>
                    </a:p>
                  </a:txBody>
                  <a:tcPr marL="76200" marR="76200" marT="76200" marB="762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EEF5FA"/>
                    </a:solidFill>
                  </a:tcPr>
                </a:tc>
                <a:extLst>
                  <a:ext uri="{0D108BD9-81ED-4DB2-BD59-A6C34878D82A}">
                    <a16:rowId xmlns:a16="http://schemas.microsoft.com/office/drawing/2014/main" val="10004"/>
                  </a:ext>
                </a:extLst>
              </a:tr>
            </a:tbl>
          </a:graphicData>
        </a:graphic>
      </p:graphicFrame>
      <p:sp>
        <p:nvSpPr>
          <p:cNvPr id="8" name="Text 5"/>
          <p:cNvSpPr/>
          <p:nvPr/>
        </p:nvSpPr>
        <p:spPr>
          <a:xfrm>
            <a:off x="457200" y="5897880"/>
            <a:ext cx="11247120" cy="457200"/>
          </a:xfrm>
          <a:prstGeom prst="rect">
            <a:avLst/>
          </a:prstGeom>
          <a:noFill/>
          <a:ln/>
        </p:spPr>
        <p:txBody>
          <a:bodyPr wrap="square" rtlCol="0" anchor="ctr"/>
          <a:lstStyle/>
          <a:p>
            <a:pPr marL="0" indent="0">
              <a:buNone/>
            </a:pPr>
            <a:r>
              <a:rPr lang="en-US" sz="1100" i="1" dirty="0">
                <a:solidFill>
                  <a:srgbClr val="5C7A99"/>
                </a:solidFill>
                <a:latin typeface="Calibri" pitchFamily="34" charset="0"/>
                <a:ea typeface="Calibri" pitchFamily="34" charset="-122"/>
                <a:cs typeface="Calibri" pitchFamily="34" charset="-120"/>
              </a:rPr>
              <a:t>Note: OSI is a conceptual 7-layer reference model; TCP/IP is the practical 4-layer model actually implemented on the Internet.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9FC"/>
        </a:solidFill>
        <a:effectLst/>
      </p:bgPr>
    </p:bg>
    <p:spTree>
      <p:nvGrpSpPr>
        <p:cNvPr id="1" name=""/>
        <p:cNvGrpSpPr/>
        <p:nvPr/>
      </p:nvGrpSpPr>
      <p:grpSpPr>
        <a:xfrm>
          <a:off x="0" y="0"/>
          <a:ext cx="0" cy="0"/>
          <a:chOff x="0" y="0"/>
          <a:chExt cx="0" cy="0"/>
        </a:xfrm>
      </p:grpSpPr>
      <p:sp>
        <p:nvSpPr>
          <p:cNvPr id="2" name="Text 0"/>
          <p:cNvSpPr/>
          <p:nvPr/>
        </p:nvSpPr>
        <p:spPr>
          <a:xfrm>
            <a:off x="457200" y="292608"/>
            <a:ext cx="9144000" cy="274320"/>
          </a:xfrm>
          <a:prstGeom prst="rect">
            <a:avLst/>
          </a:prstGeom>
          <a:noFill/>
          <a:ln/>
        </p:spPr>
        <p:txBody>
          <a:bodyPr wrap="square"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TRANSPORT CHOICES</a:t>
            </a:r>
            <a:endParaRPr lang="en-US" sz="1200" dirty="0"/>
          </a:p>
        </p:txBody>
      </p:sp>
      <p:sp>
        <p:nvSpPr>
          <p:cNvPr id="3" name="Text 1"/>
          <p:cNvSpPr/>
          <p:nvPr/>
        </p:nvSpPr>
        <p:spPr>
          <a:xfrm>
            <a:off x="457200" y="548640"/>
            <a:ext cx="11247120" cy="640080"/>
          </a:xfrm>
          <a:prstGeom prst="rect">
            <a:avLst/>
          </a:prstGeom>
          <a:noFill/>
          <a:ln/>
        </p:spPr>
        <p:txBody>
          <a:bodyPr wrap="square" rtlCol="0" anchor="ctr"/>
          <a:lstStyle/>
          <a:p>
            <a:pPr marL="0" indent="0">
              <a:buNone/>
            </a:pPr>
            <a:r>
              <a:rPr lang="en-US" sz="3000" b="1" dirty="0">
                <a:solidFill>
                  <a:srgbClr val="0A2647"/>
                </a:solidFill>
                <a:latin typeface="Cambria" pitchFamily="34" charset="0"/>
                <a:ea typeface="Cambria" pitchFamily="34" charset="-122"/>
                <a:cs typeface="Cambria" pitchFamily="34" charset="-120"/>
              </a:rPr>
              <a:t>TCP vs UDP — Choosing the Right Protocol</a:t>
            </a:r>
            <a:endParaRPr lang="en-US" sz="3000" dirty="0"/>
          </a:p>
        </p:txBody>
      </p:sp>
      <p:sp>
        <p:nvSpPr>
          <p:cNvPr id="4" name="Text 2"/>
          <p:cNvSpPr/>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5C7A99"/>
                </a:solidFill>
                <a:latin typeface="Calibri" pitchFamily="34" charset="0"/>
                <a:ea typeface="Calibri" pitchFamily="34" charset="-122"/>
                <a:cs typeface="Calibri" pitchFamily="34" charset="-120"/>
              </a:rPr>
              <a:t>TEAM-02 · TCP/IP Communication in Action · FCDF-COHORT-11</a:t>
            </a:r>
            <a:endParaRPr lang="en-US" sz="900" dirty="0"/>
          </a:p>
        </p:txBody>
      </p:sp>
      <p:sp>
        <p:nvSpPr>
          <p:cNvPr id="5" name="Text 3"/>
          <p:cNvSpPr/>
          <p:nvPr/>
        </p:nvSpPr>
        <p:spPr>
          <a:xfrm>
            <a:off x="11155680" y="6547104"/>
            <a:ext cx="640080" cy="256032"/>
          </a:xfrm>
          <a:prstGeom prst="rect">
            <a:avLst/>
          </a:prstGeom>
          <a:noFill/>
          <a:ln/>
        </p:spPr>
        <p:txBody>
          <a:bodyPr wrap="square" rtlCol="0" anchor="ctr"/>
          <a:lstStyle/>
          <a:p>
            <a:pPr marL="0" indent="0" algn="r">
              <a:buNone/>
            </a:pPr>
            <a:r>
              <a:rPr lang="en-US" sz="900" dirty="0">
                <a:solidFill>
                  <a:srgbClr val="5C7A99"/>
                </a:solidFill>
                <a:latin typeface="Calibri" pitchFamily="34" charset="0"/>
                <a:ea typeface="Calibri" pitchFamily="34" charset="-122"/>
                <a:cs typeface="Calibri" pitchFamily="34" charset="-120"/>
              </a:rPr>
              <a:t>9 / 12</a:t>
            </a:r>
            <a:endParaRPr lang="en-US" sz="900" dirty="0"/>
          </a:p>
        </p:txBody>
      </p:sp>
      <p:sp>
        <p:nvSpPr>
          <p:cNvPr id="6" name="Shape 4"/>
          <p:cNvSpPr/>
          <p:nvPr/>
        </p:nvSpPr>
        <p:spPr>
          <a:xfrm>
            <a:off x="457200" y="1463040"/>
            <a:ext cx="5394960" cy="4572000"/>
          </a:xfrm>
          <a:prstGeom prst="roundRect">
            <a:avLst>
              <a:gd name="adj" fmla="val 2000"/>
            </a:avLst>
          </a:prstGeom>
          <a:solidFill>
            <a:srgbClr val="FFFFFF"/>
          </a:solidFill>
          <a:ln w="19050">
            <a:solidFill>
              <a:srgbClr val="2C82C9"/>
            </a:solidFill>
            <a:prstDash val="solid"/>
          </a:ln>
        </p:spPr>
        <p:txBody>
          <a:bodyPr/>
          <a:lstStyle/>
          <a:p>
            <a:endParaRPr lang="en-US"/>
          </a:p>
        </p:txBody>
      </p:sp>
      <p:sp>
        <p:nvSpPr>
          <p:cNvPr id="7" name="Shape 5"/>
          <p:cNvSpPr/>
          <p:nvPr/>
        </p:nvSpPr>
        <p:spPr>
          <a:xfrm>
            <a:off x="457200" y="1463040"/>
            <a:ext cx="5394960" cy="685800"/>
          </a:xfrm>
          <a:prstGeom prst="roundRect">
            <a:avLst>
              <a:gd name="adj" fmla="val 13333"/>
            </a:avLst>
          </a:prstGeom>
          <a:solidFill>
            <a:srgbClr val="2C82C9"/>
          </a:solidFill>
          <a:ln/>
        </p:spPr>
        <p:txBody>
          <a:bodyPr/>
          <a:lstStyle/>
          <a:p>
            <a:endParaRPr lang="en-US"/>
          </a:p>
        </p:txBody>
      </p:sp>
      <p:sp>
        <p:nvSpPr>
          <p:cNvPr id="8" name="Shape 6"/>
          <p:cNvSpPr/>
          <p:nvPr/>
        </p:nvSpPr>
        <p:spPr>
          <a:xfrm>
            <a:off x="457200" y="1828800"/>
            <a:ext cx="5394960" cy="320040"/>
          </a:xfrm>
          <a:prstGeom prst="rect">
            <a:avLst/>
          </a:prstGeom>
          <a:solidFill>
            <a:srgbClr val="2C82C9"/>
          </a:solidFill>
          <a:ln/>
        </p:spPr>
        <p:txBody>
          <a:bodyPr/>
          <a:lstStyle/>
          <a:p>
            <a:endParaRPr lang="en-US"/>
          </a:p>
        </p:txBody>
      </p:sp>
      <p:sp>
        <p:nvSpPr>
          <p:cNvPr id="9" name="Text 7"/>
          <p:cNvSpPr/>
          <p:nvPr/>
        </p:nvSpPr>
        <p:spPr>
          <a:xfrm>
            <a:off x="685800" y="1508760"/>
            <a:ext cx="493776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TCP</a:t>
            </a:r>
            <a:endParaRPr lang="en-US" sz="2000" dirty="0"/>
          </a:p>
        </p:txBody>
      </p:sp>
      <p:sp>
        <p:nvSpPr>
          <p:cNvPr id="10" name="Text 8"/>
          <p:cNvSpPr/>
          <p:nvPr/>
        </p:nvSpPr>
        <p:spPr>
          <a:xfrm>
            <a:off x="685800" y="1874520"/>
            <a:ext cx="4937760" cy="274320"/>
          </a:xfrm>
          <a:prstGeom prst="rect">
            <a:avLst/>
          </a:prstGeom>
          <a:noFill/>
          <a:ln/>
        </p:spPr>
        <p:txBody>
          <a:bodyPr wrap="square" lIns="0" tIns="0" rIns="0" bIns="0" rtlCol="0" anchor="ctr"/>
          <a:lstStyle/>
          <a:p>
            <a:pPr marL="0" indent="0">
              <a:buNone/>
            </a:pPr>
            <a:r>
              <a:rPr lang="en-US" sz="1050" dirty="0">
                <a:solidFill>
                  <a:srgbClr val="E4EFFA"/>
                </a:solidFill>
                <a:latin typeface="Calibri" pitchFamily="34" charset="0"/>
                <a:ea typeface="Calibri" pitchFamily="34" charset="-122"/>
                <a:cs typeface="Calibri" pitchFamily="34" charset="-120"/>
              </a:rPr>
              <a:t>Transmission Control Protocol</a:t>
            </a:r>
            <a:endParaRPr lang="en-US" sz="1050" dirty="0"/>
          </a:p>
        </p:txBody>
      </p:sp>
      <p:sp>
        <p:nvSpPr>
          <p:cNvPr id="11" name="Text 9"/>
          <p:cNvSpPr/>
          <p:nvPr/>
        </p:nvSpPr>
        <p:spPr>
          <a:xfrm>
            <a:off x="685800" y="2331720"/>
            <a:ext cx="4937760" cy="219456"/>
          </a:xfrm>
          <a:prstGeom prst="rect">
            <a:avLst/>
          </a:prstGeom>
          <a:noFill/>
          <a:ln/>
        </p:spPr>
        <p:txBody>
          <a:bodyPr wrap="square" lIns="0" tIns="0" rIns="0" bIns="0" rtlCol="0" anchor="ctr"/>
          <a:lstStyle/>
          <a:p>
            <a:pPr marL="0" indent="0">
              <a:buNone/>
            </a:pPr>
            <a:r>
              <a:rPr lang="en-US" sz="1000" b="1" dirty="0">
                <a:solidFill>
                  <a:srgbClr val="2C82C9"/>
                </a:solidFill>
                <a:latin typeface="Calibri" pitchFamily="34" charset="0"/>
                <a:ea typeface="Calibri" pitchFamily="34" charset="-122"/>
                <a:cs typeface="Calibri" pitchFamily="34" charset="-120"/>
              </a:rPr>
              <a:t>Connection type</a:t>
            </a:r>
            <a:endParaRPr lang="en-US" sz="1000" dirty="0"/>
          </a:p>
        </p:txBody>
      </p:sp>
      <p:sp>
        <p:nvSpPr>
          <p:cNvPr id="12" name="Text 10"/>
          <p:cNvSpPr/>
          <p:nvPr/>
        </p:nvSpPr>
        <p:spPr>
          <a:xfrm>
            <a:off x="685800" y="2542032"/>
            <a:ext cx="4937760" cy="259951"/>
          </a:xfrm>
          <a:prstGeom prst="rect">
            <a:avLst/>
          </a:prstGeom>
          <a:noFill/>
          <a:ln/>
        </p:spPr>
        <p:txBody>
          <a:bodyPr wrap="square" lIns="0" tIns="0" rIns="0" bIns="0" rtlCol="0" anchor="ctr"/>
          <a:lstStyle/>
          <a:p>
            <a:pPr marL="0" indent="0">
              <a:buNone/>
            </a:pPr>
            <a:r>
              <a:rPr lang="en-US" sz="1100" dirty="0">
                <a:solidFill>
                  <a:srgbClr val="0A2647"/>
                </a:solidFill>
                <a:latin typeface="Calibri" pitchFamily="34" charset="0"/>
                <a:ea typeface="Calibri" pitchFamily="34" charset="-122"/>
                <a:cs typeface="Calibri" pitchFamily="34" charset="-120"/>
              </a:rPr>
              <a:t>Connection-oriented (handshake first)</a:t>
            </a:r>
            <a:endParaRPr lang="en-US" sz="1100" dirty="0"/>
          </a:p>
        </p:txBody>
      </p:sp>
      <p:sp>
        <p:nvSpPr>
          <p:cNvPr id="13" name="Text 11"/>
          <p:cNvSpPr/>
          <p:nvPr/>
        </p:nvSpPr>
        <p:spPr>
          <a:xfrm>
            <a:off x="685800" y="2847703"/>
            <a:ext cx="4937760" cy="219456"/>
          </a:xfrm>
          <a:prstGeom prst="rect">
            <a:avLst/>
          </a:prstGeom>
          <a:noFill/>
          <a:ln/>
        </p:spPr>
        <p:txBody>
          <a:bodyPr wrap="square" lIns="0" tIns="0" rIns="0" bIns="0" rtlCol="0" anchor="ctr"/>
          <a:lstStyle/>
          <a:p>
            <a:pPr marL="0" indent="0">
              <a:buNone/>
            </a:pPr>
            <a:r>
              <a:rPr lang="en-US" sz="1000" b="1" dirty="0">
                <a:solidFill>
                  <a:srgbClr val="2C82C9"/>
                </a:solidFill>
                <a:latin typeface="Calibri" pitchFamily="34" charset="0"/>
                <a:ea typeface="Calibri" pitchFamily="34" charset="-122"/>
                <a:cs typeface="Calibri" pitchFamily="34" charset="-120"/>
              </a:rPr>
              <a:t>Reliability</a:t>
            </a:r>
            <a:endParaRPr lang="en-US" sz="1000" dirty="0"/>
          </a:p>
        </p:txBody>
      </p:sp>
      <p:sp>
        <p:nvSpPr>
          <p:cNvPr id="14" name="Text 12"/>
          <p:cNvSpPr/>
          <p:nvPr/>
        </p:nvSpPr>
        <p:spPr>
          <a:xfrm>
            <a:off x="685800" y="3058015"/>
            <a:ext cx="4937760" cy="259951"/>
          </a:xfrm>
          <a:prstGeom prst="rect">
            <a:avLst/>
          </a:prstGeom>
          <a:noFill/>
          <a:ln/>
        </p:spPr>
        <p:txBody>
          <a:bodyPr wrap="square" lIns="0" tIns="0" rIns="0" bIns="0" rtlCol="0" anchor="ctr"/>
          <a:lstStyle/>
          <a:p>
            <a:pPr marL="0" indent="0">
              <a:buNone/>
            </a:pPr>
            <a:r>
              <a:rPr lang="en-US" sz="1100" dirty="0">
                <a:solidFill>
                  <a:srgbClr val="0A2647"/>
                </a:solidFill>
                <a:latin typeface="Calibri" pitchFamily="34" charset="0"/>
                <a:ea typeface="Calibri" pitchFamily="34" charset="-122"/>
                <a:cs typeface="Calibri" pitchFamily="34" charset="-120"/>
              </a:rPr>
              <a:t>Guaranteed delivery, with retransmission</a:t>
            </a:r>
            <a:endParaRPr lang="en-US" sz="1100" dirty="0"/>
          </a:p>
        </p:txBody>
      </p:sp>
      <p:sp>
        <p:nvSpPr>
          <p:cNvPr id="15" name="Text 13"/>
          <p:cNvSpPr/>
          <p:nvPr/>
        </p:nvSpPr>
        <p:spPr>
          <a:xfrm>
            <a:off x="685800" y="3363686"/>
            <a:ext cx="4937760" cy="219456"/>
          </a:xfrm>
          <a:prstGeom prst="rect">
            <a:avLst/>
          </a:prstGeom>
          <a:noFill/>
          <a:ln/>
        </p:spPr>
        <p:txBody>
          <a:bodyPr wrap="square" lIns="0" tIns="0" rIns="0" bIns="0" rtlCol="0" anchor="ctr"/>
          <a:lstStyle/>
          <a:p>
            <a:pPr marL="0" indent="0">
              <a:buNone/>
            </a:pPr>
            <a:r>
              <a:rPr lang="en-US" sz="1000" b="1" dirty="0">
                <a:solidFill>
                  <a:srgbClr val="2C82C9"/>
                </a:solidFill>
                <a:latin typeface="Calibri" pitchFamily="34" charset="0"/>
                <a:ea typeface="Calibri" pitchFamily="34" charset="-122"/>
                <a:cs typeface="Calibri" pitchFamily="34" charset="-120"/>
              </a:rPr>
              <a:t>Ordering</a:t>
            </a:r>
            <a:endParaRPr lang="en-US" sz="1000" dirty="0"/>
          </a:p>
        </p:txBody>
      </p:sp>
      <p:sp>
        <p:nvSpPr>
          <p:cNvPr id="16" name="Text 14"/>
          <p:cNvSpPr/>
          <p:nvPr/>
        </p:nvSpPr>
        <p:spPr>
          <a:xfrm>
            <a:off x="685800" y="3573998"/>
            <a:ext cx="4937760" cy="259951"/>
          </a:xfrm>
          <a:prstGeom prst="rect">
            <a:avLst/>
          </a:prstGeom>
          <a:noFill/>
          <a:ln/>
        </p:spPr>
        <p:txBody>
          <a:bodyPr wrap="square" lIns="0" tIns="0" rIns="0" bIns="0" rtlCol="0" anchor="ctr"/>
          <a:lstStyle/>
          <a:p>
            <a:pPr marL="0" indent="0">
              <a:buNone/>
            </a:pPr>
            <a:r>
              <a:rPr lang="en-US" sz="1100" dirty="0">
                <a:solidFill>
                  <a:srgbClr val="0A2647"/>
                </a:solidFill>
                <a:latin typeface="Calibri" pitchFamily="34" charset="0"/>
                <a:ea typeface="Calibri" pitchFamily="34" charset="-122"/>
                <a:cs typeface="Calibri" pitchFamily="34" charset="-120"/>
              </a:rPr>
              <a:t>Data arrives in the order it was sent</a:t>
            </a:r>
            <a:endParaRPr lang="en-US" sz="1100" dirty="0"/>
          </a:p>
        </p:txBody>
      </p:sp>
      <p:sp>
        <p:nvSpPr>
          <p:cNvPr id="17" name="Text 15"/>
          <p:cNvSpPr/>
          <p:nvPr/>
        </p:nvSpPr>
        <p:spPr>
          <a:xfrm>
            <a:off x="685800" y="3879669"/>
            <a:ext cx="4937760" cy="219456"/>
          </a:xfrm>
          <a:prstGeom prst="rect">
            <a:avLst/>
          </a:prstGeom>
          <a:noFill/>
          <a:ln/>
        </p:spPr>
        <p:txBody>
          <a:bodyPr wrap="square" lIns="0" tIns="0" rIns="0" bIns="0" rtlCol="0" anchor="ctr"/>
          <a:lstStyle/>
          <a:p>
            <a:pPr marL="0" indent="0">
              <a:buNone/>
            </a:pPr>
            <a:r>
              <a:rPr lang="en-US" sz="1000" b="1" dirty="0">
                <a:solidFill>
                  <a:srgbClr val="2C82C9"/>
                </a:solidFill>
                <a:latin typeface="Calibri" pitchFamily="34" charset="0"/>
                <a:ea typeface="Calibri" pitchFamily="34" charset="-122"/>
                <a:cs typeface="Calibri" pitchFamily="34" charset="-120"/>
              </a:rPr>
              <a:t>Speed</a:t>
            </a:r>
            <a:endParaRPr lang="en-US" sz="1000" dirty="0"/>
          </a:p>
        </p:txBody>
      </p:sp>
      <p:sp>
        <p:nvSpPr>
          <p:cNvPr id="18" name="Text 16"/>
          <p:cNvSpPr/>
          <p:nvPr/>
        </p:nvSpPr>
        <p:spPr>
          <a:xfrm>
            <a:off x="685800" y="4089981"/>
            <a:ext cx="4937760" cy="259951"/>
          </a:xfrm>
          <a:prstGeom prst="rect">
            <a:avLst/>
          </a:prstGeom>
          <a:noFill/>
          <a:ln/>
        </p:spPr>
        <p:txBody>
          <a:bodyPr wrap="square" lIns="0" tIns="0" rIns="0" bIns="0" rtlCol="0" anchor="ctr"/>
          <a:lstStyle/>
          <a:p>
            <a:pPr marL="0" indent="0">
              <a:buNone/>
            </a:pPr>
            <a:r>
              <a:rPr lang="en-US" sz="1100" dirty="0">
                <a:solidFill>
                  <a:srgbClr val="0A2647"/>
                </a:solidFill>
                <a:latin typeface="Calibri" pitchFamily="34" charset="0"/>
                <a:ea typeface="Calibri" pitchFamily="34" charset="-122"/>
                <a:cs typeface="Calibri" pitchFamily="34" charset="-120"/>
              </a:rPr>
              <a:t>Slower — overhead from reliability checks</a:t>
            </a:r>
            <a:endParaRPr lang="en-US" sz="1100" dirty="0"/>
          </a:p>
        </p:txBody>
      </p:sp>
      <p:sp>
        <p:nvSpPr>
          <p:cNvPr id="19" name="Text 17"/>
          <p:cNvSpPr/>
          <p:nvPr/>
        </p:nvSpPr>
        <p:spPr>
          <a:xfrm>
            <a:off x="685800" y="4395651"/>
            <a:ext cx="4937760" cy="219456"/>
          </a:xfrm>
          <a:prstGeom prst="rect">
            <a:avLst/>
          </a:prstGeom>
          <a:noFill/>
          <a:ln/>
        </p:spPr>
        <p:txBody>
          <a:bodyPr wrap="square" lIns="0" tIns="0" rIns="0" bIns="0" rtlCol="0" anchor="ctr"/>
          <a:lstStyle/>
          <a:p>
            <a:pPr marL="0" indent="0">
              <a:buNone/>
            </a:pPr>
            <a:r>
              <a:rPr lang="en-US" sz="1000" b="1" dirty="0">
                <a:solidFill>
                  <a:srgbClr val="2C82C9"/>
                </a:solidFill>
                <a:latin typeface="Calibri" pitchFamily="34" charset="0"/>
                <a:ea typeface="Calibri" pitchFamily="34" charset="-122"/>
                <a:cs typeface="Calibri" pitchFamily="34" charset="-120"/>
              </a:rPr>
              <a:t>Header size</a:t>
            </a:r>
            <a:endParaRPr lang="en-US" sz="1000" dirty="0"/>
          </a:p>
        </p:txBody>
      </p:sp>
      <p:sp>
        <p:nvSpPr>
          <p:cNvPr id="20" name="Text 18"/>
          <p:cNvSpPr/>
          <p:nvPr/>
        </p:nvSpPr>
        <p:spPr>
          <a:xfrm>
            <a:off x="685800" y="4605963"/>
            <a:ext cx="4937760" cy="259951"/>
          </a:xfrm>
          <a:prstGeom prst="rect">
            <a:avLst/>
          </a:prstGeom>
          <a:noFill/>
          <a:ln/>
        </p:spPr>
        <p:txBody>
          <a:bodyPr wrap="square" lIns="0" tIns="0" rIns="0" bIns="0" rtlCol="0" anchor="ctr"/>
          <a:lstStyle/>
          <a:p>
            <a:pPr marL="0" indent="0">
              <a:buNone/>
            </a:pPr>
            <a:r>
              <a:rPr lang="en-US" sz="1100" dirty="0">
                <a:solidFill>
                  <a:srgbClr val="0A2647"/>
                </a:solidFill>
                <a:latin typeface="Calibri" pitchFamily="34" charset="0"/>
                <a:ea typeface="Calibri" pitchFamily="34" charset="-122"/>
                <a:cs typeface="Calibri" pitchFamily="34" charset="-120"/>
              </a:rPr>
              <a:t>20 bytes (larger)</a:t>
            </a:r>
            <a:endParaRPr lang="en-US" sz="1100" dirty="0"/>
          </a:p>
        </p:txBody>
      </p:sp>
      <p:sp>
        <p:nvSpPr>
          <p:cNvPr id="21" name="Text 19"/>
          <p:cNvSpPr/>
          <p:nvPr/>
        </p:nvSpPr>
        <p:spPr>
          <a:xfrm>
            <a:off x="685800" y="4911634"/>
            <a:ext cx="4937760" cy="219456"/>
          </a:xfrm>
          <a:prstGeom prst="rect">
            <a:avLst/>
          </a:prstGeom>
          <a:noFill/>
          <a:ln/>
        </p:spPr>
        <p:txBody>
          <a:bodyPr wrap="square" lIns="0" tIns="0" rIns="0" bIns="0" rtlCol="0" anchor="ctr"/>
          <a:lstStyle/>
          <a:p>
            <a:pPr marL="0" indent="0">
              <a:buNone/>
            </a:pPr>
            <a:r>
              <a:rPr lang="en-US" sz="1000" b="1" dirty="0">
                <a:solidFill>
                  <a:srgbClr val="2C82C9"/>
                </a:solidFill>
                <a:latin typeface="Calibri" pitchFamily="34" charset="0"/>
                <a:ea typeface="Calibri" pitchFamily="34" charset="-122"/>
                <a:cs typeface="Calibri" pitchFamily="34" charset="-120"/>
              </a:rPr>
              <a:t>Used by our scenario for</a:t>
            </a:r>
            <a:endParaRPr lang="en-US" sz="1000" dirty="0"/>
          </a:p>
        </p:txBody>
      </p:sp>
      <p:sp>
        <p:nvSpPr>
          <p:cNvPr id="22" name="Text 20"/>
          <p:cNvSpPr/>
          <p:nvPr/>
        </p:nvSpPr>
        <p:spPr>
          <a:xfrm>
            <a:off x="685800" y="5121946"/>
            <a:ext cx="4937760" cy="259951"/>
          </a:xfrm>
          <a:prstGeom prst="rect">
            <a:avLst/>
          </a:prstGeom>
          <a:noFill/>
          <a:ln/>
        </p:spPr>
        <p:txBody>
          <a:bodyPr wrap="square" lIns="0" tIns="0" rIns="0" bIns="0" rtlCol="0" anchor="ctr"/>
          <a:lstStyle/>
          <a:p>
            <a:pPr marL="0" indent="0">
              <a:buNone/>
            </a:pPr>
            <a:r>
              <a:rPr lang="en-US" sz="1100" dirty="0">
                <a:solidFill>
                  <a:srgbClr val="0A2647"/>
                </a:solidFill>
                <a:latin typeface="Calibri" pitchFamily="34" charset="0"/>
                <a:ea typeface="Calibri" pitchFamily="34" charset="-122"/>
                <a:cs typeface="Calibri" pitchFamily="34" charset="-120"/>
              </a:rPr>
              <a:t>HTTPS web request (port 443)</a:t>
            </a:r>
            <a:endParaRPr lang="en-US" sz="1100" dirty="0"/>
          </a:p>
        </p:txBody>
      </p:sp>
      <p:sp>
        <p:nvSpPr>
          <p:cNvPr id="23" name="Text 21"/>
          <p:cNvSpPr/>
          <p:nvPr/>
        </p:nvSpPr>
        <p:spPr>
          <a:xfrm>
            <a:off x="685800" y="5427617"/>
            <a:ext cx="4937760" cy="219456"/>
          </a:xfrm>
          <a:prstGeom prst="rect">
            <a:avLst/>
          </a:prstGeom>
          <a:noFill/>
          <a:ln/>
        </p:spPr>
        <p:txBody>
          <a:bodyPr wrap="square" lIns="0" tIns="0" rIns="0" bIns="0" rtlCol="0" anchor="ctr"/>
          <a:lstStyle/>
          <a:p>
            <a:pPr marL="0" indent="0">
              <a:buNone/>
            </a:pPr>
            <a:r>
              <a:rPr lang="en-US" sz="1000" b="1" dirty="0">
                <a:solidFill>
                  <a:srgbClr val="2C82C9"/>
                </a:solidFill>
                <a:latin typeface="Calibri" pitchFamily="34" charset="0"/>
                <a:ea typeface="Calibri" pitchFamily="34" charset="-122"/>
                <a:cs typeface="Calibri" pitchFamily="34" charset="-120"/>
              </a:rPr>
              <a:t>Other examples</a:t>
            </a:r>
            <a:endParaRPr lang="en-US" sz="1000" dirty="0"/>
          </a:p>
        </p:txBody>
      </p:sp>
      <p:sp>
        <p:nvSpPr>
          <p:cNvPr id="24" name="Text 22"/>
          <p:cNvSpPr/>
          <p:nvPr/>
        </p:nvSpPr>
        <p:spPr>
          <a:xfrm>
            <a:off x="685800" y="5637929"/>
            <a:ext cx="4937760" cy="259951"/>
          </a:xfrm>
          <a:prstGeom prst="rect">
            <a:avLst/>
          </a:prstGeom>
          <a:noFill/>
          <a:ln/>
        </p:spPr>
        <p:txBody>
          <a:bodyPr wrap="square" lIns="0" tIns="0" rIns="0" bIns="0" rtlCol="0" anchor="ctr"/>
          <a:lstStyle/>
          <a:p>
            <a:pPr marL="0" indent="0">
              <a:buNone/>
            </a:pPr>
            <a:r>
              <a:rPr lang="en-US" sz="1100" dirty="0">
                <a:solidFill>
                  <a:srgbClr val="0A2647"/>
                </a:solidFill>
                <a:latin typeface="Calibri" pitchFamily="34" charset="0"/>
                <a:ea typeface="Calibri" pitchFamily="34" charset="-122"/>
                <a:cs typeface="Calibri" pitchFamily="34" charset="-120"/>
              </a:rPr>
              <a:t>Email (SMTP), file transfer (FTP)</a:t>
            </a:r>
            <a:endParaRPr lang="en-US" sz="1100" dirty="0"/>
          </a:p>
        </p:txBody>
      </p:sp>
      <p:sp>
        <p:nvSpPr>
          <p:cNvPr id="25" name="Shape 23"/>
          <p:cNvSpPr/>
          <p:nvPr/>
        </p:nvSpPr>
        <p:spPr>
          <a:xfrm>
            <a:off x="6309360" y="1463040"/>
            <a:ext cx="5394960" cy="4572000"/>
          </a:xfrm>
          <a:prstGeom prst="roundRect">
            <a:avLst>
              <a:gd name="adj" fmla="val 2000"/>
            </a:avLst>
          </a:prstGeom>
          <a:solidFill>
            <a:srgbClr val="FFFFFF"/>
          </a:solidFill>
          <a:ln w="19050">
            <a:solidFill>
              <a:srgbClr val="1B4F72"/>
            </a:solidFill>
            <a:prstDash val="solid"/>
          </a:ln>
        </p:spPr>
        <p:txBody>
          <a:bodyPr/>
          <a:lstStyle/>
          <a:p>
            <a:endParaRPr lang="en-US"/>
          </a:p>
        </p:txBody>
      </p:sp>
      <p:sp>
        <p:nvSpPr>
          <p:cNvPr id="26" name="Shape 24"/>
          <p:cNvSpPr/>
          <p:nvPr/>
        </p:nvSpPr>
        <p:spPr>
          <a:xfrm>
            <a:off x="6309360" y="1463040"/>
            <a:ext cx="5394960" cy="685800"/>
          </a:xfrm>
          <a:prstGeom prst="roundRect">
            <a:avLst>
              <a:gd name="adj" fmla="val 13333"/>
            </a:avLst>
          </a:prstGeom>
          <a:solidFill>
            <a:srgbClr val="1B4F72"/>
          </a:solidFill>
          <a:ln/>
        </p:spPr>
        <p:txBody>
          <a:bodyPr/>
          <a:lstStyle/>
          <a:p>
            <a:endParaRPr lang="en-US"/>
          </a:p>
        </p:txBody>
      </p:sp>
      <p:sp>
        <p:nvSpPr>
          <p:cNvPr id="27" name="Shape 25"/>
          <p:cNvSpPr/>
          <p:nvPr/>
        </p:nvSpPr>
        <p:spPr>
          <a:xfrm>
            <a:off x="6309360" y="1828800"/>
            <a:ext cx="5394960" cy="320040"/>
          </a:xfrm>
          <a:prstGeom prst="rect">
            <a:avLst/>
          </a:prstGeom>
          <a:solidFill>
            <a:srgbClr val="1B4F72"/>
          </a:solidFill>
          <a:ln/>
        </p:spPr>
        <p:txBody>
          <a:bodyPr/>
          <a:lstStyle/>
          <a:p>
            <a:endParaRPr lang="en-US"/>
          </a:p>
        </p:txBody>
      </p:sp>
      <p:sp>
        <p:nvSpPr>
          <p:cNvPr id="28" name="Text 26"/>
          <p:cNvSpPr/>
          <p:nvPr/>
        </p:nvSpPr>
        <p:spPr>
          <a:xfrm>
            <a:off x="6537960" y="1508760"/>
            <a:ext cx="493776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UDP</a:t>
            </a:r>
            <a:endParaRPr lang="en-US" sz="2000" dirty="0"/>
          </a:p>
        </p:txBody>
      </p:sp>
      <p:sp>
        <p:nvSpPr>
          <p:cNvPr id="29" name="Text 27"/>
          <p:cNvSpPr/>
          <p:nvPr/>
        </p:nvSpPr>
        <p:spPr>
          <a:xfrm>
            <a:off x="6537960" y="1874520"/>
            <a:ext cx="4937760" cy="274320"/>
          </a:xfrm>
          <a:prstGeom prst="rect">
            <a:avLst/>
          </a:prstGeom>
          <a:noFill/>
          <a:ln/>
        </p:spPr>
        <p:txBody>
          <a:bodyPr wrap="square" lIns="0" tIns="0" rIns="0" bIns="0" rtlCol="0" anchor="ctr"/>
          <a:lstStyle/>
          <a:p>
            <a:pPr marL="0" indent="0">
              <a:buNone/>
            </a:pPr>
            <a:r>
              <a:rPr lang="en-US" sz="1050" dirty="0">
                <a:solidFill>
                  <a:srgbClr val="E4EFFA"/>
                </a:solidFill>
                <a:latin typeface="Calibri" pitchFamily="34" charset="0"/>
                <a:ea typeface="Calibri" pitchFamily="34" charset="-122"/>
                <a:cs typeface="Calibri" pitchFamily="34" charset="-120"/>
              </a:rPr>
              <a:t>User Datagram Protocol</a:t>
            </a:r>
            <a:endParaRPr lang="en-US" sz="1050" dirty="0"/>
          </a:p>
        </p:txBody>
      </p:sp>
      <p:sp>
        <p:nvSpPr>
          <p:cNvPr id="30" name="Text 28"/>
          <p:cNvSpPr/>
          <p:nvPr/>
        </p:nvSpPr>
        <p:spPr>
          <a:xfrm>
            <a:off x="6537960" y="2331720"/>
            <a:ext cx="4937760" cy="219456"/>
          </a:xfrm>
          <a:prstGeom prst="rect">
            <a:avLst/>
          </a:prstGeom>
          <a:noFill/>
          <a:ln/>
        </p:spPr>
        <p:txBody>
          <a:bodyPr wrap="square" lIns="0" tIns="0" rIns="0" bIns="0" rtlCol="0" anchor="ctr"/>
          <a:lstStyle/>
          <a:p>
            <a:pPr marL="0" indent="0">
              <a:buNone/>
            </a:pPr>
            <a:r>
              <a:rPr lang="en-US" sz="1000" b="1" dirty="0">
                <a:solidFill>
                  <a:srgbClr val="1B4F72"/>
                </a:solidFill>
                <a:latin typeface="Calibri" pitchFamily="34" charset="0"/>
                <a:ea typeface="Calibri" pitchFamily="34" charset="-122"/>
                <a:cs typeface="Calibri" pitchFamily="34" charset="-120"/>
              </a:rPr>
              <a:t>Connection type</a:t>
            </a:r>
            <a:endParaRPr lang="en-US" sz="1000" dirty="0"/>
          </a:p>
        </p:txBody>
      </p:sp>
      <p:sp>
        <p:nvSpPr>
          <p:cNvPr id="31" name="Text 29"/>
          <p:cNvSpPr/>
          <p:nvPr/>
        </p:nvSpPr>
        <p:spPr>
          <a:xfrm>
            <a:off x="6537960" y="2542032"/>
            <a:ext cx="4937760" cy="259951"/>
          </a:xfrm>
          <a:prstGeom prst="rect">
            <a:avLst/>
          </a:prstGeom>
          <a:noFill/>
          <a:ln/>
        </p:spPr>
        <p:txBody>
          <a:bodyPr wrap="square" lIns="0" tIns="0" rIns="0" bIns="0" rtlCol="0" anchor="ctr"/>
          <a:lstStyle/>
          <a:p>
            <a:pPr marL="0" indent="0">
              <a:buNone/>
            </a:pPr>
            <a:r>
              <a:rPr lang="en-US" sz="1100" dirty="0">
                <a:solidFill>
                  <a:srgbClr val="0A2647"/>
                </a:solidFill>
                <a:latin typeface="Calibri" pitchFamily="34" charset="0"/>
                <a:ea typeface="Calibri" pitchFamily="34" charset="-122"/>
                <a:cs typeface="Calibri" pitchFamily="34" charset="-120"/>
              </a:rPr>
              <a:t>Connectionless (no handshake)</a:t>
            </a:r>
            <a:endParaRPr lang="en-US" sz="1100" dirty="0"/>
          </a:p>
        </p:txBody>
      </p:sp>
      <p:sp>
        <p:nvSpPr>
          <p:cNvPr id="32" name="Text 30"/>
          <p:cNvSpPr/>
          <p:nvPr/>
        </p:nvSpPr>
        <p:spPr>
          <a:xfrm>
            <a:off x="6537960" y="2847703"/>
            <a:ext cx="4937760" cy="219456"/>
          </a:xfrm>
          <a:prstGeom prst="rect">
            <a:avLst/>
          </a:prstGeom>
          <a:noFill/>
          <a:ln/>
        </p:spPr>
        <p:txBody>
          <a:bodyPr wrap="square" lIns="0" tIns="0" rIns="0" bIns="0" rtlCol="0" anchor="ctr"/>
          <a:lstStyle/>
          <a:p>
            <a:pPr marL="0" indent="0">
              <a:buNone/>
            </a:pPr>
            <a:r>
              <a:rPr lang="en-US" sz="1000" b="1" dirty="0">
                <a:solidFill>
                  <a:srgbClr val="1B4F72"/>
                </a:solidFill>
                <a:latin typeface="Calibri" pitchFamily="34" charset="0"/>
                <a:ea typeface="Calibri" pitchFamily="34" charset="-122"/>
                <a:cs typeface="Calibri" pitchFamily="34" charset="-120"/>
              </a:rPr>
              <a:t>Reliability</a:t>
            </a:r>
            <a:endParaRPr lang="en-US" sz="1000" dirty="0"/>
          </a:p>
        </p:txBody>
      </p:sp>
      <p:sp>
        <p:nvSpPr>
          <p:cNvPr id="33" name="Text 31"/>
          <p:cNvSpPr/>
          <p:nvPr/>
        </p:nvSpPr>
        <p:spPr>
          <a:xfrm>
            <a:off x="6537960" y="3058015"/>
            <a:ext cx="4937760" cy="259951"/>
          </a:xfrm>
          <a:prstGeom prst="rect">
            <a:avLst/>
          </a:prstGeom>
          <a:noFill/>
          <a:ln/>
        </p:spPr>
        <p:txBody>
          <a:bodyPr wrap="square" lIns="0" tIns="0" rIns="0" bIns="0" rtlCol="0" anchor="ctr"/>
          <a:lstStyle/>
          <a:p>
            <a:pPr marL="0" indent="0">
              <a:buNone/>
            </a:pPr>
            <a:r>
              <a:rPr lang="en-US" sz="1100" dirty="0">
                <a:solidFill>
                  <a:srgbClr val="0A2647"/>
                </a:solidFill>
                <a:latin typeface="Calibri" pitchFamily="34" charset="0"/>
                <a:ea typeface="Calibri" pitchFamily="34" charset="-122"/>
                <a:cs typeface="Calibri" pitchFamily="34" charset="-120"/>
              </a:rPr>
              <a:t>Best-effort — no delivery guarantee</a:t>
            </a:r>
            <a:endParaRPr lang="en-US" sz="1100" dirty="0"/>
          </a:p>
        </p:txBody>
      </p:sp>
      <p:sp>
        <p:nvSpPr>
          <p:cNvPr id="34" name="Text 32"/>
          <p:cNvSpPr/>
          <p:nvPr/>
        </p:nvSpPr>
        <p:spPr>
          <a:xfrm>
            <a:off x="6537960" y="3363686"/>
            <a:ext cx="4937760" cy="219456"/>
          </a:xfrm>
          <a:prstGeom prst="rect">
            <a:avLst/>
          </a:prstGeom>
          <a:noFill/>
          <a:ln/>
        </p:spPr>
        <p:txBody>
          <a:bodyPr wrap="square" lIns="0" tIns="0" rIns="0" bIns="0" rtlCol="0" anchor="ctr"/>
          <a:lstStyle/>
          <a:p>
            <a:pPr marL="0" indent="0">
              <a:buNone/>
            </a:pPr>
            <a:r>
              <a:rPr lang="en-US" sz="1000" b="1" dirty="0">
                <a:solidFill>
                  <a:srgbClr val="1B4F72"/>
                </a:solidFill>
                <a:latin typeface="Calibri" pitchFamily="34" charset="0"/>
                <a:ea typeface="Calibri" pitchFamily="34" charset="-122"/>
                <a:cs typeface="Calibri" pitchFamily="34" charset="-120"/>
              </a:rPr>
              <a:t>Ordering</a:t>
            </a:r>
            <a:endParaRPr lang="en-US" sz="1000" dirty="0"/>
          </a:p>
        </p:txBody>
      </p:sp>
      <p:sp>
        <p:nvSpPr>
          <p:cNvPr id="35" name="Text 33"/>
          <p:cNvSpPr/>
          <p:nvPr/>
        </p:nvSpPr>
        <p:spPr>
          <a:xfrm>
            <a:off x="6537960" y="3573998"/>
            <a:ext cx="4937760" cy="259951"/>
          </a:xfrm>
          <a:prstGeom prst="rect">
            <a:avLst/>
          </a:prstGeom>
          <a:noFill/>
          <a:ln/>
        </p:spPr>
        <p:txBody>
          <a:bodyPr wrap="square" lIns="0" tIns="0" rIns="0" bIns="0" rtlCol="0" anchor="ctr"/>
          <a:lstStyle/>
          <a:p>
            <a:pPr marL="0" indent="0">
              <a:buNone/>
            </a:pPr>
            <a:r>
              <a:rPr lang="en-US" sz="1100" dirty="0">
                <a:solidFill>
                  <a:srgbClr val="0A2647"/>
                </a:solidFill>
                <a:latin typeface="Calibri" pitchFamily="34" charset="0"/>
                <a:ea typeface="Calibri" pitchFamily="34" charset="-122"/>
                <a:cs typeface="Calibri" pitchFamily="34" charset="-120"/>
              </a:rPr>
              <a:t>No guaranteed order</a:t>
            </a:r>
            <a:endParaRPr lang="en-US" sz="1100" dirty="0"/>
          </a:p>
        </p:txBody>
      </p:sp>
      <p:sp>
        <p:nvSpPr>
          <p:cNvPr id="36" name="Text 34"/>
          <p:cNvSpPr/>
          <p:nvPr/>
        </p:nvSpPr>
        <p:spPr>
          <a:xfrm>
            <a:off x="6537960" y="3879669"/>
            <a:ext cx="4937760" cy="219456"/>
          </a:xfrm>
          <a:prstGeom prst="rect">
            <a:avLst/>
          </a:prstGeom>
          <a:noFill/>
          <a:ln/>
        </p:spPr>
        <p:txBody>
          <a:bodyPr wrap="square" lIns="0" tIns="0" rIns="0" bIns="0" rtlCol="0" anchor="ctr"/>
          <a:lstStyle/>
          <a:p>
            <a:pPr marL="0" indent="0">
              <a:buNone/>
            </a:pPr>
            <a:r>
              <a:rPr lang="en-US" sz="1000" b="1" dirty="0">
                <a:solidFill>
                  <a:srgbClr val="1B4F72"/>
                </a:solidFill>
                <a:latin typeface="Calibri" pitchFamily="34" charset="0"/>
                <a:ea typeface="Calibri" pitchFamily="34" charset="-122"/>
                <a:cs typeface="Calibri" pitchFamily="34" charset="-120"/>
              </a:rPr>
              <a:t>Speed</a:t>
            </a:r>
            <a:endParaRPr lang="en-US" sz="1000" dirty="0"/>
          </a:p>
        </p:txBody>
      </p:sp>
      <p:sp>
        <p:nvSpPr>
          <p:cNvPr id="37" name="Text 35"/>
          <p:cNvSpPr/>
          <p:nvPr/>
        </p:nvSpPr>
        <p:spPr>
          <a:xfrm>
            <a:off x="6537960" y="4089981"/>
            <a:ext cx="4937760" cy="259951"/>
          </a:xfrm>
          <a:prstGeom prst="rect">
            <a:avLst/>
          </a:prstGeom>
          <a:noFill/>
          <a:ln/>
        </p:spPr>
        <p:txBody>
          <a:bodyPr wrap="square" lIns="0" tIns="0" rIns="0" bIns="0" rtlCol="0" anchor="ctr"/>
          <a:lstStyle/>
          <a:p>
            <a:pPr marL="0" indent="0">
              <a:buNone/>
            </a:pPr>
            <a:r>
              <a:rPr lang="en-US" sz="1100" dirty="0">
                <a:solidFill>
                  <a:srgbClr val="0A2647"/>
                </a:solidFill>
                <a:latin typeface="Calibri" pitchFamily="34" charset="0"/>
                <a:ea typeface="Calibri" pitchFamily="34" charset="-122"/>
                <a:cs typeface="Calibri" pitchFamily="34" charset="-120"/>
              </a:rPr>
              <a:t>Faster — minimal overhead</a:t>
            </a:r>
            <a:endParaRPr lang="en-US" sz="1100" dirty="0"/>
          </a:p>
        </p:txBody>
      </p:sp>
      <p:sp>
        <p:nvSpPr>
          <p:cNvPr id="38" name="Text 36"/>
          <p:cNvSpPr/>
          <p:nvPr/>
        </p:nvSpPr>
        <p:spPr>
          <a:xfrm>
            <a:off x="6537960" y="4395651"/>
            <a:ext cx="4937760" cy="219456"/>
          </a:xfrm>
          <a:prstGeom prst="rect">
            <a:avLst/>
          </a:prstGeom>
          <a:noFill/>
          <a:ln/>
        </p:spPr>
        <p:txBody>
          <a:bodyPr wrap="square" lIns="0" tIns="0" rIns="0" bIns="0" rtlCol="0" anchor="ctr"/>
          <a:lstStyle/>
          <a:p>
            <a:pPr marL="0" indent="0">
              <a:buNone/>
            </a:pPr>
            <a:r>
              <a:rPr lang="en-US" sz="1000" b="1" dirty="0">
                <a:solidFill>
                  <a:srgbClr val="1B4F72"/>
                </a:solidFill>
                <a:latin typeface="Calibri" pitchFamily="34" charset="0"/>
                <a:ea typeface="Calibri" pitchFamily="34" charset="-122"/>
                <a:cs typeface="Calibri" pitchFamily="34" charset="-120"/>
              </a:rPr>
              <a:t>Header size</a:t>
            </a:r>
            <a:endParaRPr lang="en-US" sz="1000" dirty="0"/>
          </a:p>
        </p:txBody>
      </p:sp>
      <p:sp>
        <p:nvSpPr>
          <p:cNvPr id="39" name="Text 37"/>
          <p:cNvSpPr/>
          <p:nvPr/>
        </p:nvSpPr>
        <p:spPr>
          <a:xfrm>
            <a:off x="6537960" y="4605963"/>
            <a:ext cx="4937760" cy="259951"/>
          </a:xfrm>
          <a:prstGeom prst="rect">
            <a:avLst/>
          </a:prstGeom>
          <a:noFill/>
          <a:ln/>
        </p:spPr>
        <p:txBody>
          <a:bodyPr wrap="square" lIns="0" tIns="0" rIns="0" bIns="0" rtlCol="0" anchor="ctr"/>
          <a:lstStyle/>
          <a:p>
            <a:pPr marL="0" indent="0">
              <a:buNone/>
            </a:pPr>
            <a:r>
              <a:rPr lang="en-US" sz="1100" dirty="0">
                <a:solidFill>
                  <a:srgbClr val="0A2647"/>
                </a:solidFill>
                <a:latin typeface="Calibri" pitchFamily="34" charset="0"/>
                <a:ea typeface="Calibri" pitchFamily="34" charset="-122"/>
                <a:cs typeface="Calibri" pitchFamily="34" charset="-120"/>
              </a:rPr>
              <a:t>8 bytes (smaller)</a:t>
            </a:r>
            <a:endParaRPr lang="en-US" sz="1100" dirty="0"/>
          </a:p>
        </p:txBody>
      </p:sp>
      <p:sp>
        <p:nvSpPr>
          <p:cNvPr id="40" name="Text 38"/>
          <p:cNvSpPr/>
          <p:nvPr/>
        </p:nvSpPr>
        <p:spPr>
          <a:xfrm>
            <a:off x="6537960" y="4911634"/>
            <a:ext cx="4937760" cy="219456"/>
          </a:xfrm>
          <a:prstGeom prst="rect">
            <a:avLst/>
          </a:prstGeom>
          <a:noFill/>
          <a:ln/>
        </p:spPr>
        <p:txBody>
          <a:bodyPr wrap="square" lIns="0" tIns="0" rIns="0" bIns="0" rtlCol="0" anchor="ctr"/>
          <a:lstStyle/>
          <a:p>
            <a:pPr marL="0" indent="0">
              <a:buNone/>
            </a:pPr>
            <a:r>
              <a:rPr lang="en-US" sz="1000" b="1" dirty="0">
                <a:solidFill>
                  <a:srgbClr val="1B4F72"/>
                </a:solidFill>
                <a:latin typeface="Calibri" pitchFamily="34" charset="0"/>
                <a:ea typeface="Calibri" pitchFamily="34" charset="-122"/>
                <a:cs typeface="Calibri" pitchFamily="34" charset="-120"/>
              </a:rPr>
              <a:t>Not used here because</a:t>
            </a:r>
            <a:endParaRPr lang="en-US" sz="1000" dirty="0"/>
          </a:p>
        </p:txBody>
      </p:sp>
      <p:sp>
        <p:nvSpPr>
          <p:cNvPr id="41" name="Text 39"/>
          <p:cNvSpPr/>
          <p:nvPr/>
        </p:nvSpPr>
        <p:spPr>
          <a:xfrm>
            <a:off x="6537960" y="5121946"/>
            <a:ext cx="4937760" cy="259951"/>
          </a:xfrm>
          <a:prstGeom prst="rect">
            <a:avLst/>
          </a:prstGeom>
          <a:noFill/>
          <a:ln/>
        </p:spPr>
        <p:txBody>
          <a:bodyPr wrap="square" lIns="0" tIns="0" rIns="0" bIns="0" rtlCol="0" anchor="ctr"/>
          <a:lstStyle/>
          <a:p>
            <a:pPr marL="0" indent="0">
              <a:buNone/>
            </a:pPr>
            <a:r>
              <a:rPr lang="en-US" sz="1100" dirty="0">
                <a:solidFill>
                  <a:srgbClr val="0A2647"/>
                </a:solidFill>
                <a:latin typeface="Calibri" pitchFamily="34" charset="0"/>
                <a:ea typeface="Calibri" pitchFamily="34" charset="-122"/>
                <a:cs typeface="Calibri" pitchFamily="34" charset="-120"/>
              </a:rPr>
              <a:t>HTTPS needs guaranteed, ordered delivery</a:t>
            </a:r>
            <a:endParaRPr lang="en-US" sz="1100" dirty="0"/>
          </a:p>
        </p:txBody>
      </p:sp>
      <p:sp>
        <p:nvSpPr>
          <p:cNvPr id="42" name="Text 40"/>
          <p:cNvSpPr/>
          <p:nvPr/>
        </p:nvSpPr>
        <p:spPr>
          <a:xfrm>
            <a:off x="6537960" y="5427617"/>
            <a:ext cx="4937760" cy="219456"/>
          </a:xfrm>
          <a:prstGeom prst="rect">
            <a:avLst/>
          </a:prstGeom>
          <a:noFill/>
          <a:ln/>
        </p:spPr>
        <p:txBody>
          <a:bodyPr wrap="square" lIns="0" tIns="0" rIns="0" bIns="0" rtlCol="0" anchor="ctr"/>
          <a:lstStyle/>
          <a:p>
            <a:pPr marL="0" indent="0">
              <a:buNone/>
            </a:pPr>
            <a:r>
              <a:rPr lang="en-US" sz="1000" b="1" dirty="0">
                <a:solidFill>
                  <a:srgbClr val="1B4F72"/>
                </a:solidFill>
                <a:latin typeface="Calibri" pitchFamily="34" charset="0"/>
                <a:ea typeface="Calibri" pitchFamily="34" charset="-122"/>
                <a:cs typeface="Calibri" pitchFamily="34" charset="-120"/>
              </a:rPr>
              <a:t>Typical examples</a:t>
            </a:r>
            <a:endParaRPr lang="en-US" sz="1000" dirty="0"/>
          </a:p>
        </p:txBody>
      </p:sp>
      <p:sp>
        <p:nvSpPr>
          <p:cNvPr id="43" name="Text 41"/>
          <p:cNvSpPr/>
          <p:nvPr/>
        </p:nvSpPr>
        <p:spPr>
          <a:xfrm>
            <a:off x="6537960" y="5637929"/>
            <a:ext cx="4937760" cy="259951"/>
          </a:xfrm>
          <a:prstGeom prst="rect">
            <a:avLst/>
          </a:prstGeom>
          <a:noFill/>
          <a:ln/>
        </p:spPr>
        <p:txBody>
          <a:bodyPr wrap="square" lIns="0" tIns="0" rIns="0" bIns="0" rtlCol="0" anchor="ctr"/>
          <a:lstStyle/>
          <a:p>
            <a:pPr marL="0" indent="0">
              <a:buNone/>
            </a:pPr>
            <a:r>
              <a:rPr lang="en-US" sz="1100" dirty="0">
                <a:solidFill>
                  <a:srgbClr val="0A2647"/>
                </a:solidFill>
                <a:latin typeface="Calibri" pitchFamily="34" charset="0"/>
                <a:ea typeface="Calibri" pitchFamily="34" charset="-122"/>
                <a:cs typeface="Calibri" pitchFamily="34" charset="-120"/>
              </a:rPr>
              <a:t>Video streaming, VoIP calls, online gaming, DNS queries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9FC"/>
        </a:solidFill>
        <a:effectLst/>
      </p:bgPr>
    </p:bg>
    <p:spTree>
      <p:nvGrpSpPr>
        <p:cNvPr id="1" name=""/>
        <p:cNvGrpSpPr/>
        <p:nvPr/>
      </p:nvGrpSpPr>
      <p:grpSpPr>
        <a:xfrm>
          <a:off x="0" y="0"/>
          <a:ext cx="0" cy="0"/>
          <a:chOff x="0" y="0"/>
          <a:chExt cx="0" cy="0"/>
        </a:xfrm>
      </p:grpSpPr>
      <p:sp>
        <p:nvSpPr>
          <p:cNvPr id="2" name="Text 0"/>
          <p:cNvSpPr/>
          <p:nvPr/>
        </p:nvSpPr>
        <p:spPr>
          <a:xfrm>
            <a:off x="457200" y="292608"/>
            <a:ext cx="9144000" cy="274320"/>
          </a:xfrm>
          <a:prstGeom prst="rect">
            <a:avLst/>
          </a:prstGeom>
          <a:noFill/>
          <a:ln/>
        </p:spPr>
        <p:txBody>
          <a:bodyPr wrap="square"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ORIGINAL DIAGRAM</a:t>
            </a:r>
            <a:endParaRPr lang="en-US" sz="1200" dirty="0"/>
          </a:p>
        </p:txBody>
      </p:sp>
      <p:sp>
        <p:nvSpPr>
          <p:cNvPr id="3" name="Text 1"/>
          <p:cNvSpPr/>
          <p:nvPr/>
        </p:nvSpPr>
        <p:spPr>
          <a:xfrm>
            <a:off x="457200" y="548640"/>
            <a:ext cx="11247120" cy="640080"/>
          </a:xfrm>
          <a:prstGeom prst="rect">
            <a:avLst/>
          </a:prstGeom>
          <a:noFill/>
          <a:ln/>
        </p:spPr>
        <p:txBody>
          <a:bodyPr wrap="square" rtlCol="0" anchor="ctr"/>
          <a:lstStyle/>
          <a:p>
            <a:pPr marL="0" indent="0">
              <a:buNone/>
            </a:pPr>
            <a:r>
              <a:rPr lang="en-US" sz="3000" b="1" dirty="0">
                <a:solidFill>
                  <a:srgbClr val="0A2647"/>
                </a:solidFill>
                <a:latin typeface="Cambria" pitchFamily="34" charset="0"/>
                <a:ea typeface="Cambria" pitchFamily="34" charset="-122"/>
                <a:cs typeface="Cambria" pitchFamily="34" charset="-120"/>
              </a:rPr>
              <a:t>Complete Packet Journey — Request &amp; Response</a:t>
            </a:r>
            <a:endParaRPr lang="en-US" sz="3000" dirty="0"/>
          </a:p>
        </p:txBody>
      </p:sp>
      <p:sp>
        <p:nvSpPr>
          <p:cNvPr id="4" name="Text 2"/>
          <p:cNvSpPr/>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5C7A99"/>
                </a:solidFill>
                <a:latin typeface="Calibri" pitchFamily="34" charset="0"/>
                <a:ea typeface="Calibri" pitchFamily="34" charset="-122"/>
                <a:cs typeface="Calibri" pitchFamily="34" charset="-120"/>
              </a:rPr>
              <a:t>TEAM-02 · TCP/IP Communication in Action · FCDF-COHORT-11</a:t>
            </a:r>
            <a:endParaRPr lang="en-US" sz="900" dirty="0"/>
          </a:p>
        </p:txBody>
      </p:sp>
      <p:sp>
        <p:nvSpPr>
          <p:cNvPr id="5" name="Text 3"/>
          <p:cNvSpPr/>
          <p:nvPr/>
        </p:nvSpPr>
        <p:spPr>
          <a:xfrm>
            <a:off x="11155680" y="6547104"/>
            <a:ext cx="640080" cy="256032"/>
          </a:xfrm>
          <a:prstGeom prst="rect">
            <a:avLst/>
          </a:prstGeom>
          <a:noFill/>
          <a:ln/>
        </p:spPr>
        <p:txBody>
          <a:bodyPr wrap="square" rtlCol="0" anchor="ctr"/>
          <a:lstStyle/>
          <a:p>
            <a:pPr marL="0" indent="0" algn="r">
              <a:buNone/>
            </a:pPr>
            <a:r>
              <a:rPr lang="en-US" sz="900" dirty="0">
                <a:solidFill>
                  <a:srgbClr val="5C7A99"/>
                </a:solidFill>
                <a:latin typeface="Calibri" pitchFamily="34" charset="0"/>
                <a:ea typeface="Calibri" pitchFamily="34" charset="-122"/>
                <a:cs typeface="Calibri" pitchFamily="34" charset="-120"/>
              </a:rPr>
              <a:t>10 / 12</a:t>
            </a:r>
            <a:endParaRPr lang="en-US" sz="900" dirty="0"/>
          </a:p>
        </p:txBody>
      </p:sp>
      <p:sp>
        <p:nvSpPr>
          <p:cNvPr id="6" name="Text 4"/>
          <p:cNvSpPr/>
          <p:nvPr/>
        </p:nvSpPr>
        <p:spPr>
          <a:xfrm>
            <a:off x="822960" y="1371600"/>
            <a:ext cx="2560320" cy="228600"/>
          </a:xfrm>
          <a:prstGeom prst="rect">
            <a:avLst/>
          </a:prstGeom>
          <a:noFill/>
          <a:ln/>
        </p:spPr>
        <p:txBody>
          <a:bodyPr wrap="square" rtlCol="0" anchor="ctr"/>
          <a:lstStyle/>
          <a:p>
            <a:pPr marL="0" indent="0">
              <a:buNone/>
            </a:pPr>
            <a:r>
              <a:rPr lang="en-US" sz="1000" b="1" dirty="0">
                <a:solidFill>
                  <a:srgbClr val="5C7A99"/>
                </a:solidFill>
                <a:latin typeface="Calibri" pitchFamily="34" charset="0"/>
                <a:ea typeface="Calibri" pitchFamily="34" charset="-122"/>
                <a:cs typeface="Calibri" pitchFamily="34" charset="-120"/>
              </a:rPr>
              <a:t>CLIENT (Browser)</a:t>
            </a:r>
            <a:endParaRPr lang="en-US" sz="1000" dirty="0"/>
          </a:p>
        </p:txBody>
      </p:sp>
      <p:sp>
        <p:nvSpPr>
          <p:cNvPr id="7" name="Shape 5"/>
          <p:cNvSpPr/>
          <p:nvPr/>
        </p:nvSpPr>
        <p:spPr>
          <a:xfrm>
            <a:off x="914400" y="1691640"/>
            <a:ext cx="2377440" cy="502920"/>
          </a:xfrm>
          <a:prstGeom prst="roundRect">
            <a:avLst>
              <a:gd name="adj" fmla="val 10909"/>
            </a:avLst>
          </a:prstGeom>
          <a:solidFill>
            <a:srgbClr val="4FB0C6"/>
          </a:solidFill>
          <a:ln/>
        </p:spPr>
        <p:txBody>
          <a:bodyPr/>
          <a:lstStyle/>
          <a:p>
            <a:endParaRPr lang="en-US"/>
          </a:p>
        </p:txBody>
      </p:sp>
      <p:sp>
        <p:nvSpPr>
          <p:cNvPr id="8" name="Text 6"/>
          <p:cNvSpPr/>
          <p:nvPr/>
        </p:nvSpPr>
        <p:spPr>
          <a:xfrm>
            <a:off x="914400" y="1691640"/>
            <a:ext cx="237744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Application</a:t>
            </a:r>
            <a:endParaRPr lang="en-US" sz="1100" dirty="0"/>
          </a:p>
        </p:txBody>
      </p:sp>
      <p:sp>
        <p:nvSpPr>
          <p:cNvPr id="9" name="Shape 7"/>
          <p:cNvSpPr/>
          <p:nvPr/>
        </p:nvSpPr>
        <p:spPr>
          <a:xfrm>
            <a:off x="2103120" y="2194560"/>
            <a:ext cx="0" cy="256032"/>
          </a:xfrm>
          <a:prstGeom prst="line">
            <a:avLst/>
          </a:prstGeom>
          <a:noFill/>
          <a:ln w="25400">
            <a:solidFill>
              <a:srgbClr val="5C7A99"/>
            </a:solidFill>
            <a:prstDash val="solid"/>
            <a:tailEnd type="triangle"/>
          </a:ln>
        </p:spPr>
        <p:txBody>
          <a:bodyPr/>
          <a:lstStyle/>
          <a:p>
            <a:endParaRPr lang="en-US"/>
          </a:p>
        </p:txBody>
      </p:sp>
      <p:sp>
        <p:nvSpPr>
          <p:cNvPr id="10" name="Shape 8"/>
          <p:cNvSpPr/>
          <p:nvPr/>
        </p:nvSpPr>
        <p:spPr>
          <a:xfrm>
            <a:off x="914400" y="2450592"/>
            <a:ext cx="2377440" cy="502920"/>
          </a:xfrm>
          <a:prstGeom prst="roundRect">
            <a:avLst>
              <a:gd name="adj" fmla="val 10909"/>
            </a:avLst>
          </a:prstGeom>
          <a:solidFill>
            <a:srgbClr val="2C82C9"/>
          </a:solidFill>
          <a:ln/>
        </p:spPr>
        <p:txBody>
          <a:bodyPr/>
          <a:lstStyle/>
          <a:p>
            <a:endParaRPr lang="en-US"/>
          </a:p>
        </p:txBody>
      </p:sp>
      <p:sp>
        <p:nvSpPr>
          <p:cNvPr id="11" name="Text 9"/>
          <p:cNvSpPr/>
          <p:nvPr/>
        </p:nvSpPr>
        <p:spPr>
          <a:xfrm>
            <a:off x="914400" y="2450592"/>
            <a:ext cx="237744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Transport</a:t>
            </a:r>
            <a:endParaRPr lang="en-US" sz="1100" dirty="0"/>
          </a:p>
        </p:txBody>
      </p:sp>
      <p:sp>
        <p:nvSpPr>
          <p:cNvPr id="12" name="Shape 10"/>
          <p:cNvSpPr/>
          <p:nvPr/>
        </p:nvSpPr>
        <p:spPr>
          <a:xfrm>
            <a:off x="2103120" y="2953512"/>
            <a:ext cx="0" cy="256032"/>
          </a:xfrm>
          <a:prstGeom prst="line">
            <a:avLst/>
          </a:prstGeom>
          <a:noFill/>
          <a:ln w="25400">
            <a:solidFill>
              <a:srgbClr val="5C7A99"/>
            </a:solidFill>
            <a:prstDash val="solid"/>
            <a:tailEnd type="triangle"/>
          </a:ln>
        </p:spPr>
        <p:txBody>
          <a:bodyPr/>
          <a:lstStyle/>
          <a:p>
            <a:endParaRPr lang="en-US"/>
          </a:p>
        </p:txBody>
      </p:sp>
      <p:sp>
        <p:nvSpPr>
          <p:cNvPr id="13" name="Shape 11"/>
          <p:cNvSpPr/>
          <p:nvPr/>
        </p:nvSpPr>
        <p:spPr>
          <a:xfrm>
            <a:off x="914400" y="3209544"/>
            <a:ext cx="2377440" cy="502920"/>
          </a:xfrm>
          <a:prstGeom prst="roundRect">
            <a:avLst>
              <a:gd name="adj" fmla="val 10909"/>
            </a:avLst>
          </a:prstGeom>
          <a:solidFill>
            <a:srgbClr val="1B4F72"/>
          </a:solidFill>
          <a:ln/>
        </p:spPr>
        <p:txBody>
          <a:bodyPr/>
          <a:lstStyle/>
          <a:p>
            <a:endParaRPr lang="en-US"/>
          </a:p>
        </p:txBody>
      </p:sp>
      <p:sp>
        <p:nvSpPr>
          <p:cNvPr id="14" name="Text 12"/>
          <p:cNvSpPr/>
          <p:nvPr/>
        </p:nvSpPr>
        <p:spPr>
          <a:xfrm>
            <a:off x="914400" y="3209544"/>
            <a:ext cx="237744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Internet</a:t>
            </a:r>
            <a:endParaRPr lang="en-US" sz="1100" dirty="0"/>
          </a:p>
        </p:txBody>
      </p:sp>
      <p:sp>
        <p:nvSpPr>
          <p:cNvPr id="15" name="Shape 13"/>
          <p:cNvSpPr/>
          <p:nvPr/>
        </p:nvSpPr>
        <p:spPr>
          <a:xfrm>
            <a:off x="2103120" y="3712464"/>
            <a:ext cx="0" cy="256032"/>
          </a:xfrm>
          <a:prstGeom prst="line">
            <a:avLst/>
          </a:prstGeom>
          <a:noFill/>
          <a:ln w="25400">
            <a:solidFill>
              <a:srgbClr val="5C7A99"/>
            </a:solidFill>
            <a:prstDash val="solid"/>
            <a:tailEnd type="triangle"/>
          </a:ln>
        </p:spPr>
        <p:txBody>
          <a:bodyPr/>
          <a:lstStyle/>
          <a:p>
            <a:endParaRPr lang="en-US"/>
          </a:p>
        </p:txBody>
      </p:sp>
      <p:sp>
        <p:nvSpPr>
          <p:cNvPr id="16" name="Shape 14"/>
          <p:cNvSpPr/>
          <p:nvPr/>
        </p:nvSpPr>
        <p:spPr>
          <a:xfrm>
            <a:off x="914400" y="3968496"/>
            <a:ext cx="2377440" cy="502920"/>
          </a:xfrm>
          <a:prstGeom prst="roundRect">
            <a:avLst>
              <a:gd name="adj" fmla="val 10909"/>
            </a:avLst>
          </a:prstGeom>
          <a:solidFill>
            <a:srgbClr val="0A2647"/>
          </a:solidFill>
          <a:ln/>
        </p:spPr>
        <p:txBody>
          <a:bodyPr/>
          <a:lstStyle/>
          <a:p>
            <a:endParaRPr lang="en-US"/>
          </a:p>
        </p:txBody>
      </p:sp>
      <p:sp>
        <p:nvSpPr>
          <p:cNvPr id="17" name="Text 15"/>
          <p:cNvSpPr/>
          <p:nvPr/>
        </p:nvSpPr>
        <p:spPr>
          <a:xfrm>
            <a:off x="914400" y="3968496"/>
            <a:ext cx="237744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Network Access</a:t>
            </a:r>
            <a:endParaRPr lang="en-US" sz="1100" dirty="0"/>
          </a:p>
        </p:txBody>
      </p:sp>
      <p:sp>
        <p:nvSpPr>
          <p:cNvPr id="18" name="Text 16"/>
          <p:cNvSpPr/>
          <p:nvPr/>
        </p:nvSpPr>
        <p:spPr>
          <a:xfrm>
            <a:off x="8961120" y="1371600"/>
            <a:ext cx="2560320" cy="228600"/>
          </a:xfrm>
          <a:prstGeom prst="rect">
            <a:avLst/>
          </a:prstGeom>
          <a:noFill/>
          <a:ln/>
        </p:spPr>
        <p:txBody>
          <a:bodyPr wrap="square" rtlCol="0" anchor="ctr"/>
          <a:lstStyle/>
          <a:p>
            <a:pPr marL="0" indent="0">
              <a:buNone/>
            </a:pPr>
            <a:r>
              <a:rPr lang="en-US" sz="1000" b="1" dirty="0">
                <a:solidFill>
                  <a:srgbClr val="5C7A99"/>
                </a:solidFill>
                <a:latin typeface="Calibri" pitchFamily="34" charset="0"/>
                <a:ea typeface="Calibri" pitchFamily="34" charset="-122"/>
                <a:cs typeface="Calibri" pitchFamily="34" charset="-120"/>
              </a:rPr>
              <a:t>WEB SERVER</a:t>
            </a:r>
            <a:endParaRPr lang="en-US" sz="1000" dirty="0"/>
          </a:p>
        </p:txBody>
      </p:sp>
      <p:sp>
        <p:nvSpPr>
          <p:cNvPr id="19" name="Shape 17"/>
          <p:cNvSpPr/>
          <p:nvPr/>
        </p:nvSpPr>
        <p:spPr>
          <a:xfrm>
            <a:off x="9052560" y="1691640"/>
            <a:ext cx="2377440" cy="502920"/>
          </a:xfrm>
          <a:prstGeom prst="roundRect">
            <a:avLst>
              <a:gd name="adj" fmla="val 10909"/>
            </a:avLst>
          </a:prstGeom>
          <a:solidFill>
            <a:srgbClr val="4FB0C6"/>
          </a:solidFill>
          <a:ln/>
        </p:spPr>
        <p:txBody>
          <a:bodyPr/>
          <a:lstStyle/>
          <a:p>
            <a:endParaRPr lang="en-US"/>
          </a:p>
        </p:txBody>
      </p:sp>
      <p:sp>
        <p:nvSpPr>
          <p:cNvPr id="20" name="Text 18"/>
          <p:cNvSpPr/>
          <p:nvPr/>
        </p:nvSpPr>
        <p:spPr>
          <a:xfrm>
            <a:off x="9052560" y="1691640"/>
            <a:ext cx="237744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Application</a:t>
            </a:r>
            <a:endParaRPr lang="en-US" sz="1100" dirty="0"/>
          </a:p>
        </p:txBody>
      </p:sp>
      <p:sp>
        <p:nvSpPr>
          <p:cNvPr id="21" name="Shape 19"/>
          <p:cNvSpPr/>
          <p:nvPr/>
        </p:nvSpPr>
        <p:spPr>
          <a:xfrm>
            <a:off x="10241280" y="2194560"/>
            <a:ext cx="0" cy="256032"/>
          </a:xfrm>
          <a:prstGeom prst="line">
            <a:avLst/>
          </a:prstGeom>
          <a:noFill/>
          <a:ln w="25400">
            <a:solidFill>
              <a:srgbClr val="5C7A99"/>
            </a:solidFill>
            <a:prstDash val="solid"/>
            <a:tailEnd type="triangle"/>
          </a:ln>
        </p:spPr>
        <p:txBody>
          <a:bodyPr/>
          <a:lstStyle/>
          <a:p>
            <a:endParaRPr lang="en-US"/>
          </a:p>
        </p:txBody>
      </p:sp>
      <p:sp>
        <p:nvSpPr>
          <p:cNvPr id="22" name="Shape 20"/>
          <p:cNvSpPr/>
          <p:nvPr/>
        </p:nvSpPr>
        <p:spPr>
          <a:xfrm>
            <a:off x="9052560" y="2450592"/>
            <a:ext cx="2377440" cy="502920"/>
          </a:xfrm>
          <a:prstGeom prst="roundRect">
            <a:avLst>
              <a:gd name="adj" fmla="val 10909"/>
            </a:avLst>
          </a:prstGeom>
          <a:solidFill>
            <a:srgbClr val="2C82C9"/>
          </a:solidFill>
          <a:ln/>
        </p:spPr>
        <p:txBody>
          <a:bodyPr/>
          <a:lstStyle/>
          <a:p>
            <a:endParaRPr lang="en-US"/>
          </a:p>
        </p:txBody>
      </p:sp>
      <p:sp>
        <p:nvSpPr>
          <p:cNvPr id="23" name="Text 21"/>
          <p:cNvSpPr/>
          <p:nvPr/>
        </p:nvSpPr>
        <p:spPr>
          <a:xfrm>
            <a:off x="9052560" y="2450592"/>
            <a:ext cx="237744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Transport</a:t>
            </a:r>
            <a:endParaRPr lang="en-US" sz="1100" dirty="0"/>
          </a:p>
        </p:txBody>
      </p:sp>
      <p:sp>
        <p:nvSpPr>
          <p:cNvPr id="24" name="Shape 22"/>
          <p:cNvSpPr/>
          <p:nvPr/>
        </p:nvSpPr>
        <p:spPr>
          <a:xfrm>
            <a:off x="10241280" y="2953512"/>
            <a:ext cx="0" cy="256032"/>
          </a:xfrm>
          <a:prstGeom prst="line">
            <a:avLst/>
          </a:prstGeom>
          <a:noFill/>
          <a:ln w="25400">
            <a:solidFill>
              <a:srgbClr val="5C7A99"/>
            </a:solidFill>
            <a:prstDash val="solid"/>
            <a:tailEnd type="triangle"/>
          </a:ln>
        </p:spPr>
        <p:txBody>
          <a:bodyPr/>
          <a:lstStyle/>
          <a:p>
            <a:endParaRPr lang="en-US"/>
          </a:p>
        </p:txBody>
      </p:sp>
      <p:sp>
        <p:nvSpPr>
          <p:cNvPr id="25" name="Shape 23"/>
          <p:cNvSpPr/>
          <p:nvPr/>
        </p:nvSpPr>
        <p:spPr>
          <a:xfrm>
            <a:off x="9052560" y="3209544"/>
            <a:ext cx="2377440" cy="502920"/>
          </a:xfrm>
          <a:prstGeom prst="roundRect">
            <a:avLst>
              <a:gd name="adj" fmla="val 10909"/>
            </a:avLst>
          </a:prstGeom>
          <a:solidFill>
            <a:srgbClr val="1B4F72"/>
          </a:solidFill>
          <a:ln/>
        </p:spPr>
        <p:txBody>
          <a:bodyPr/>
          <a:lstStyle/>
          <a:p>
            <a:endParaRPr lang="en-US"/>
          </a:p>
        </p:txBody>
      </p:sp>
      <p:sp>
        <p:nvSpPr>
          <p:cNvPr id="26" name="Text 24"/>
          <p:cNvSpPr/>
          <p:nvPr/>
        </p:nvSpPr>
        <p:spPr>
          <a:xfrm>
            <a:off x="9052560" y="3209544"/>
            <a:ext cx="237744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Internet</a:t>
            </a:r>
            <a:endParaRPr lang="en-US" sz="1100" dirty="0"/>
          </a:p>
        </p:txBody>
      </p:sp>
      <p:sp>
        <p:nvSpPr>
          <p:cNvPr id="27" name="Shape 25"/>
          <p:cNvSpPr/>
          <p:nvPr/>
        </p:nvSpPr>
        <p:spPr>
          <a:xfrm>
            <a:off x="10241280" y="3712464"/>
            <a:ext cx="0" cy="256032"/>
          </a:xfrm>
          <a:prstGeom prst="line">
            <a:avLst/>
          </a:prstGeom>
          <a:noFill/>
          <a:ln w="25400">
            <a:solidFill>
              <a:srgbClr val="5C7A99"/>
            </a:solidFill>
            <a:prstDash val="solid"/>
            <a:tailEnd type="triangle"/>
          </a:ln>
        </p:spPr>
        <p:txBody>
          <a:bodyPr/>
          <a:lstStyle/>
          <a:p>
            <a:endParaRPr lang="en-US"/>
          </a:p>
        </p:txBody>
      </p:sp>
      <p:sp>
        <p:nvSpPr>
          <p:cNvPr id="28" name="Shape 26"/>
          <p:cNvSpPr/>
          <p:nvPr/>
        </p:nvSpPr>
        <p:spPr>
          <a:xfrm>
            <a:off x="9052560" y="3968496"/>
            <a:ext cx="2377440" cy="502920"/>
          </a:xfrm>
          <a:prstGeom prst="roundRect">
            <a:avLst>
              <a:gd name="adj" fmla="val 10909"/>
            </a:avLst>
          </a:prstGeom>
          <a:solidFill>
            <a:srgbClr val="0A2647"/>
          </a:solidFill>
          <a:ln/>
        </p:spPr>
        <p:txBody>
          <a:bodyPr/>
          <a:lstStyle/>
          <a:p>
            <a:endParaRPr lang="en-US"/>
          </a:p>
        </p:txBody>
      </p:sp>
      <p:sp>
        <p:nvSpPr>
          <p:cNvPr id="29" name="Text 27"/>
          <p:cNvSpPr/>
          <p:nvPr/>
        </p:nvSpPr>
        <p:spPr>
          <a:xfrm>
            <a:off x="9052560" y="3968496"/>
            <a:ext cx="237744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Network Access</a:t>
            </a:r>
            <a:endParaRPr lang="en-US" sz="1100" dirty="0"/>
          </a:p>
        </p:txBody>
      </p:sp>
      <p:sp>
        <p:nvSpPr>
          <p:cNvPr id="30" name="Shape 28"/>
          <p:cNvSpPr/>
          <p:nvPr/>
        </p:nvSpPr>
        <p:spPr>
          <a:xfrm>
            <a:off x="3566160" y="3831336"/>
            <a:ext cx="5212080" cy="777240"/>
          </a:xfrm>
          <a:prstGeom prst="ellipse">
            <a:avLst/>
          </a:prstGeom>
          <a:solidFill>
            <a:srgbClr val="D7E9F2"/>
          </a:solidFill>
          <a:ln w="12700">
            <a:solidFill>
              <a:srgbClr val="1B4F72"/>
            </a:solidFill>
            <a:prstDash val="solid"/>
          </a:ln>
        </p:spPr>
        <p:txBody>
          <a:bodyPr/>
          <a:lstStyle/>
          <a:p>
            <a:endParaRPr lang="en-US"/>
          </a:p>
        </p:txBody>
      </p:sp>
      <p:sp>
        <p:nvSpPr>
          <p:cNvPr id="31" name="Text 29"/>
          <p:cNvSpPr/>
          <p:nvPr/>
        </p:nvSpPr>
        <p:spPr>
          <a:xfrm>
            <a:off x="3566160" y="3831336"/>
            <a:ext cx="5212080" cy="777240"/>
          </a:xfrm>
          <a:prstGeom prst="rect">
            <a:avLst/>
          </a:prstGeom>
          <a:noFill/>
          <a:ln/>
        </p:spPr>
        <p:txBody>
          <a:bodyPr wrap="square" lIns="0" tIns="0" rIns="0" bIns="0" rtlCol="0" anchor="ctr"/>
          <a:lstStyle/>
          <a:p>
            <a:pPr marL="0" indent="0" algn="ctr">
              <a:buNone/>
            </a:pPr>
            <a:r>
              <a:rPr lang="en-US" sz="1200" b="1" dirty="0">
                <a:solidFill>
                  <a:srgbClr val="1B4F72"/>
                </a:solidFill>
                <a:latin typeface="Calibri" pitchFamily="34" charset="0"/>
                <a:ea typeface="Calibri" pitchFamily="34" charset="-122"/>
                <a:cs typeface="Calibri" pitchFamily="34" charset="-120"/>
              </a:rPr>
              <a:t>INTERNET</a:t>
            </a:r>
            <a:endParaRPr lang="en-US" sz="1200" dirty="0"/>
          </a:p>
        </p:txBody>
      </p:sp>
      <p:sp>
        <p:nvSpPr>
          <p:cNvPr id="32" name="Shape 30"/>
          <p:cNvSpPr/>
          <p:nvPr/>
        </p:nvSpPr>
        <p:spPr>
          <a:xfrm>
            <a:off x="3337560" y="4165092"/>
            <a:ext cx="228600" cy="0"/>
          </a:xfrm>
          <a:prstGeom prst="line">
            <a:avLst/>
          </a:prstGeom>
          <a:noFill/>
          <a:ln w="25400">
            <a:solidFill>
              <a:srgbClr val="00A896"/>
            </a:solidFill>
            <a:prstDash val="solid"/>
            <a:tailEnd type="triangle"/>
          </a:ln>
        </p:spPr>
        <p:txBody>
          <a:bodyPr/>
          <a:lstStyle/>
          <a:p>
            <a:endParaRPr lang="en-US"/>
          </a:p>
        </p:txBody>
      </p:sp>
      <p:sp>
        <p:nvSpPr>
          <p:cNvPr id="33" name="Shape 31"/>
          <p:cNvSpPr/>
          <p:nvPr/>
        </p:nvSpPr>
        <p:spPr>
          <a:xfrm>
            <a:off x="8778240" y="4293108"/>
            <a:ext cx="228600" cy="0"/>
          </a:xfrm>
          <a:prstGeom prst="line">
            <a:avLst/>
          </a:prstGeom>
          <a:noFill/>
          <a:ln w="25400">
            <a:solidFill>
              <a:srgbClr val="5C7A99"/>
            </a:solidFill>
            <a:prstDash val="solid"/>
            <a:tailEnd type="triangle"/>
          </a:ln>
        </p:spPr>
        <p:txBody>
          <a:bodyPr/>
          <a:lstStyle/>
          <a:p>
            <a:endParaRPr lang="en-US"/>
          </a:p>
        </p:txBody>
      </p:sp>
      <p:sp>
        <p:nvSpPr>
          <p:cNvPr id="34" name="Text 32"/>
          <p:cNvSpPr/>
          <p:nvPr/>
        </p:nvSpPr>
        <p:spPr>
          <a:xfrm>
            <a:off x="3566160" y="3465576"/>
            <a:ext cx="5212080" cy="274320"/>
          </a:xfrm>
          <a:prstGeom prst="rect">
            <a:avLst/>
          </a:prstGeom>
          <a:noFill/>
          <a:ln/>
        </p:spPr>
        <p:txBody>
          <a:bodyPr wrap="square" lIns="0" tIns="0" rIns="0" bIns="0" rtlCol="0" anchor="ctr"/>
          <a:lstStyle/>
          <a:p>
            <a:pPr marL="0" indent="0" algn="ctr">
              <a:buNone/>
            </a:pPr>
            <a:r>
              <a:rPr lang="en-US" sz="1050" b="1" dirty="0">
                <a:solidFill>
                  <a:srgbClr val="00A896"/>
                </a:solidFill>
                <a:latin typeface="Calibri" pitchFamily="34" charset="0"/>
                <a:ea typeface="Calibri" pitchFamily="34" charset="-122"/>
                <a:cs typeface="Calibri" pitchFamily="34" charset="-120"/>
              </a:rPr>
              <a:t>→ HTTPS request (encrypted)</a:t>
            </a:r>
            <a:endParaRPr lang="en-US" sz="1050" dirty="0"/>
          </a:p>
        </p:txBody>
      </p:sp>
      <p:sp>
        <p:nvSpPr>
          <p:cNvPr id="35" name="Text 33"/>
          <p:cNvSpPr/>
          <p:nvPr/>
        </p:nvSpPr>
        <p:spPr>
          <a:xfrm>
            <a:off x="3566160" y="4791456"/>
            <a:ext cx="5212080" cy="274320"/>
          </a:xfrm>
          <a:prstGeom prst="rect">
            <a:avLst/>
          </a:prstGeom>
          <a:noFill/>
          <a:ln/>
        </p:spPr>
        <p:txBody>
          <a:bodyPr wrap="square" lIns="0" tIns="0" rIns="0" bIns="0" rtlCol="0" anchor="ctr"/>
          <a:lstStyle/>
          <a:p>
            <a:pPr marL="0" indent="0" algn="ctr">
              <a:buNone/>
            </a:pPr>
            <a:r>
              <a:rPr lang="en-US" sz="1050" b="1" dirty="0">
                <a:solidFill>
                  <a:srgbClr val="5C7A99"/>
                </a:solidFill>
                <a:latin typeface="Calibri" pitchFamily="34" charset="0"/>
                <a:ea typeface="Calibri" pitchFamily="34" charset="-122"/>
                <a:cs typeface="Calibri" pitchFamily="34" charset="-120"/>
              </a:rPr>
              <a:t>← HTTPS response (encrypted page)</a:t>
            </a:r>
            <a:endParaRPr lang="en-US" sz="1050" dirty="0"/>
          </a:p>
        </p:txBody>
      </p:sp>
      <p:sp>
        <p:nvSpPr>
          <p:cNvPr id="36" name="Text 34"/>
          <p:cNvSpPr/>
          <p:nvPr/>
        </p:nvSpPr>
        <p:spPr>
          <a:xfrm>
            <a:off x="548640" y="5989320"/>
            <a:ext cx="10972800" cy="457200"/>
          </a:xfrm>
          <a:prstGeom prst="rect">
            <a:avLst/>
          </a:prstGeom>
          <a:noFill/>
          <a:ln/>
        </p:spPr>
        <p:txBody>
          <a:bodyPr wrap="square" rtlCol="0" anchor="ctr"/>
          <a:lstStyle/>
          <a:p>
            <a:pPr marL="0" indent="0" algn="ctr">
              <a:buNone/>
            </a:pPr>
            <a:r>
              <a:rPr lang="en-US" sz="1150" i="1" dirty="0">
                <a:solidFill>
                  <a:srgbClr val="5C7A99"/>
                </a:solidFill>
                <a:latin typeface="Calibri" pitchFamily="34" charset="0"/>
                <a:ea typeface="Calibri" pitchFamily="34" charset="-122"/>
                <a:cs typeface="Calibri" pitchFamily="34" charset="-120"/>
              </a:rPr>
              <a:t>Data travels down the client's stack, across the Internet, and up the server's stack for the request — then the reverse path returns the response.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9FC"/>
        </a:solidFill>
        <a:effectLst/>
      </p:bgPr>
    </p:bg>
    <p:spTree>
      <p:nvGrpSpPr>
        <p:cNvPr id="1" name=""/>
        <p:cNvGrpSpPr/>
        <p:nvPr/>
      </p:nvGrpSpPr>
      <p:grpSpPr>
        <a:xfrm>
          <a:off x="0" y="0"/>
          <a:ext cx="0" cy="0"/>
          <a:chOff x="0" y="0"/>
          <a:chExt cx="0" cy="0"/>
        </a:xfrm>
      </p:grpSpPr>
      <p:sp>
        <p:nvSpPr>
          <p:cNvPr id="2" name="Text 0"/>
          <p:cNvSpPr/>
          <p:nvPr/>
        </p:nvSpPr>
        <p:spPr>
          <a:xfrm>
            <a:off x="457200" y="292608"/>
            <a:ext cx="9144000" cy="274320"/>
          </a:xfrm>
          <a:prstGeom prst="rect">
            <a:avLst/>
          </a:prstGeom>
          <a:noFill/>
          <a:ln/>
        </p:spPr>
        <p:txBody>
          <a:bodyPr wrap="square"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DIAGNOSTICS</a:t>
            </a:r>
            <a:endParaRPr lang="en-US" sz="1200" dirty="0"/>
          </a:p>
        </p:txBody>
      </p:sp>
      <p:sp>
        <p:nvSpPr>
          <p:cNvPr id="3" name="Text 1"/>
          <p:cNvSpPr/>
          <p:nvPr/>
        </p:nvSpPr>
        <p:spPr>
          <a:xfrm>
            <a:off x="457200" y="548640"/>
            <a:ext cx="11247120" cy="640080"/>
          </a:xfrm>
          <a:prstGeom prst="rect">
            <a:avLst/>
          </a:prstGeom>
          <a:noFill/>
          <a:ln/>
        </p:spPr>
        <p:txBody>
          <a:bodyPr wrap="square" rtlCol="0" anchor="ctr"/>
          <a:lstStyle/>
          <a:p>
            <a:pPr marL="0" indent="0">
              <a:buNone/>
            </a:pPr>
            <a:r>
              <a:rPr lang="en-US" sz="3000" b="1" dirty="0">
                <a:solidFill>
                  <a:srgbClr val="0A2647"/>
                </a:solidFill>
                <a:latin typeface="Cambria" pitchFamily="34" charset="0"/>
                <a:ea typeface="Cambria" pitchFamily="34" charset="-122"/>
                <a:cs typeface="Cambria" pitchFamily="34" charset="-120"/>
              </a:rPr>
              <a:t>Troubleshooting a Communication Failure</a:t>
            </a:r>
            <a:endParaRPr lang="en-US" sz="3000" dirty="0"/>
          </a:p>
        </p:txBody>
      </p:sp>
      <p:sp>
        <p:nvSpPr>
          <p:cNvPr id="4" name="Text 2"/>
          <p:cNvSpPr/>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5C7A99"/>
                </a:solidFill>
                <a:latin typeface="Calibri" pitchFamily="34" charset="0"/>
                <a:ea typeface="Calibri" pitchFamily="34" charset="-122"/>
                <a:cs typeface="Calibri" pitchFamily="34" charset="-120"/>
              </a:rPr>
              <a:t>TEAM-02 · TCP/IP Communication in Action · FCDF-COHORT-11</a:t>
            </a:r>
            <a:endParaRPr lang="en-US" sz="900" dirty="0"/>
          </a:p>
        </p:txBody>
      </p:sp>
      <p:sp>
        <p:nvSpPr>
          <p:cNvPr id="5" name="Text 3"/>
          <p:cNvSpPr/>
          <p:nvPr/>
        </p:nvSpPr>
        <p:spPr>
          <a:xfrm>
            <a:off x="11155680" y="6547104"/>
            <a:ext cx="640080" cy="256032"/>
          </a:xfrm>
          <a:prstGeom prst="rect">
            <a:avLst/>
          </a:prstGeom>
          <a:noFill/>
          <a:ln/>
        </p:spPr>
        <p:txBody>
          <a:bodyPr wrap="square" rtlCol="0" anchor="ctr"/>
          <a:lstStyle/>
          <a:p>
            <a:pPr marL="0" indent="0" algn="r">
              <a:buNone/>
            </a:pPr>
            <a:r>
              <a:rPr lang="en-US" sz="900" dirty="0">
                <a:solidFill>
                  <a:srgbClr val="5C7A99"/>
                </a:solidFill>
                <a:latin typeface="Calibri" pitchFamily="34" charset="0"/>
                <a:ea typeface="Calibri" pitchFamily="34" charset="-122"/>
                <a:cs typeface="Calibri" pitchFamily="34" charset="-120"/>
              </a:rPr>
              <a:t>11 / 12</a:t>
            </a:r>
            <a:endParaRPr lang="en-US" sz="900" dirty="0"/>
          </a:p>
        </p:txBody>
      </p:sp>
      <p:sp>
        <p:nvSpPr>
          <p:cNvPr id="6" name="Shape 4"/>
          <p:cNvSpPr/>
          <p:nvPr/>
        </p:nvSpPr>
        <p:spPr>
          <a:xfrm>
            <a:off x="457200" y="1371600"/>
            <a:ext cx="11247120" cy="594360"/>
          </a:xfrm>
          <a:prstGeom prst="roundRect">
            <a:avLst>
              <a:gd name="adj" fmla="val 12308"/>
            </a:avLst>
          </a:prstGeom>
          <a:solidFill>
            <a:srgbClr val="FDEDEC"/>
          </a:solidFill>
          <a:ln w="12700">
            <a:solidFill>
              <a:srgbClr val="C0392B"/>
            </a:solidFill>
            <a:prstDash val="solid"/>
          </a:ln>
        </p:spPr>
        <p:txBody>
          <a:bodyPr/>
          <a:lstStyle/>
          <a:p>
            <a:endParaRPr lang="en-US"/>
          </a:p>
        </p:txBody>
      </p:sp>
      <p:sp>
        <p:nvSpPr>
          <p:cNvPr id="7" name="Text 5"/>
          <p:cNvSpPr/>
          <p:nvPr/>
        </p:nvSpPr>
        <p:spPr>
          <a:xfrm>
            <a:off x="685800" y="1371600"/>
            <a:ext cx="10789920" cy="594360"/>
          </a:xfrm>
          <a:prstGeom prst="rect">
            <a:avLst/>
          </a:prstGeom>
          <a:noFill/>
          <a:ln/>
        </p:spPr>
        <p:txBody>
          <a:bodyPr wrap="square" lIns="0" tIns="0" rIns="0" bIns="0" rtlCol="0" anchor="ctr"/>
          <a:lstStyle/>
          <a:p>
            <a:pPr marL="0" indent="0">
              <a:buNone/>
            </a:pPr>
            <a:r>
              <a:rPr lang="en-US" sz="1300" b="1" dirty="0">
                <a:solidFill>
                  <a:srgbClr val="922B21"/>
                </a:solidFill>
                <a:latin typeface="Calibri" pitchFamily="34" charset="0"/>
                <a:ea typeface="Calibri" pitchFamily="34" charset="-122"/>
                <a:cs typeface="Calibri" pitchFamily="34" charset="-120"/>
              </a:rPr>
              <a:t>Failure scenario:  </a:t>
            </a:r>
            <a:r>
              <a:rPr lang="en-US" sz="1300" dirty="0">
                <a:solidFill>
                  <a:srgbClr val="922B21"/>
                </a:solidFill>
                <a:latin typeface="Calibri" pitchFamily="34" charset="0"/>
                <a:ea typeface="Calibri" pitchFamily="34" charset="-122"/>
                <a:cs typeface="Calibri" pitchFamily="34" charset="-120"/>
              </a:rPr>
              <a:t>The user's browser shows “This site can’t be reached” when opening https://www.amazon.com.</a:t>
            </a:r>
            <a:endParaRPr lang="en-US" sz="1300" dirty="0"/>
          </a:p>
        </p:txBody>
      </p:sp>
      <p:sp>
        <p:nvSpPr>
          <p:cNvPr id="8" name="Shape 6"/>
          <p:cNvSpPr/>
          <p:nvPr/>
        </p:nvSpPr>
        <p:spPr>
          <a:xfrm>
            <a:off x="457200" y="2148840"/>
            <a:ext cx="5486400" cy="1133856"/>
          </a:xfrm>
          <a:prstGeom prst="roundRect">
            <a:avLst>
              <a:gd name="adj" fmla="val 6452"/>
            </a:avLst>
          </a:prstGeom>
          <a:solidFill>
            <a:srgbClr val="FFFFFF"/>
          </a:solidFill>
          <a:ln w="12700">
            <a:solidFill>
              <a:srgbClr val="D7E4EE"/>
            </a:solidFill>
            <a:prstDash val="solid"/>
          </a:ln>
        </p:spPr>
        <p:txBody>
          <a:bodyPr/>
          <a:lstStyle/>
          <a:p>
            <a:endParaRPr lang="en-US"/>
          </a:p>
        </p:txBody>
      </p:sp>
      <p:sp>
        <p:nvSpPr>
          <p:cNvPr id="9" name="Shape 7"/>
          <p:cNvSpPr/>
          <p:nvPr/>
        </p:nvSpPr>
        <p:spPr>
          <a:xfrm>
            <a:off x="621792" y="2295144"/>
            <a:ext cx="365760" cy="365760"/>
          </a:xfrm>
          <a:prstGeom prst="ellipse">
            <a:avLst/>
          </a:prstGeom>
          <a:solidFill>
            <a:srgbClr val="00A896"/>
          </a:solidFill>
          <a:ln/>
        </p:spPr>
        <p:txBody>
          <a:bodyPr/>
          <a:lstStyle/>
          <a:p>
            <a:endParaRPr lang="en-US"/>
          </a:p>
        </p:txBody>
      </p:sp>
      <p:sp>
        <p:nvSpPr>
          <p:cNvPr id="10" name="Text 8"/>
          <p:cNvSpPr/>
          <p:nvPr/>
        </p:nvSpPr>
        <p:spPr>
          <a:xfrm>
            <a:off x="621792" y="2295144"/>
            <a:ext cx="365760" cy="36576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9"/>
          <p:cNvSpPr/>
          <p:nvPr/>
        </p:nvSpPr>
        <p:spPr>
          <a:xfrm>
            <a:off x="1097280" y="2240280"/>
            <a:ext cx="3749040" cy="274320"/>
          </a:xfrm>
          <a:prstGeom prst="rect">
            <a:avLst/>
          </a:prstGeom>
          <a:noFill/>
          <a:ln/>
        </p:spPr>
        <p:txBody>
          <a:bodyPr wrap="square" lIns="0" tIns="0" rIns="0" bIns="0" rtlCol="0" anchor="ctr"/>
          <a:lstStyle/>
          <a:p>
            <a:pPr marL="0" indent="0">
              <a:buNone/>
            </a:pPr>
            <a:r>
              <a:rPr lang="en-US" sz="1250" b="1" dirty="0">
                <a:solidFill>
                  <a:srgbClr val="0A2647"/>
                </a:solidFill>
                <a:latin typeface="Calibri" pitchFamily="34" charset="0"/>
                <a:ea typeface="Calibri" pitchFamily="34" charset="-122"/>
                <a:cs typeface="Calibri" pitchFamily="34" charset="-120"/>
              </a:rPr>
              <a:t>Confirm physical connectivity</a:t>
            </a:r>
            <a:endParaRPr lang="en-US" sz="1250" dirty="0"/>
          </a:p>
        </p:txBody>
      </p:sp>
      <p:sp>
        <p:nvSpPr>
          <p:cNvPr id="12" name="Shape 10"/>
          <p:cNvSpPr/>
          <p:nvPr/>
        </p:nvSpPr>
        <p:spPr>
          <a:xfrm>
            <a:off x="4023360" y="2267712"/>
            <a:ext cx="1737360" cy="274320"/>
          </a:xfrm>
          <a:prstGeom prst="roundRect">
            <a:avLst>
              <a:gd name="adj" fmla="val 50000"/>
            </a:avLst>
          </a:prstGeom>
          <a:solidFill>
            <a:srgbClr val="0A2647"/>
          </a:solidFill>
          <a:ln/>
        </p:spPr>
        <p:txBody>
          <a:bodyPr/>
          <a:lstStyle/>
          <a:p>
            <a:endParaRPr lang="en-US"/>
          </a:p>
        </p:txBody>
      </p:sp>
      <p:sp>
        <p:nvSpPr>
          <p:cNvPr id="13" name="Text 11"/>
          <p:cNvSpPr/>
          <p:nvPr/>
        </p:nvSpPr>
        <p:spPr>
          <a:xfrm>
            <a:off x="4023360" y="2267712"/>
            <a:ext cx="173736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Network Access</a:t>
            </a:r>
            <a:endParaRPr lang="en-US" sz="900" dirty="0"/>
          </a:p>
        </p:txBody>
      </p:sp>
      <p:sp>
        <p:nvSpPr>
          <p:cNvPr id="14" name="Text 12"/>
          <p:cNvSpPr/>
          <p:nvPr/>
        </p:nvSpPr>
        <p:spPr>
          <a:xfrm>
            <a:off x="1097280" y="2560320"/>
            <a:ext cx="4663440" cy="713232"/>
          </a:xfrm>
          <a:prstGeom prst="rect">
            <a:avLst/>
          </a:prstGeom>
          <a:noFill/>
          <a:ln/>
        </p:spPr>
        <p:txBody>
          <a:bodyPr wrap="square" lIns="0" tIns="0" rIns="0" bIns="0" rtlCol="0" anchor="ctr"/>
          <a:lstStyle/>
          <a:p>
            <a:pPr marL="0" indent="0">
              <a:buNone/>
            </a:pPr>
            <a:r>
              <a:rPr lang="en-US" sz="1050" dirty="0">
                <a:solidFill>
                  <a:srgbClr val="5C7A99"/>
                </a:solidFill>
                <a:latin typeface="Calibri" pitchFamily="34" charset="0"/>
                <a:ea typeface="Calibri" pitchFamily="34" charset="-122"/>
                <a:cs typeface="Calibri" pitchFamily="34" charset="-120"/>
              </a:rPr>
              <a:t>Check Wi-Fi/Ethernet link light and adapter status; retry on another network if needed.</a:t>
            </a:r>
            <a:endParaRPr lang="en-US" sz="1050" dirty="0"/>
          </a:p>
        </p:txBody>
      </p:sp>
      <p:sp>
        <p:nvSpPr>
          <p:cNvPr id="15" name="Shape 13"/>
          <p:cNvSpPr/>
          <p:nvPr/>
        </p:nvSpPr>
        <p:spPr>
          <a:xfrm>
            <a:off x="457200" y="3410712"/>
            <a:ext cx="5486400" cy="1133856"/>
          </a:xfrm>
          <a:prstGeom prst="roundRect">
            <a:avLst>
              <a:gd name="adj" fmla="val 6452"/>
            </a:avLst>
          </a:prstGeom>
          <a:solidFill>
            <a:srgbClr val="FFFFFF"/>
          </a:solidFill>
          <a:ln w="12700">
            <a:solidFill>
              <a:srgbClr val="D7E4EE"/>
            </a:solidFill>
            <a:prstDash val="solid"/>
          </a:ln>
        </p:spPr>
        <p:txBody>
          <a:bodyPr/>
          <a:lstStyle/>
          <a:p>
            <a:endParaRPr lang="en-US"/>
          </a:p>
        </p:txBody>
      </p:sp>
      <p:sp>
        <p:nvSpPr>
          <p:cNvPr id="16" name="Shape 14"/>
          <p:cNvSpPr/>
          <p:nvPr/>
        </p:nvSpPr>
        <p:spPr>
          <a:xfrm>
            <a:off x="621792" y="3557016"/>
            <a:ext cx="365760" cy="365760"/>
          </a:xfrm>
          <a:prstGeom prst="ellipse">
            <a:avLst/>
          </a:prstGeom>
          <a:solidFill>
            <a:srgbClr val="00A896"/>
          </a:solidFill>
          <a:ln/>
        </p:spPr>
        <p:txBody>
          <a:bodyPr/>
          <a:lstStyle/>
          <a:p>
            <a:endParaRPr lang="en-US"/>
          </a:p>
        </p:txBody>
      </p:sp>
      <p:sp>
        <p:nvSpPr>
          <p:cNvPr id="17" name="Text 15"/>
          <p:cNvSpPr/>
          <p:nvPr/>
        </p:nvSpPr>
        <p:spPr>
          <a:xfrm>
            <a:off x="621792" y="3557016"/>
            <a:ext cx="365760" cy="36576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2</a:t>
            </a:r>
            <a:endParaRPr lang="en-US" sz="1500" dirty="0"/>
          </a:p>
        </p:txBody>
      </p:sp>
      <p:sp>
        <p:nvSpPr>
          <p:cNvPr id="18" name="Text 16"/>
          <p:cNvSpPr/>
          <p:nvPr/>
        </p:nvSpPr>
        <p:spPr>
          <a:xfrm>
            <a:off x="1097280" y="3502152"/>
            <a:ext cx="3749040" cy="274320"/>
          </a:xfrm>
          <a:prstGeom prst="rect">
            <a:avLst/>
          </a:prstGeom>
          <a:noFill/>
          <a:ln/>
        </p:spPr>
        <p:txBody>
          <a:bodyPr wrap="square" lIns="0" tIns="0" rIns="0" bIns="0" rtlCol="0" anchor="ctr"/>
          <a:lstStyle/>
          <a:p>
            <a:pPr marL="0" indent="0">
              <a:buNone/>
            </a:pPr>
            <a:r>
              <a:rPr lang="en-US" sz="1250" b="1" dirty="0">
                <a:solidFill>
                  <a:srgbClr val="0A2647"/>
                </a:solidFill>
                <a:latin typeface="Calibri" pitchFamily="34" charset="0"/>
                <a:ea typeface="Calibri" pitchFamily="34" charset="-122"/>
                <a:cs typeface="Calibri" pitchFamily="34" charset="-120"/>
              </a:rPr>
              <a:t>Verify IP configuration</a:t>
            </a:r>
            <a:endParaRPr lang="en-US" sz="1250" dirty="0"/>
          </a:p>
        </p:txBody>
      </p:sp>
      <p:sp>
        <p:nvSpPr>
          <p:cNvPr id="19" name="Shape 17"/>
          <p:cNvSpPr/>
          <p:nvPr/>
        </p:nvSpPr>
        <p:spPr>
          <a:xfrm>
            <a:off x="4023360" y="3529584"/>
            <a:ext cx="1737360" cy="274320"/>
          </a:xfrm>
          <a:prstGeom prst="roundRect">
            <a:avLst>
              <a:gd name="adj" fmla="val 50000"/>
            </a:avLst>
          </a:prstGeom>
          <a:solidFill>
            <a:srgbClr val="1B4F72"/>
          </a:solidFill>
          <a:ln/>
        </p:spPr>
        <p:txBody>
          <a:bodyPr/>
          <a:lstStyle/>
          <a:p>
            <a:endParaRPr lang="en-US"/>
          </a:p>
        </p:txBody>
      </p:sp>
      <p:sp>
        <p:nvSpPr>
          <p:cNvPr id="20" name="Text 18"/>
          <p:cNvSpPr/>
          <p:nvPr/>
        </p:nvSpPr>
        <p:spPr>
          <a:xfrm>
            <a:off x="4023360" y="3529584"/>
            <a:ext cx="173736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Internet</a:t>
            </a:r>
            <a:endParaRPr lang="en-US" sz="900" dirty="0"/>
          </a:p>
        </p:txBody>
      </p:sp>
      <p:sp>
        <p:nvSpPr>
          <p:cNvPr id="21" name="Text 19"/>
          <p:cNvSpPr/>
          <p:nvPr/>
        </p:nvSpPr>
        <p:spPr>
          <a:xfrm>
            <a:off x="1097280" y="3822192"/>
            <a:ext cx="4663440" cy="713232"/>
          </a:xfrm>
          <a:prstGeom prst="rect">
            <a:avLst/>
          </a:prstGeom>
          <a:noFill/>
          <a:ln/>
        </p:spPr>
        <p:txBody>
          <a:bodyPr wrap="square" lIns="0" tIns="0" rIns="0" bIns="0" rtlCol="0" anchor="ctr"/>
          <a:lstStyle/>
          <a:p>
            <a:pPr marL="0" indent="0">
              <a:buNone/>
            </a:pPr>
            <a:r>
              <a:rPr lang="en-US" sz="1050" dirty="0">
                <a:solidFill>
                  <a:srgbClr val="5C7A99"/>
                </a:solidFill>
                <a:latin typeface="Calibri" pitchFamily="34" charset="0"/>
                <a:ea typeface="Calibri" pitchFamily="34" charset="-122"/>
                <a:cs typeface="Calibri" pitchFamily="34" charset="-120"/>
              </a:rPr>
              <a:t>Run ipconfig / ifconfig and ping the default gateway to confirm the device has a valid IP.</a:t>
            </a:r>
            <a:endParaRPr lang="en-US" sz="1050" dirty="0"/>
          </a:p>
        </p:txBody>
      </p:sp>
      <p:sp>
        <p:nvSpPr>
          <p:cNvPr id="22" name="Shape 20"/>
          <p:cNvSpPr/>
          <p:nvPr/>
        </p:nvSpPr>
        <p:spPr>
          <a:xfrm>
            <a:off x="457200" y="4672584"/>
            <a:ext cx="5486400" cy="1133856"/>
          </a:xfrm>
          <a:prstGeom prst="roundRect">
            <a:avLst>
              <a:gd name="adj" fmla="val 6452"/>
            </a:avLst>
          </a:prstGeom>
          <a:solidFill>
            <a:srgbClr val="FFFFFF"/>
          </a:solidFill>
          <a:ln w="12700">
            <a:solidFill>
              <a:srgbClr val="D7E4EE"/>
            </a:solidFill>
            <a:prstDash val="solid"/>
          </a:ln>
        </p:spPr>
        <p:txBody>
          <a:bodyPr/>
          <a:lstStyle/>
          <a:p>
            <a:endParaRPr lang="en-US"/>
          </a:p>
        </p:txBody>
      </p:sp>
      <p:sp>
        <p:nvSpPr>
          <p:cNvPr id="23" name="Shape 21"/>
          <p:cNvSpPr/>
          <p:nvPr/>
        </p:nvSpPr>
        <p:spPr>
          <a:xfrm>
            <a:off x="621792" y="4818888"/>
            <a:ext cx="365760" cy="365760"/>
          </a:xfrm>
          <a:prstGeom prst="ellipse">
            <a:avLst/>
          </a:prstGeom>
          <a:solidFill>
            <a:srgbClr val="00A896"/>
          </a:solidFill>
          <a:ln/>
        </p:spPr>
        <p:txBody>
          <a:bodyPr/>
          <a:lstStyle/>
          <a:p>
            <a:endParaRPr lang="en-US"/>
          </a:p>
        </p:txBody>
      </p:sp>
      <p:sp>
        <p:nvSpPr>
          <p:cNvPr id="24" name="Text 22"/>
          <p:cNvSpPr/>
          <p:nvPr/>
        </p:nvSpPr>
        <p:spPr>
          <a:xfrm>
            <a:off x="621792" y="4818888"/>
            <a:ext cx="365760" cy="36576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3"/>
          <p:cNvSpPr/>
          <p:nvPr/>
        </p:nvSpPr>
        <p:spPr>
          <a:xfrm>
            <a:off x="1097280" y="4764024"/>
            <a:ext cx="3749040" cy="274320"/>
          </a:xfrm>
          <a:prstGeom prst="rect">
            <a:avLst/>
          </a:prstGeom>
          <a:noFill/>
          <a:ln/>
        </p:spPr>
        <p:txBody>
          <a:bodyPr wrap="square" lIns="0" tIns="0" rIns="0" bIns="0" rtlCol="0" anchor="ctr"/>
          <a:lstStyle/>
          <a:p>
            <a:pPr marL="0" indent="0">
              <a:buNone/>
            </a:pPr>
            <a:r>
              <a:rPr lang="en-US" sz="1250" b="1" dirty="0">
                <a:solidFill>
                  <a:srgbClr val="0A2647"/>
                </a:solidFill>
                <a:latin typeface="Calibri" pitchFamily="34" charset="0"/>
                <a:ea typeface="Calibri" pitchFamily="34" charset="-122"/>
                <a:cs typeface="Calibri" pitchFamily="34" charset="-120"/>
              </a:rPr>
              <a:t>Test DNS resolution</a:t>
            </a:r>
            <a:endParaRPr lang="en-US" sz="1250" dirty="0"/>
          </a:p>
        </p:txBody>
      </p:sp>
      <p:sp>
        <p:nvSpPr>
          <p:cNvPr id="26" name="Shape 24"/>
          <p:cNvSpPr/>
          <p:nvPr/>
        </p:nvSpPr>
        <p:spPr>
          <a:xfrm>
            <a:off x="4023360" y="4791456"/>
            <a:ext cx="1737360" cy="274320"/>
          </a:xfrm>
          <a:prstGeom prst="roundRect">
            <a:avLst>
              <a:gd name="adj" fmla="val 50000"/>
            </a:avLst>
          </a:prstGeom>
          <a:solidFill>
            <a:srgbClr val="4FB0C6"/>
          </a:solidFill>
          <a:ln/>
        </p:spPr>
        <p:txBody>
          <a:bodyPr/>
          <a:lstStyle/>
          <a:p>
            <a:endParaRPr lang="en-US"/>
          </a:p>
        </p:txBody>
      </p:sp>
      <p:sp>
        <p:nvSpPr>
          <p:cNvPr id="27" name="Text 25"/>
          <p:cNvSpPr/>
          <p:nvPr/>
        </p:nvSpPr>
        <p:spPr>
          <a:xfrm>
            <a:off x="4023360" y="4791456"/>
            <a:ext cx="173736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Application</a:t>
            </a:r>
            <a:endParaRPr lang="en-US" sz="900" dirty="0"/>
          </a:p>
        </p:txBody>
      </p:sp>
      <p:sp>
        <p:nvSpPr>
          <p:cNvPr id="28" name="Text 26"/>
          <p:cNvSpPr/>
          <p:nvPr/>
        </p:nvSpPr>
        <p:spPr>
          <a:xfrm>
            <a:off x="1097280" y="5084064"/>
            <a:ext cx="4663440" cy="713232"/>
          </a:xfrm>
          <a:prstGeom prst="rect">
            <a:avLst/>
          </a:prstGeom>
          <a:noFill/>
          <a:ln/>
        </p:spPr>
        <p:txBody>
          <a:bodyPr wrap="square" lIns="0" tIns="0" rIns="0" bIns="0" rtlCol="0" anchor="ctr"/>
          <a:lstStyle/>
          <a:p>
            <a:pPr marL="0" indent="0">
              <a:buNone/>
            </a:pPr>
            <a:r>
              <a:rPr lang="en-US" sz="1050" dirty="0">
                <a:solidFill>
                  <a:srgbClr val="5C7A99"/>
                </a:solidFill>
                <a:latin typeface="Calibri" pitchFamily="34" charset="0"/>
                <a:ea typeface="Calibri" pitchFamily="34" charset="-122"/>
                <a:cs typeface="Calibri" pitchFamily="34" charset="-120"/>
              </a:rPr>
              <a:t>Run nslookup www.amazon.com — failure here means the name isn’t resolving to an IP.</a:t>
            </a:r>
            <a:endParaRPr lang="en-US" sz="1050" dirty="0"/>
          </a:p>
        </p:txBody>
      </p:sp>
      <p:sp>
        <p:nvSpPr>
          <p:cNvPr id="29" name="Shape 27"/>
          <p:cNvSpPr/>
          <p:nvPr/>
        </p:nvSpPr>
        <p:spPr>
          <a:xfrm>
            <a:off x="6217920" y="2148840"/>
            <a:ext cx="5486400" cy="1133856"/>
          </a:xfrm>
          <a:prstGeom prst="roundRect">
            <a:avLst>
              <a:gd name="adj" fmla="val 6452"/>
            </a:avLst>
          </a:prstGeom>
          <a:solidFill>
            <a:srgbClr val="FFFFFF"/>
          </a:solidFill>
          <a:ln w="12700">
            <a:solidFill>
              <a:srgbClr val="D7E4EE"/>
            </a:solidFill>
            <a:prstDash val="solid"/>
          </a:ln>
        </p:spPr>
        <p:txBody>
          <a:bodyPr/>
          <a:lstStyle/>
          <a:p>
            <a:endParaRPr lang="en-US"/>
          </a:p>
        </p:txBody>
      </p:sp>
      <p:sp>
        <p:nvSpPr>
          <p:cNvPr id="30" name="Shape 28"/>
          <p:cNvSpPr/>
          <p:nvPr/>
        </p:nvSpPr>
        <p:spPr>
          <a:xfrm>
            <a:off x="6382512" y="2295144"/>
            <a:ext cx="365760" cy="365760"/>
          </a:xfrm>
          <a:prstGeom prst="ellipse">
            <a:avLst/>
          </a:prstGeom>
          <a:solidFill>
            <a:srgbClr val="00A896"/>
          </a:solidFill>
          <a:ln/>
        </p:spPr>
        <p:txBody>
          <a:bodyPr/>
          <a:lstStyle/>
          <a:p>
            <a:endParaRPr lang="en-US"/>
          </a:p>
        </p:txBody>
      </p:sp>
      <p:sp>
        <p:nvSpPr>
          <p:cNvPr id="31" name="Text 29"/>
          <p:cNvSpPr/>
          <p:nvPr/>
        </p:nvSpPr>
        <p:spPr>
          <a:xfrm>
            <a:off x="6382512" y="2295144"/>
            <a:ext cx="365760" cy="36576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4</a:t>
            </a:r>
            <a:endParaRPr lang="en-US" sz="1500" dirty="0"/>
          </a:p>
        </p:txBody>
      </p:sp>
      <p:sp>
        <p:nvSpPr>
          <p:cNvPr id="32" name="Text 30"/>
          <p:cNvSpPr/>
          <p:nvPr/>
        </p:nvSpPr>
        <p:spPr>
          <a:xfrm>
            <a:off x="6858000" y="2240280"/>
            <a:ext cx="3749040" cy="274320"/>
          </a:xfrm>
          <a:prstGeom prst="rect">
            <a:avLst/>
          </a:prstGeom>
          <a:noFill/>
          <a:ln/>
        </p:spPr>
        <p:txBody>
          <a:bodyPr wrap="square" lIns="0" tIns="0" rIns="0" bIns="0" rtlCol="0" anchor="ctr"/>
          <a:lstStyle/>
          <a:p>
            <a:pPr marL="0" indent="0">
              <a:buNone/>
            </a:pPr>
            <a:r>
              <a:rPr lang="en-US" sz="1250" b="1" dirty="0">
                <a:solidFill>
                  <a:srgbClr val="0A2647"/>
                </a:solidFill>
                <a:latin typeface="Calibri" pitchFamily="34" charset="0"/>
                <a:ea typeface="Calibri" pitchFamily="34" charset="-122"/>
                <a:cs typeface="Calibri" pitchFamily="34" charset="-120"/>
              </a:rPr>
              <a:t>Check port &amp; firewall</a:t>
            </a:r>
            <a:endParaRPr lang="en-US" sz="1250" dirty="0"/>
          </a:p>
        </p:txBody>
      </p:sp>
      <p:sp>
        <p:nvSpPr>
          <p:cNvPr id="33" name="Shape 31"/>
          <p:cNvSpPr/>
          <p:nvPr/>
        </p:nvSpPr>
        <p:spPr>
          <a:xfrm>
            <a:off x="9784080" y="2267712"/>
            <a:ext cx="1737360" cy="274320"/>
          </a:xfrm>
          <a:prstGeom prst="roundRect">
            <a:avLst>
              <a:gd name="adj" fmla="val 50000"/>
            </a:avLst>
          </a:prstGeom>
          <a:solidFill>
            <a:srgbClr val="2C82C9"/>
          </a:solidFill>
          <a:ln/>
        </p:spPr>
        <p:txBody>
          <a:bodyPr/>
          <a:lstStyle/>
          <a:p>
            <a:endParaRPr lang="en-US"/>
          </a:p>
        </p:txBody>
      </p:sp>
      <p:sp>
        <p:nvSpPr>
          <p:cNvPr id="34" name="Text 32"/>
          <p:cNvSpPr/>
          <p:nvPr/>
        </p:nvSpPr>
        <p:spPr>
          <a:xfrm>
            <a:off x="9784080" y="2267712"/>
            <a:ext cx="173736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Transport</a:t>
            </a:r>
            <a:endParaRPr lang="en-US" sz="900" dirty="0"/>
          </a:p>
        </p:txBody>
      </p:sp>
      <p:sp>
        <p:nvSpPr>
          <p:cNvPr id="35" name="Text 33"/>
          <p:cNvSpPr/>
          <p:nvPr/>
        </p:nvSpPr>
        <p:spPr>
          <a:xfrm>
            <a:off x="6858000" y="2560320"/>
            <a:ext cx="4663440" cy="713232"/>
          </a:xfrm>
          <a:prstGeom prst="rect">
            <a:avLst/>
          </a:prstGeom>
          <a:noFill/>
          <a:ln/>
        </p:spPr>
        <p:txBody>
          <a:bodyPr wrap="square" lIns="0" tIns="0" rIns="0" bIns="0" rtlCol="0" anchor="ctr"/>
          <a:lstStyle/>
          <a:p>
            <a:pPr marL="0" indent="0">
              <a:buNone/>
            </a:pPr>
            <a:r>
              <a:rPr lang="en-US" sz="1050" dirty="0">
                <a:solidFill>
                  <a:srgbClr val="5C7A99"/>
                </a:solidFill>
                <a:latin typeface="Calibri" pitchFamily="34" charset="0"/>
                <a:ea typeface="Calibri" pitchFamily="34" charset="-122"/>
                <a:cs typeface="Calibri" pitchFamily="34" charset="-120"/>
              </a:rPr>
              <a:t>Confirm port 443 isn’t blocked by a local firewall or the ISP; test with telnet/Test-NetConnection.</a:t>
            </a:r>
            <a:endParaRPr lang="en-US" sz="1050" dirty="0"/>
          </a:p>
        </p:txBody>
      </p:sp>
      <p:sp>
        <p:nvSpPr>
          <p:cNvPr id="36" name="Shape 34"/>
          <p:cNvSpPr/>
          <p:nvPr/>
        </p:nvSpPr>
        <p:spPr>
          <a:xfrm>
            <a:off x="6217920" y="3410712"/>
            <a:ext cx="5486400" cy="1133856"/>
          </a:xfrm>
          <a:prstGeom prst="roundRect">
            <a:avLst>
              <a:gd name="adj" fmla="val 6452"/>
            </a:avLst>
          </a:prstGeom>
          <a:solidFill>
            <a:srgbClr val="FFFFFF"/>
          </a:solidFill>
          <a:ln w="12700">
            <a:solidFill>
              <a:srgbClr val="D7E4EE"/>
            </a:solidFill>
            <a:prstDash val="solid"/>
          </a:ln>
        </p:spPr>
        <p:txBody>
          <a:bodyPr/>
          <a:lstStyle/>
          <a:p>
            <a:endParaRPr lang="en-US"/>
          </a:p>
        </p:txBody>
      </p:sp>
      <p:sp>
        <p:nvSpPr>
          <p:cNvPr id="37" name="Shape 35"/>
          <p:cNvSpPr/>
          <p:nvPr/>
        </p:nvSpPr>
        <p:spPr>
          <a:xfrm>
            <a:off x="6382512" y="3557016"/>
            <a:ext cx="365760" cy="365760"/>
          </a:xfrm>
          <a:prstGeom prst="ellipse">
            <a:avLst/>
          </a:prstGeom>
          <a:solidFill>
            <a:srgbClr val="00A896"/>
          </a:solidFill>
          <a:ln/>
        </p:spPr>
        <p:txBody>
          <a:bodyPr/>
          <a:lstStyle/>
          <a:p>
            <a:endParaRPr lang="en-US"/>
          </a:p>
        </p:txBody>
      </p:sp>
      <p:sp>
        <p:nvSpPr>
          <p:cNvPr id="38" name="Text 36"/>
          <p:cNvSpPr/>
          <p:nvPr/>
        </p:nvSpPr>
        <p:spPr>
          <a:xfrm>
            <a:off x="6382512" y="3557016"/>
            <a:ext cx="365760" cy="36576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5</a:t>
            </a:r>
            <a:endParaRPr lang="en-US" sz="1500" dirty="0"/>
          </a:p>
        </p:txBody>
      </p:sp>
      <p:sp>
        <p:nvSpPr>
          <p:cNvPr id="39" name="Text 37"/>
          <p:cNvSpPr/>
          <p:nvPr/>
        </p:nvSpPr>
        <p:spPr>
          <a:xfrm>
            <a:off x="6858000" y="3502152"/>
            <a:ext cx="3749040" cy="274320"/>
          </a:xfrm>
          <a:prstGeom prst="rect">
            <a:avLst/>
          </a:prstGeom>
          <a:noFill/>
          <a:ln/>
        </p:spPr>
        <p:txBody>
          <a:bodyPr wrap="square" lIns="0" tIns="0" rIns="0" bIns="0" rtlCol="0" anchor="ctr"/>
          <a:lstStyle/>
          <a:p>
            <a:pPr marL="0" indent="0">
              <a:buNone/>
            </a:pPr>
            <a:r>
              <a:rPr lang="en-US" sz="1250" b="1" dirty="0">
                <a:solidFill>
                  <a:srgbClr val="0A2647"/>
                </a:solidFill>
                <a:latin typeface="Calibri" pitchFamily="34" charset="0"/>
                <a:ea typeface="Calibri" pitchFamily="34" charset="-122"/>
                <a:cs typeface="Calibri" pitchFamily="34" charset="-120"/>
              </a:rPr>
              <a:t>Inspect the TCP handshake</a:t>
            </a:r>
            <a:endParaRPr lang="en-US" sz="1250" dirty="0"/>
          </a:p>
        </p:txBody>
      </p:sp>
      <p:sp>
        <p:nvSpPr>
          <p:cNvPr id="40" name="Shape 38"/>
          <p:cNvSpPr/>
          <p:nvPr/>
        </p:nvSpPr>
        <p:spPr>
          <a:xfrm>
            <a:off x="9784080" y="3529584"/>
            <a:ext cx="1737360" cy="274320"/>
          </a:xfrm>
          <a:prstGeom prst="roundRect">
            <a:avLst>
              <a:gd name="adj" fmla="val 50000"/>
            </a:avLst>
          </a:prstGeom>
          <a:solidFill>
            <a:srgbClr val="2C82C9"/>
          </a:solidFill>
          <a:ln/>
        </p:spPr>
        <p:txBody>
          <a:bodyPr/>
          <a:lstStyle/>
          <a:p>
            <a:endParaRPr lang="en-US"/>
          </a:p>
        </p:txBody>
      </p:sp>
      <p:sp>
        <p:nvSpPr>
          <p:cNvPr id="41" name="Text 39"/>
          <p:cNvSpPr/>
          <p:nvPr/>
        </p:nvSpPr>
        <p:spPr>
          <a:xfrm>
            <a:off x="9784080" y="3529584"/>
            <a:ext cx="173736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Transport</a:t>
            </a:r>
            <a:endParaRPr lang="en-US" sz="900" dirty="0"/>
          </a:p>
        </p:txBody>
      </p:sp>
      <p:sp>
        <p:nvSpPr>
          <p:cNvPr id="42" name="Text 40"/>
          <p:cNvSpPr/>
          <p:nvPr/>
        </p:nvSpPr>
        <p:spPr>
          <a:xfrm>
            <a:off x="6858000" y="3822192"/>
            <a:ext cx="4663440" cy="713232"/>
          </a:xfrm>
          <a:prstGeom prst="rect">
            <a:avLst/>
          </a:prstGeom>
          <a:noFill/>
          <a:ln/>
        </p:spPr>
        <p:txBody>
          <a:bodyPr wrap="square" lIns="0" tIns="0" rIns="0" bIns="0" rtlCol="0" anchor="ctr"/>
          <a:lstStyle/>
          <a:p>
            <a:pPr marL="0" indent="0">
              <a:buNone/>
            </a:pPr>
            <a:r>
              <a:rPr lang="en-US" sz="1050" dirty="0">
                <a:solidFill>
                  <a:srgbClr val="5C7A99"/>
                </a:solidFill>
                <a:latin typeface="Calibri" pitchFamily="34" charset="0"/>
                <a:ea typeface="Calibri" pitchFamily="34" charset="-122"/>
                <a:cs typeface="Calibri" pitchFamily="34" charset="-120"/>
              </a:rPr>
              <a:t>Capture traffic (e.g., Wireshark) to see if SYN/SYN-ACK/ACK completes; an incomplete handshake points to a network path issue.</a:t>
            </a:r>
            <a:endParaRPr lang="en-US" sz="1050" dirty="0"/>
          </a:p>
        </p:txBody>
      </p:sp>
      <p:sp>
        <p:nvSpPr>
          <p:cNvPr id="43" name="Shape 41"/>
          <p:cNvSpPr/>
          <p:nvPr/>
        </p:nvSpPr>
        <p:spPr>
          <a:xfrm>
            <a:off x="6217920" y="4672584"/>
            <a:ext cx="5486400" cy="1133856"/>
          </a:xfrm>
          <a:prstGeom prst="roundRect">
            <a:avLst>
              <a:gd name="adj" fmla="val 6452"/>
            </a:avLst>
          </a:prstGeom>
          <a:solidFill>
            <a:srgbClr val="FFFFFF"/>
          </a:solidFill>
          <a:ln w="12700">
            <a:solidFill>
              <a:srgbClr val="D7E4EE"/>
            </a:solidFill>
            <a:prstDash val="solid"/>
          </a:ln>
        </p:spPr>
        <p:txBody>
          <a:bodyPr/>
          <a:lstStyle/>
          <a:p>
            <a:endParaRPr lang="en-US"/>
          </a:p>
        </p:txBody>
      </p:sp>
      <p:sp>
        <p:nvSpPr>
          <p:cNvPr id="44" name="Shape 42"/>
          <p:cNvSpPr/>
          <p:nvPr/>
        </p:nvSpPr>
        <p:spPr>
          <a:xfrm>
            <a:off x="6382512" y="4818888"/>
            <a:ext cx="365760" cy="365760"/>
          </a:xfrm>
          <a:prstGeom prst="ellipse">
            <a:avLst/>
          </a:prstGeom>
          <a:solidFill>
            <a:srgbClr val="00A896"/>
          </a:solidFill>
          <a:ln/>
        </p:spPr>
        <p:txBody>
          <a:bodyPr/>
          <a:lstStyle/>
          <a:p>
            <a:endParaRPr lang="en-US"/>
          </a:p>
        </p:txBody>
      </p:sp>
      <p:sp>
        <p:nvSpPr>
          <p:cNvPr id="45" name="Text 43"/>
          <p:cNvSpPr/>
          <p:nvPr/>
        </p:nvSpPr>
        <p:spPr>
          <a:xfrm>
            <a:off x="6382512" y="4818888"/>
            <a:ext cx="365760" cy="36576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6</a:t>
            </a:r>
            <a:endParaRPr lang="en-US" sz="1500" dirty="0"/>
          </a:p>
        </p:txBody>
      </p:sp>
      <p:sp>
        <p:nvSpPr>
          <p:cNvPr id="46" name="Text 44"/>
          <p:cNvSpPr/>
          <p:nvPr/>
        </p:nvSpPr>
        <p:spPr>
          <a:xfrm>
            <a:off x="6858000" y="4764024"/>
            <a:ext cx="3749040" cy="274320"/>
          </a:xfrm>
          <a:prstGeom prst="rect">
            <a:avLst/>
          </a:prstGeom>
          <a:noFill/>
          <a:ln/>
        </p:spPr>
        <p:txBody>
          <a:bodyPr wrap="square" lIns="0" tIns="0" rIns="0" bIns="0" rtlCol="0" anchor="ctr"/>
          <a:lstStyle/>
          <a:p>
            <a:pPr marL="0" indent="0">
              <a:buNone/>
            </a:pPr>
            <a:r>
              <a:rPr lang="en-US" sz="1250" b="1" dirty="0">
                <a:solidFill>
                  <a:srgbClr val="0A2647"/>
                </a:solidFill>
                <a:latin typeface="Calibri" pitchFamily="34" charset="0"/>
                <a:ea typeface="Calibri" pitchFamily="34" charset="-122"/>
                <a:cs typeface="Calibri" pitchFamily="34" charset="-120"/>
              </a:rPr>
              <a:t>Validate the TLS certificate</a:t>
            </a:r>
            <a:endParaRPr lang="en-US" sz="1250" dirty="0"/>
          </a:p>
        </p:txBody>
      </p:sp>
      <p:sp>
        <p:nvSpPr>
          <p:cNvPr id="47" name="Shape 45"/>
          <p:cNvSpPr/>
          <p:nvPr/>
        </p:nvSpPr>
        <p:spPr>
          <a:xfrm>
            <a:off x="9784080" y="4791456"/>
            <a:ext cx="1737360" cy="274320"/>
          </a:xfrm>
          <a:prstGeom prst="roundRect">
            <a:avLst>
              <a:gd name="adj" fmla="val 50000"/>
            </a:avLst>
          </a:prstGeom>
          <a:solidFill>
            <a:srgbClr val="4FB0C6"/>
          </a:solidFill>
          <a:ln/>
        </p:spPr>
        <p:txBody>
          <a:bodyPr/>
          <a:lstStyle/>
          <a:p>
            <a:endParaRPr lang="en-US"/>
          </a:p>
        </p:txBody>
      </p:sp>
      <p:sp>
        <p:nvSpPr>
          <p:cNvPr id="48" name="Text 46"/>
          <p:cNvSpPr/>
          <p:nvPr/>
        </p:nvSpPr>
        <p:spPr>
          <a:xfrm>
            <a:off x="9784080" y="4791456"/>
            <a:ext cx="173736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Application</a:t>
            </a:r>
            <a:endParaRPr lang="en-US" sz="900" dirty="0"/>
          </a:p>
        </p:txBody>
      </p:sp>
      <p:sp>
        <p:nvSpPr>
          <p:cNvPr id="49" name="Text 47"/>
          <p:cNvSpPr/>
          <p:nvPr/>
        </p:nvSpPr>
        <p:spPr>
          <a:xfrm>
            <a:off x="6858000" y="5084064"/>
            <a:ext cx="4663440" cy="713232"/>
          </a:xfrm>
          <a:prstGeom prst="rect">
            <a:avLst/>
          </a:prstGeom>
          <a:noFill/>
          <a:ln/>
        </p:spPr>
        <p:txBody>
          <a:bodyPr wrap="square" lIns="0" tIns="0" rIns="0" bIns="0" rtlCol="0" anchor="ctr"/>
          <a:lstStyle/>
          <a:p>
            <a:pPr marL="0" indent="0">
              <a:buNone/>
            </a:pPr>
            <a:r>
              <a:rPr lang="en-US" sz="1050" dirty="0">
                <a:solidFill>
                  <a:srgbClr val="5C7A99"/>
                </a:solidFill>
                <a:latin typeface="Calibri" pitchFamily="34" charset="0"/>
                <a:ea typeface="Calibri" pitchFamily="34" charset="-122"/>
                <a:cs typeface="Calibri" pitchFamily="34" charset="-120"/>
              </a:rPr>
              <a:t>If the handshake completes but HTTPS fails, check for an expired/invalid certificate on the server.</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2647"/>
        </a:solidFill>
        <a:effectLst/>
      </p:bgPr>
    </p:bg>
    <p:spTree>
      <p:nvGrpSpPr>
        <p:cNvPr id="1" name=""/>
        <p:cNvGrpSpPr/>
        <p:nvPr/>
      </p:nvGrpSpPr>
      <p:grpSpPr>
        <a:xfrm>
          <a:off x="0" y="0"/>
          <a:ext cx="0" cy="0"/>
          <a:chOff x="0" y="0"/>
          <a:chExt cx="0" cy="0"/>
        </a:xfrm>
      </p:grpSpPr>
      <p:sp>
        <p:nvSpPr>
          <p:cNvPr id="2" name="Text 0"/>
          <p:cNvSpPr/>
          <p:nvPr/>
        </p:nvSpPr>
        <p:spPr>
          <a:xfrm>
            <a:off x="457200" y="502920"/>
            <a:ext cx="9144000" cy="320040"/>
          </a:xfrm>
          <a:prstGeom prst="rect">
            <a:avLst/>
          </a:prstGeom>
          <a:noFill/>
          <a:ln/>
        </p:spPr>
        <p:txBody>
          <a:bodyPr wrap="square"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457200" y="777240"/>
            <a:ext cx="9144000" cy="5943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sp>
        <p:nvSpPr>
          <p:cNvPr id="4" name="Text 2"/>
          <p:cNvSpPr/>
          <p:nvPr/>
        </p:nvSpPr>
        <p:spPr>
          <a:xfrm>
            <a:off x="457200" y="1600200"/>
            <a:ext cx="7315200" cy="420624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E4EFFA"/>
                </a:solidFill>
                <a:latin typeface="Calibri" pitchFamily="34" charset="0"/>
                <a:ea typeface="Calibri" pitchFamily="34" charset="-122"/>
                <a:cs typeface="Calibri" pitchFamily="34" charset="-120"/>
              </a:rPr>
              <a:t>TCP/IP’s four layers each add a specific header, enabling reliable end-to-end communication.</a:t>
            </a:r>
            <a:endParaRPr lang="en-US" sz="1500" dirty="0"/>
          </a:p>
          <a:p>
            <a:pPr marL="228600" indent="-228600">
              <a:spcAft>
                <a:spcPts val="1000"/>
              </a:spcAft>
              <a:buSzPct val="100000"/>
              <a:buChar char="▪"/>
            </a:pPr>
            <a:r>
              <a:rPr lang="en-US" sz="1500" dirty="0">
                <a:solidFill>
                  <a:srgbClr val="E4EFFA"/>
                </a:solidFill>
                <a:latin typeface="Calibri" pitchFamily="34" charset="0"/>
                <a:ea typeface="Calibri" pitchFamily="34" charset="-122"/>
                <a:cs typeface="Calibri" pitchFamily="34" charset="-120"/>
              </a:rPr>
              <a:t>Ports (443/ephemeral) and IP/MAC addresses together get data to the right application on the right device.</a:t>
            </a:r>
            <a:endParaRPr lang="en-US" sz="1500" dirty="0"/>
          </a:p>
          <a:p>
            <a:pPr marL="228600" indent="-228600">
              <a:spcAft>
                <a:spcPts val="1000"/>
              </a:spcAft>
              <a:buSzPct val="100000"/>
              <a:buChar char="▪"/>
            </a:pPr>
            <a:r>
              <a:rPr lang="en-US" sz="1500" dirty="0">
                <a:solidFill>
                  <a:srgbClr val="E4EFFA"/>
                </a:solidFill>
                <a:latin typeface="Calibri" pitchFamily="34" charset="0"/>
                <a:ea typeface="Calibri" pitchFamily="34" charset="-122"/>
                <a:cs typeface="Calibri" pitchFamily="34" charset="-120"/>
              </a:rPr>
              <a:t>TCP trades speed for reliability — the right choice for HTTPS; UDP trades reliability for speed — right for streaming, VoIP, gaming and DNS.</a:t>
            </a:r>
            <a:endParaRPr lang="en-US" sz="1500" dirty="0"/>
          </a:p>
          <a:p>
            <a:pPr marL="228600" indent="-228600">
              <a:spcAft>
                <a:spcPts val="1000"/>
              </a:spcAft>
              <a:buSzPct val="100000"/>
              <a:buChar char="▪"/>
            </a:pPr>
            <a:r>
              <a:rPr lang="en-US" sz="1500" dirty="0">
                <a:solidFill>
                  <a:srgbClr val="E4EFFA"/>
                </a:solidFill>
                <a:latin typeface="Calibri" pitchFamily="34" charset="0"/>
                <a:ea typeface="Calibri" pitchFamily="34" charset="-122"/>
                <a:cs typeface="Calibri" pitchFamily="34" charset="-120"/>
              </a:rPr>
              <a:t>The OSI model maps cleanly onto TCP/IP and gives a more detailed vocabulary for the same process.</a:t>
            </a:r>
            <a:endParaRPr lang="en-US" sz="1500" dirty="0"/>
          </a:p>
          <a:p>
            <a:pPr marL="228600" indent="-228600">
              <a:spcAft>
                <a:spcPts val="1000"/>
              </a:spcAft>
              <a:buSzPct val="100000"/>
              <a:buChar char="▪"/>
            </a:pPr>
            <a:r>
              <a:rPr lang="en-US" sz="1500" dirty="0">
                <a:solidFill>
                  <a:srgbClr val="E4EFFA"/>
                </a:solidFill>
                <a:latin typeface="Calibri" pitchFamily="34" charset="0"/>
                <a:ea typeface="Calibri" pitchFamily="34" charset="-122"/>
                <a:cs typeface="Calibri" pitchFamily="34" charset="-120"/>
              </a:rPr>
              <a:t>A layer-by-layer troubleshooting approach (physical → IP → DNS → port → handshake → TLS) isolates failures quickly.</a:t>
            </a:r>
            <a:endParaRPr lang="en-US" sz="1500" dirty="0"/>
          </a:p>
        </p:txBody>
      </p:sp>
      <p:sp>
        <p:nvSpPr>
          <p:cNvPr id="5" name="Shape 3"/>
          <p:cNvSpPr/>
          <p:nvPr/>
        </p:nvSpPr>
        <p:spPr>
          <a:xfrm>
            <a:off x="8229600" y="1737360"/>
            <a:ext cx="3017520" cy="457200"/>
          </a:xfrm>
          <a:prstGeom prst="roundRect">
            <a:avLst>
              <a:gd name="adj" fmla="val 50000"/>
            </a:avLst>
          </a:prstGeom>
          <a:solidFill>
            <a:srgbClr val="4FB0C6"/>
          </a:solidFill>
          <a:ln/>
        </p:spPr>
        <p:txBody>
          <a:bodyPr/>
          <a:lstStyle/>
          <a:p>
            <a:endParaRPr lang="en-US"/>
          </a:p>
        </p:txBody>
      </p:sp>
      <p:sp>
        <p:nvSpPr>
          <p:cNvPr id="6" name="Text 4"/>
          <p:cNvSpPr/>
          <p:nvPr/>
        </p:nvSpPr>
        <p:spPr>
          <a:xfrm>
            <a:off x="8229600" y="1737360"/>
            <a:ext cx="30175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Application</a:t>
            </a:r>
            <a:endParaRPr lang="en-US" sz="1300" dirty="0"/>
          </a:p>
        </p:txBody>
      </p:sp>
      <p:sp>
        <p:nvSpPr>
          <p:cNvPr id="7" name="Shape 5"/>
          <p:cNvSpPr/>
          <p:nvPr/>
        </p:nvSpPr>
        <p:spPr>
          <a:xfrm>
            <a:off x="8229600" y="2359152"/>
            <a:ext cx="3017520" cy="457200"/>
          </a:xfrm>
          <a:prstGeom prst="roundRect">
            <a:avLst>
              <a:gd name="adj" fmla="val 50000"/>
            </a:avLst>
          </a:prstGeom>
          <a:solidFill>
            <a:srgbClr val="2C82C9"/>
          </a:solidFill>
          <a:ln/>
        </p:spPr>
        <p:txBody>
          <a:bodyPr/>
          <a:lstStyle/>
          <a:p>
            <a:endParaRPr lang="en-US"/>
          </a:p>
        </p:txBody>
      </p:sp>
      <p:sp>
        <p:nvSpPr>
          <p:cNvPr id="8" name="Text 6"/>
          <p:cNvSpPr/>
          <p:nvPr/>
        </p:nvSpPr>
        <p:spPr>
          <a:xfrm>
            <a:off x="8229600" y="2359152"/>
            <a:ext cx="30175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Transport</a:t>
            </a:r>
            <a:endParaRPr lang="en-US" sz="1300" dirty="0"/>
          </a:p>
        </p:txBody>
      </p:sp>
      <p:sp>
        <p:nvSpPr>
          <p:cNvPr id="9" name="Shape 7"/>
          <p:cNvSpPr/>
          <p:nvPr/>
        </p:nvSpPr>
        <p:spPr>
          <a:xfrm>
            <a:off x="8229600" y="2980944"/>
            <a:ext cx="3017520" cy="457200"/>
          </a:xfrm>
          <a:prstGeom prst="roundRect">
            <a:avLst>
              <a:gd name="adj" fmla="val 50000"/>
            </a:avLst>
          </a:prstGeom>
          <a:solidFill>
            <a:srgbClr val="1B4F72"/>
          </a:solidFill>
          <a:ln/>
        </p:spPr>
        <p:txBody>
          <a:bodyPr/>
          <a:lstStyle/>
          <a:p>
            <a:endParaRPr lang="en-US"/>
          </a:p>
        </p:txBody>
      </p:sp>
      <p:sp>
        <p:nvSpPr>
          <p:cNvPr id="10" name="Text 8"/>
          <p:cNvSpPr/>
          <p:nvPr/>
        </p:nvSpPr>
        <p:spPr>
          <a:xfrm>
            <a:off x="8229600" y="2980944"/>
            <a:ext cx="30175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Internet</a:t>
            </a:r>
            <a:endParaRPr lang="en-US" sz="1300" dirty="0"/>
          </a:p>
        </p:txBody>
      </p:sp>
      <p:sp>
        <p:nvSpPr>
          <p:cNvPr id="11" name="Shape 9"/>
          <p:cNvSpPr/>
          <p:nvPr/>
        </p:nvSpPr>
        <p:spPr>
          <a:xfrm>
            <a:off x="8229600" y="3602736"/>
            <a:ext cx="3017520" cy="457200"/>
          </a:xfrm>
          <a:prstGeom prst="roundRect">
            <a:avLst>
              <a:gd name="adj" fmla="val 50000"/>
            </a:avLst>
          </a:prstGeom>
          <a:solidFill>
            <a:srgbClr val="1E3F6E"/>
          </a:solidFill>
          <a:ln/>
        </p:spPr>
        <p:txBody>
          <a:bodyPr/>
          <a:lstStyle/>
          <a:p>
            <a:endParaRPr lang="en-US"/>
          </a:p>
        </p:txBody>
      </p:sp>
      <p:sp>
        <p:nvSpPr>
          <p:cNvPr id="12" name="Text 10"/>
          <p:cNvSpPr/>
          <p:nvPr/>
        </p:nvSpPr>
        <p:spPr>
          <a:xfrm>
            <a:off x="8229600" y="3602736"/>
            <a:ext cx="30175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Network Access</a:t>
            </a:r>
            <a:endParaRPr lang="en-US" sz="1300" dirty="0"/>
          </a:p>
        </p:txBody>
      </p:sp>
      <p:sp>
        <p:nvSpPr>
          <p:cNvPr id="13" name="Shape 11"/>
          <p:cNvSpPr/>
          <p:nvPr/>
        </p:nvSpPr>
        <p:spPr>
          <a:xfrm>
            <a:off x="8229600" y="3602736"/>
            <a:ext cx="3017520" cy="457200"/>
          </a:xfrm>
          <a:prstGeom prst="roundRect">
            <a:avLst>
              <a:gd name="adj" fmla="val 50000"/>
            </a:avLst>
          </a:prstGeom>
          <a:ln w="12700">
            <a:solidFill>
              <a:srgbClr val="5F86AC"/>
            </a:solidFill>
            <a:prstDash val="solid"/>
          </a:ln>
        </p:spPr>
        <p:txBody>
          <a:bodyPr/>
          <a:lstStyle/>
          <a:p>
            <a:endParaRPr lang="en-US"/>
          </a:p>
        </p:txBody>
      </p:sp>
      <p:sp>
        <p:nvSpPr>
          <p:cNvPr id="14" name="Text 12"/>
          <p:cNvSpPr/>
          <p:nvPr/>
        </p:nvSpPr>
        <p:spPr>
          <a:xfrm>
            <a:off x="8229600" y="4544568"/>
            <a:ext cx="3017520" cy="457200"/>
          </a:xfrm>
          <a:prstGeom prst="rect">
            <a:avLst/>
          </a:prstGeom>
          <a:noFill/>
          <a:ln/>
        </p:spPr>
        <p:txBody>
          <a:bodyPr wrap="square" rtlCol="0" anchor="ctr"/>
          <a:lstStyle/>
          <a:p>
            <a:pPr marL="0" indent="0">
              <a:buNone/>
            </a:pPr>
            <a:r>
              <a:rPr lang="en-US" sz="1600" i="1" dirty="0">
                <a:solidFill>
                  <a:srgbClr val="CADCFC"/>
                </a:solidFill>
                <a:latin typeface="Cambria" pitchFamily="34" charset="0"/>
                <a:ea typeface="Cambria" pitchFamily="34" charset="-122"/>
                <a:cs typeface="Cambria" pitchFamily="34" charset="-120"/>
              </a:rPr>
              <a:t>Thank you — Questions?</a:t>
            </a:r>
            <a:endParaRPr lang="en-US" sz="1600" dirty="0"/>
          </a:p>
        </p:txBody>
      </p:sp>
      <p:sp>
        <p:nvSpPr>
          <p:cNvPr id="15" name="Text 13"/>
          <p:cNvSpPr/>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5C7A99"/>
                </a:solidFill>
                <a:latin typeface="Calibri" pitchFamily="34" charset="0"/>
                <a:ea typeface="Calibri" pitchFamily="34" charset="-122"/>
                <a:cs typeface="Calibri" pitchFamily="34" charset="-120"/>
              </a:rPr>
              <a:t>TEAM-02 · TCP/IP Communication in Action · FCDF-COHORT-11</a:t>
            </a:r>
            <a:endParaRPr lang="en-US" sz="900" dirty="0"/>
          </a:p>
        </p:txBody>
      </p:sp>
      <p:sp>
        <p:nvSpPr>
          <p:cNvPr id="16" name="Text 14"/>
          <p:cNvSpPr/>
          <p:nvPr/>
        </p:nvSpPr>
        <p:spPr>
          <a:xfrm>
            <a:off x="11155680" y="6547104"/>
            <a:ext cx="640080" cy="256032"/>
          </a:xfrm>
          <a:prstGeom prst="rect">
            <a:avLst/>
          </a:prstGeom>
          <a:noFill/>
          <a:ln/>
        </p:spPr>
        <p:txBody>
          <a:bodyPr wrap="square" rtlCol="0" anchor="ctr"/>
          <a:lstStyle/>
          <a:p>
            <a:pPr marL="0" indent="0" algn="r">
              <a:buNone/>
            </a:pPr>
            <a:r>
              <a:rPr lang="en-US" sz="900" dirty="0">
                <a:solidFill>
                  <a:srgbClr val="5C7A99"/>
                </a:solidFill>
                <a:latin typeface="Calibri" pitchFamily="34" charset="0"/>
                <a:ea typeface="Calibri" pitchFamily="34" charset="-122"/>
                <a:cs typeface="Calibri" pitchFamily="34" charset="-120"/>
              </a:rPr>
              <a:t>12 / 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9FC"/>
        </a:solidFill>
        <a:effectLst/>
      </p:bgPr>
    </p:bg>
    <p:spTree>
      <p:nvGrpSpPr>
        <p:cNvPr id="1" name=""/>
        <p:cNvGrpSpPr/>
        <p:nvPr/>
      </p:nvGrpSpPr>
      <p:grpSpPr>
        <a:xfrm>
          <a:off x="0" y="0"/>
          <a:ext cx="0" cy="0"/>
          <a:chOff x="0" y="0"/>
          <a:chExt cx="0" cy="0"/>
        </a:xfrm>
      </p:grpSpPr>
      <p:sp>
        <p:nvSpPr>
          <p:cNvPr id="2" name="Text 0"/>
          <p:cNvSpPr/>
          <p:nvPr/>
        </p:nvSpPr>
        <p:spPr>
          <a:xfrm>
            <a:off x="457200" y="292608"/>
            <a:ext cx="9144000" cy="274320"/>
          </a:xfrm>
          <a:prstGeom prst="rect">
            <a:avLst/>
          </a:prstGeom>
          <a:noFill/>
          <a:ln/>
        </p:spPr>
        <p:txBody>
          <a:bodyPr wrap="square" rtlCol="0" anchor="ctr"/>
          <a:lstStyle/>
          <a:p>
            <a:pPr marL="0" indent="0">
              <a:buNone/>
            </a:pPr>
            <a:r>
              <a:rPr lang="en-US" sz="1100" b="1" kern="0" spc="150" dirty="0">
                <a:solidFill>
                  <a:srgbClr val="5C7A99"/>
                </a:solidFill>
                <a:latin typeface="Calibri" pitchFamily="34" charset="0"/>
                <a:ea typeface="Calibri" pitchFamily="34" charset="-122"/>
                <a:cs typeface="Calibri" pitchFamily="34" charset="-120"/>
              </a:rPr>
              <a:t>APPENDIX · NOT COUNTED IN 12 CONTENT SLIDES</a:t>
            </a:r>
            <a:endParaRPr lang="en-US" sz="1100" dirty="0"/>
          </a:p>
        </p:txBody>
      </p:sp>
      <p:sp>
        <p:nvSpPr>
          <p:cNvPr id="3" name="Text 1"/>
          <p:cNvSpPr/>
          <p:nvPr/>
        </p:nvSpPr>
        <p:spPr>
          <a:xfrm>
            <a:off x="457200" y="548640"/>
            <a:ext cx="11247120" cy="594360"/>
          </a:xfrm>
          <a:prstGeom prst="rect">
            <a:avLst/>
          </a:prstGeom>
          <a:noFill/>
          <a:ln/>
        </p:spPr>
        <p:txBody>
          <a:bodyPr wrap="square" rtlCol="0" anchor="ctr"/>
          <a:lstStyle/>
          <a:p>
            <a:pPr marL="0" indent="0">
              <a:buNone/>
            </a:pPr>
            <a:r>
              <a:rPr lang="en-US" sz="2800" b="1" dirty="0">
                <a:solidFill>
                  <a:srgbClr val="0A2647"/>
                </a:solidFill>
                <a:latin typeface="Cambria" pitchFamily="34" charset="0"/>
                <a:ea typeface="Cambria" pitchFamily="34" charset="-122"/>
                <a:cs typeface="Cambria" pitchFamily="34" charset="-120"/>
              </a:rPr>
              <a:t>Team Contribution Record</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3611880"/>
        </p:xfrm>
        <a:graphic>
          <a:graphicData uri="http://schemas.openxmlformats.org/drawingml/2006/table">
            <a:tbl>
              <a:tblPr/>
              <a:tblGrid>
                <a:gridCol w="29260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309360">
                  <a:extLst>
                    <a:ext uri="{9D8B030D-6E8A-4147-A177-3AD203B41FA5}">
                      <a16:colId xmlns:a16="http://schemas.microsoft.com/office/drawing/2014/main" val="20002"/>
                    </a:ext>
                  </a:extLst>
                </a:gridCol>
              </a:tblGrid>
              <a:tr h="502920">
                <a:tc>
                  <a:txBody>
                    <a:bodyPr/>
                    <a:lstStyle/>
                    <a:p>
                      <a:pPr marL="0" indent="0">
                        <a:buNone/>
                      </a:pPr>
                      <a:r>
                        <a:rPr lang="en-US" sz="1300" b="1" dirty="0">
                          <a:solidFill>
                            <a:srgbClr val="FFFFFF"/>
                          </a:solidFill>
                        </a:rPr>
                        <a:t>Member</a:t>
                      </a:r>
                      <a:endParaRPr lang="en-US" sz="1300" dirty="0"/>
                    </a:p>
                  </a:txBody>
                  <a:tcPr marL="101600" marR="101600" marT="101600" marB="1016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0A2647"/>
                    </a:solidFill>
                  </a:tcPr>
                </a:tc>
                <a:tc>
                  <a:txBody>
                    <a:bodyPr/>
                    <a:lstStyle/>
                    <a:p>
                      <a:pPr marL="0" indent="0">
                        <a:buNone/>
                      </a:pPr>
                      <a:r>
                        <a:rPr lang="en-US" sz="1300" b="1" dirty="0">
                          <a:solidFill>
                            <a:srgbClr val="FFFFFF"/>
                          </a:solidFill>
                        </a:rPr>
                        <a:t>Slides Presented</a:t>
                      </a:r>
                      <a:endParaRPr lang="en-US" sz="1300" dirty="0"/>
                    </a:p>
                  </a:txBody>
                  <a:tcPr marL="101600" marR="101600" marT="101600" marB="1016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0A2647"/>
                    </a:solidFill>
                  </a:tcPr>
                </a:tc>
                <a:tc>
                  <a:txBody>
                    <a:bodyPr/>
                    <a:lstStyle/>
                    <a:p>
                      <a:pPr marL="0" indent="0">
                        <a:buNone/>
                      </a:pPr>
                      <a:r>
                        <a:rPr lang="en-US" sz="1300" b="1" dirty="0">
                          <a:solidFill>
                            <a:srgbClr val="FFFFFF"/>
                          </a:solidFill>
                        </a:rPr>
                        <a:t>Contribution</a:t>
                      </a:r>
                      <a:endParaRPr lang="en-US" sz="1300" dirty="0"/>
                    </a:p>
                  </a:txBody>
                  <a:tcPr marL="101600" marR="101600" marT="101600" marB="1016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0A2647"/>
                    </a:solidFill>
                  </a:tcPr>
                </a:tc>
                <a:extLst>
                  <a:ext uri="{0D108BD9-81ED-4DB2-BD59-A6C34878D82A}">
                    <a16:rowId xmlns:a16="http://schemas.microsoft.com/office/drawing/2014/main" val="10000"/>
                  </a:ext>
                </a:extLst>
              </a:tr>
              <a:tr h="1554480">
                <a:tc>
                  <a:txBody>
                    <a:bodyPr/>
                    <a:lstStyle/>
                    <a:p>
                      <a:pPr marL="0" indent="0">
                        <a:buNone/>
                      </a:pPr>
                      <a:r>
                        <a:rPr lang="en-US" sz="1200" dirty="0">
                          <a:solidFill>
                            <a:srgbClr val="0A2647"/>
                          </a:solidFill>
                        </a:rPr>
                        <a:t>Maryjudith Chidinma Ogunaka</a:t>
                      </a:r>
                      <a:endParaRPr lang="en-US" sz="1200" dirty="0"/>
                    </a:p>
                    <a:p>
                      <a:pPr marL="0" indent="0">
                        <a:buNone/>
                      </a:pPr>
                      <a:r>
                        <a:rPr lang="en-US" sz="1200" dirty="0">
                          <a:solidFill>
                            <a:srgbClr val="0A2647"/>
                          </a:solidFill>
                        </a:rPr>
                        <a:t>C11/26/FCDF/17151</a:t>
                      </a:r>
                      <a:endParaRPr lang="en-US" sz="1200" dirty="0"/>
                    </a:p>
                  </a:txBody>
                  <a:tcPr marL="101600" marR="101600" marT="101600" marB="1016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200" dirty="0">
                          <a:solidFill>
                            <a:srgbClr val="0A2647"/>
                          </a:solidFill>
                        </a:rPr>
                        <a:t>Slides 1 - 7</a:t>
                      </a:r>
                      <a:endParaRPr lang="en-US" sz="1200" dirty="0"/>
                    </a:p>
                  </a:txBody>
                  <a:tcPr marL="101600" marR="101600" marT="101600" marB="1016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tc>
                  <a:txBody>
                    <a:bodyPr/>
                    <a:lstStyle/>
                    <a:p>
                      <a:pPr marL="0" indent="0">
                        <a:buNone/>
                      </a:pPr>
                      <a:r>
                        <a:rPr lang="en-US" sz="1200" dirty="0">
                          <a:solidFill>
                            <a:srgbClr val="0A2647"/>
                          </a:solidFill>
                        </a:rPr>
                        <a:t>Presented the title, introduction to the TCP/IP model, the selected scenario, and the Application, Transport, Internet and Network Access layers.</a:t>
                      </a:r>
                      <a:endParaRPr lang="en-US" sz="1200" dirty="0"/>
                    </a:p>
                  </a:txBody>
                  <a:tcPr marL="101600" marR="101600" marT="101600" marB="1016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554480">
                <a:tc>
                  <a:txBody>
                    <a:bodyPr/>
                    <a:lstStyle/>
                    <a:p>
                      <a:pPr marL="0" indent="0">
                        <a:buNone/>
                      </a:pPr>
                      <a:r>
                        <a:rPr lang="en-US" sz="1200" dirty="0">
                          <a:solidFill>
                            <a:srgbClr val="0A2647"/>
                          </a:solidFill>
                        </a:rPr>
                        <a:t>Abdul Fatawu Umar</a:t>
                      </a:r>
                      <a:endParaRPr lang="en-US" sz="1200" dirty="0"/>
                    </a:p>
                    <a:p>
                      <a:pPr marL="0" indent="0">
                        <a:buNone/>
                      </a:pPr>
                      <a:r>
                        <a:rPr lang="en-US" sz="1200" dirty="0">
                          <a:solidFill>
                            <a:srgbClr val="0A2647"/>
                          </a:solidFill>
                        </a:rPr>
                        <a:t>2026/FCDF/16899</a:t>
                      </a:r>
                      <a:endParaRPr lang="en-US" sz="1200" dirty="0"/>
                    </a:p>
                  </a:txBody>
                  <a:tcPr marL="101600" marR="101600" marT="101600" marB="1016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EEF5FA"/>
                    </a:solidFill>
                  </a:tcPr>
                </a:tc>
                <a:tc>
                  <a:txBody>
                    <a:bodyPr/>
                    <a:lstStyle/>
                    <a:p>
                      <a:pPr marL="0" indent="0">
                        <a:buNone/>
                      </a:pPr>
                      <a:r>
                        <a:rPr lang="en-US" sz="1200" dirty="0">
                          <a:solidFill>
                            <a:srgbClr val="0A2647"/>
                          </a:solidFill>
                        </a:rPr>
                        <a:t>Slides 8 - 13</a:t>
                      </a:r>
                      <a:endParaRPr lang="en-US" sz="1200" dirty="0"/>
                    </a:p>
                  </a:txBody>
                  <a:tcPr marL="101600" marR="101600" marT="101600" marB="1016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EEF5FA"/>
                    </a:solidFill>
                  </a:tcPr>
                </a:tc>
                <a:tc>
                  <a:txBody>
                    <a:bodyPr/>
                    <a:lstStyle/>
                    <a:p>
                      <a:pPr marL="0" indent="0">
                        <a:buNone/>
                      </a:pPr>
                      <a:r>
                        <a:rPr lang="en-US" sz="1200" dirty="0">
                          <a:solidFill>
                            <a:srgbClr val="0A2647"/>
                          </a:solidFill>
                        </a:rPr>
                        <a:t>Presented encapsulation &amp; decapsulation, the OSI mapping, TCP vs UDP comparison, the packet journey diagram, troubleshooting, and the conclusion.</a:t>
                      </a:r>
                      <a:endParaRPr lang="en-US" sz="1200" dirty="0"/>
                    </a:p>
                  </a:txBody>
                  <a:tcPr marL="101600" marR="101600" marT="101600" marB="101600" anchor="ctr">
                    <a:lnL w="9525" cap="flat" cmpd="sng" algn="ctr">
                      <a:solidFill>
                        <a:srgbClr val="D7E4EE"/>
                      </a:solidFill>
                      <a:prstDash val="solid"/>
                      <a:round/>
                      <a:headEnd type="none" w="med" len="med"/>
                      <a:tailEnd type="none" w="med" len="med"/>
                    </a:lnL>
                    <a:lnR w="9525" cap="flat" cmpd="sng" algn="ctr">
                      <a:solidFill>
                        <a:srgbClr val="D7E4EE"/>
                      </a:solidFill>
                      <a:prstDash val="solid"/>
                      <a:round/>
                      <a:headEnd type="none" w="med" len="med"/>
                      <a:tailEnd type="none" w="med" len="med"/>
                    </a:lnR>
                    <a:lnT w="9525" cap="flat" cmpd="sng" algn="ctr">
                      <a:solidFill>
                        <a:srgbClr val="D7E4EE"/>
                      </a:solidFill>
                      <a:prstDash val="solid"/>
                      <a:round/>
                      <a:headEnd type="none" w="med" len="med"/>
                      <a:tailEnd type="none" w="med" len="med"/>
                    </a:lnT>
                    <a:lnB w="9525" cap="flat" cmpd="sng" algn="ctr">
                      <a:solidFill>
                        <a:srgbClr val="D7E4EE"/>
                      </a:solidFill>
                      <a:prstDash val="solid"/>
                      <a:round/>
                      <a:headEnd type="none" w="med" len="med"/>
                      <a:tailEnd type="none" w="med" len="med"/>
                    </a:lnB>
                    <a:solidFill>
                      <a:srgbClr val="EEF5FA"/>
                    </a:solidFill>
                  </a:tcPr>
                </a:tc>
                <a:extLst>
                  <a:ext uri="{0D108BD9-81ED-4DB2-BD59-A6C34878D82A}">
                    <a16:rowId xmlns:a16="http://schemas.microsoft.com/office/drawing/2014/main" val="10002"/>
                  </a:ext>
                </a:extLst>
              </a:tr>
            </a:tbl>
          </a:graphicData>
        </a:graphic>
      </p:graphicFrame>
      <p:sp>
        <p:nvSpPr>
          <p:cNvPr id="5" name="Text 2"/>
          <p:cNvSpPr/>
          <p:nvPr/>
        </p:nvSpPr>
        <p:spPr>
          <a:xfrm>
            <a:off x="457200" y="5257800"/>
            <a:ext cx="11247120" cy="365760"/>
          </a:xfrm>
          <a:prstGeom prst="rect">
            <a:avLst/>
          </a:prstGeom>
          <a:noFill/>
          <a:ln/>
        </p:spPr>
        <p:txBody>
          <a:bodyPr wrap="square" rtlCol="0" anchor="ctr"/>
          <a:lstStyle/>
          <a:p>
            <a:pPr marL="0" indent="0">
              <a:buNone/>
            </a:pP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9FC"/>
        </a:solidFill>
        <a:effectLst/>
      </p:bgPr>
    </p:bg>
    <p:spTree>
      <p:nvGrpSpPr>
        <p:cNvPr id="1" name=""/>
        <p:cNvGrpSpPr/>
        <p:nvPr/>
      </p:nvGrpSpPr>
      <p:grpSpPr>
        <a:xfrm>
          <a:off x="0" y="0"/>
          <a:ext cx="0" cy="0"/>
          <a:chOff x="0" y="0"/>
          <a:chExt cx="0" cy="0"/>
        </a:xfrm>
      </p:grpSpPr>
      <p:sp>
        <p:nvSpPr>
          <p:cNvPr id="2" name="Text 0"/>
          <p:cNvSpPr/>
          <p:nvPr/>
        </p:nvSpPr>
        <p:spPr>
          <a:xfrm>
            <a:off x="457200" y="292608"/>
            <a:ext cx="9144000" cy="274320"/>
          </a:xfrm>
          <a:prstGeom prst="rect">
            <a:avLst/>
          </a:prstGeom>
          <a:noFill/>
          <a:ln/>
        </p:spPr>
        <p:txBody>
          <a:bodyPr wrap="square" rtlCol="0" anchor="ctr"/>
          <a:lstStyle/>
          <a:p>
            <a:pPr marL="0" indent="0">
              <a:buNone/>
            </a:pPr>
            <a:r>
              <a:rPr lang="en-US" sz="1100" b="1" kern="0" spc="150" dirty="0">
                <a:solidFill>
                  <a:srgbClr val="5C7A99"/>
                </a:solidFill>
                <a:latin typeface="Calibri" pitchFamily="34" charset="0"/>
                <a:ea typeface="Calibri" pitchFamily="34" charset="-122"/>
                <a:cs typeface="Calibri" pitchFamily="34" charset="-120"/>
              </a:rPr>
              <a:t>REFERENCES · NOT COUNTED IN 12 CONTENT SLIDES</a:t>
            </a:r>
            <a:endParaRPr lang="en-US" sz="1100" dirty="0"/>
          </a:p>
        </p:txBody>
      </p:sp>
      <p:sp>
        <p:nvSpPr>
          <p:cNvPr id="3" name="Text 1"/>
          <p:cNvSpPr/>
          <p:nvPr/>
        </p:nvSpPr>
        <p:spPr>
          <a:xfrm>
            <a:off x="457200" y="548640"/>
            <a:ext cx="11247120" cy="594360"/>
          </a:xfrm>
          <a:prstGeom prst="rect">
            <a:avLst/>
          </a:prstGeom>
          <a:noFill/>
          <a:ln/>
        </p:spPr>
        <p:txBody>
          <a:bodyPr wrap="square" rtlCol="0" anchor="ctr"/>
          <a:lstStyle/>
          <a:p>
            <a:pPr marL="0" indent="0">
              <a:buNone/>
            </a:pPr>
            <a:r>
              <a:rPr lang="en-US" sz="2800" b="1" dirty="0">
                <a:solidFill>
                  <a:srgbClr val="0A2647"/>
                </a:solidFill>
                <a:latin typeface="Cambria" pitchFamily="34" charset="0"/>
                <a:ea typeface="Cambria" pitchFamily="34" charset="-122"/>
                <a:cs typeface="Cambria" pitchFamily="34" charset="-120"/>
              </a:rPr>
              <a:t>References</a:t>
            </a:r>
            <a:endParaRPr lang="en-US" sz="2800" dirty="0"/>
          </a:p>
        </p:txBody>
      </p:sp>
      <p:sp>
        <p:nvSpPr>
          <p:cNvPr id="4" name="Shape 2"/>
          <p:cNvSpPr/>
          <p:nvPr/>
        </p:nvSpPr>
        <p:spPr>
          <a:xfrm>
            <a:off x="457200" y="1417320"/>
            <a:ext cx="11247120" cy="960120"/>
          </a:xfrm>
          <a:prstGeom prst="roundRect">
            <a:avLst>
              <a:gd name="adj" fmla="val 7619"/>
            </a:avLst>
          </a:prstGeom>
          <a:solidFill>
            <a:srgbClr val="FFFFFF"/>
          </a:solidFill>
          <a:ln w="9525">
            <a:solidFill>
              <a:srgbClr val="D7E4EE"/>
            </a:solidFill>
            <a:prstDash val="solid"/>
          </a:ln>
        </p:spPr>
        <p:txBody>
          <a:bodyPr/>
          <a:lstStyle/>
          <a:p>
            <a:endParaRPr lang="en-US"/>
          </a:p>
        </p:txBody>
      </p:sp>
      <p:sp>
        <p:nvSpPr>
          <p:cNvPr id="5" name="Text 3"/>
          <p:cNvSpPr/>
          <p:nvPr/>
        </p:nvSpPr>
        <p:spPr>
          <a:xfrm>
            <a:off x="594360" y="1417320"/>
            <a:ext cx="457200" cy="960120"/>
          </a:xfrm>
          <a:prstGeom prst="rect">
            <a:avLst/>
          </a:prstGeom>
          <a:noFill/>
          <a:ln/>
        </p:spPr>
        <p:txBody>
          <a:bodyPr wrap="square" lIns="0" tIns="0" rIns="0" bIns="0" rtlCol="0" anchor="ctr"/>
          <a:lstStyle/>
          <a:p>
            <a:pPr marL="0" indent="0">
              <a:buNone/>
            </a:pPr>
            <a:r>
              <a:rPr lang="en-US" sz="2000" b="1" dirty="0">
                <a:solidFill>
                  <a:srgbClr val="00A896"/>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143000" y="1508760"/>
            <a:ext cx="10332720" cy="822960"/>
          </a:xfrm>
          <a:prstGeom prst="rect">
            <a:avLst/>
          </a:prstGeom>
          <a:noFill/>
          <a:ln/>
        </p:spPr>
        <p:txBody>
          <a:bodyPr wrap="square" lIns="0" tIns="0" rIns="0" bIns="0" rtlCol="0" anchor="ctr"/>
          <a:lstStyle/>
          <a:p>
            <a:pPr marL="0" indent="0">
              <a:buNone/>
            </a:pPr>
            <a:r>
              <a:rPr lang="en-US" sz="1350" b="1" dirty="0">
                <a:solidFill>
                  <a:srgbClr val="0A2647"/>
                </a:solidFill>
                <a:latin typeface="Calibri" pitchFamily="34" charset="0"/>
                <a:ea typeface="Calibri" pitchFamily="34" charset="-122"/>
                <a:cs typeface="Calibri" pitchFamily="34" charset="-120"/>
              </a:rPr>
              <a:t>RFC 9293 — Transmission Control Protocol (TCP)</a:t>
            </a:r>
            <a:endParaRPr lang="en-US" sz="1350" dirty="0"/>
          </a:p>
          <a:p>
            <a:pPr marL="0" indent="0">
              <a:buNone/>
            </a:pPr>
            <a:r>
              <a:rPr lang="en-US" sz="1100" dirty="0">
                <a:solidFill>
                  <a:srgbClr val="5C7A99"/>
                </a:solidFill>
                <a:latin typeface="Calibri" pitchFamily="34" charset="0"/>
                <a:ea typeface="Calibri" pitchFamily="34" charset="-122"/>
                <a:cs typeface="Calibri" pitchFamily="34" charset="-120"/>
              </a:rPr>
              <a:t>IETF  ·  Official Internet standard defining TCP.</a:t>
            </a:r>
            <a:endParaRPr lang="en-US" sz="1350" dirty="0"/>
          </a:p>
          <a:p>
            <a:pPr marL="0" indent="0">
              <a:buNone/>
            </a:pPr>
            <a:r>
              <a:rPr lang="en-US" sz="1050" i="1" dirty="0">
                <a:solidFill>
                  <a:srgbClr val="2C82C9"/>
                </a:solidFill>
                <a:latin typeface="Calibri" pitchFamily="34" charset="0"/>
                <a:ea typeface="Calibri" pitchFamily="34" charset="-122"/>
                <a:cs typeface="Calibri" pitchFamily="34" charset="-120"/>
              </a:rPr>
              <a:t>www.rfc-editor.org/rfc/rfc9293</a:t>
            </a:r>
            <a:endParaRPr lang="en-US" sz="1350" dirty="0"/>
          </a:p>
        </p:txBody>
      </p:sp>
      <p:sp>
        <p:nvSpPr>
          <p:cNvPr id="7" name="Shape 5"/>
          <p:cNvSpPr/>
          <p:nvPr/>
        </p:nvSpPr>
        <p:spPr>
          <a:xfrm>
            <a:off x="457200" y="2514600"/>
            <a:ext cx="11247120" cy="960120"/>
          </a:xfrm>
          <a:prstGeom prst="roundRect">
            <a:avLst>
              <a:gd name="adj" fmla="val 7619"/>
            </a:avLst>
          </a:prstGeom>
          <a:solidFill>
            <a:srgbClr val="EEF5FA"/>
          </a:solidFill>
          <a:ln w="9525">
            <a:solidFill>
              <a:srgbClr val="D7E4EE"/>
            </a:solidFill>
            <a:prstDash val="solid"/>
          </a:ln>
        </p:spPr>
        <p:txBody>
          <a:bodyPr/>
          <a:lstStyle/>
          <a:p>
            <a:endParaRPr lang="en-US"/>
          </a:p>
        </p:txBody>
      </p:sp>
      <p:sp>
        <p:nvSpPr>
          <p:cNvPr id="8" name="Text 6"/>
          <p:cNvSpPr/>
          <p:nvPr/>
        </p:nvSpPr>
        <p:spPr>
          <a:xfrm>
            <a:off x="594360" y="2514600"/>
            <a:ext cx="457200" cy="960120"/>
          </a:xfrm>
          <a:prstGeom prst="rect">
            <a:avLst/>
          </a:prstGeom>
          <a:noFill/>
          <a:ln/>
        </p:spPr>
        <p:txBody>
          <a:bodyPr wrap="square" lIns="0" tIns="0" rIns="0" bIns="0" rtlCol="0" anchor="ctr"/>
          <a:lstStyle/>
          <a:p>
            <a:pPr marL="0" indent="0">
              <a:buNone/>
            </a:pPr>
            <a:r>
              <a:rPr lang="en-US" sz="2000" b="1" dirty="0">
                <a:solidFill>
                  <a:srgbClr val="00A896"/>
                </a:solidFill>
                <a:latin typeface="Cambria" pitchFamily="34" charset="0"/>
                <a:ea typeface="Cambria" pitchFamily="34" charset="-122"/>
                <a:cs typeface="Cambria" pitchFamily="34" charset="-120"/>
              </a:rPr>
              <a:t>2</a:t>
            </a:r>
            <a:endParaRPr lang="en-US" sz="2000" dirty="0"/>
          </a:p>
        </p:txBody>
      </p:sp>
      <p:sp>
        <p:nvSpPr>
          <p:cNvPr id="9" name="Text 7"/>
          <p:cNvSpPr/>
          <p:nvPr/>
        </p:nvSpPr>
        <p:spPr>
          <a:xfrm>
            <a:off x="1143000" y="2606040"/>
            <a:ext cx="10332720" cy="822960"/>
          </a:xfrm>
          <a:prstGeom prst="rect">
            <a:avLst/>
          </a:prstGeom>
          <a:noFill/>
          <a:ln/>
        </p:spPr>
        <p:txBody>
          <a:bodyPr wrap="square" lIns="0" tIns="0" rIns="0" bIns="0" rtlCol="0" anchor="ctr"/>
          <a:lstStyle/>
          <a:p>
            <a:pPr marL="0" indent="0">
              <a:buNone/>
            </a:pPr>
            <a:r>
              <a:rPr lang="en-US" sz="1350" b="1" dirty="0">
                <a:solidFill>
                  <a:srgbClr val="0A2647"/>
                </a:solidFill>
                <a:latin typeface="Calibri" pitchFamily="34" charset="0"/>
                <a:ea typeface="Calibri" pitchFamily="34" charset="-122"/>
                <a:cs typeface="Calibri" pitchFamily="34" charset="-120"/>
              </a:rPr>
              <a:t>Introduction to Networks — The OSI and TCP/IP Models</a:t>
            </a:r>
            <a:endParaRPr lang="en-US" sz="1350" dirty="0"/>
          </a:p>
          <a:p>
            <a:pPr marL="0" indent="0">
              <a:buNone/>
            </a:pPr>
            <a:r>
              <a:rPr lang="en-US" sz="1100" dirty="0">
                <a:solidFill>
                  <a:srgbClr val="5C7A99"/>
                </a:solidFill>
                <a:latin typeface="Calibri" pitchFamily="34" charset="0"/>
                <a:ea typeface="Calibri" pitchFamily="34" charset="-122"/>
                <a:cs typeface="Calibri" pitchFamily="34" charset="-120"/>
              </a:rPr>
              <a:t>Cisco Networking Academy  ·  Recognised vendor networking-academy course material.</a:t>
            </a:r>
            <a:endParaRPr lang="en-US" sz="1350" dirty="0"/>
          </a:p>
          <a:p>
            <a:pPr marL="0" indent="0">
              <a:buNone/>
            </a:pPr>
            <a:r>
              <a:rPr lang="en-US" sz="1050" i="1" dirty="0">
                <a:solidFill>
                  <a:srgbClr val="2C82C9"/>
                </a:solidFill>
                <a:latin typeface="Calibri" pitchFamily="34" charset="0"/>
                <a:ea typeface="Calibri" pitchFamily="34" charset="-122"/>
                <a:cs typeface="Calibri" pitchFamily="34" charset="-120"/>
              </a:rPr>
              <a:t>www.netacad.com</a:t>
            </a:r>
            <a:endParaRPr lang="en-US" sz="1350" dirty="0"/>
          </a:p>
        </p:txBody>
      </p:sp>
      <p:sp>
        <p:nvSpPr>
          <p:cNvPr id="10" name="Shape 8"/>
          <p:cNvSpPr/>
          <p:nvPr/>
        </p:nvSpPr>
        <p:spPr>
          <a:xfrm>
            <a:off x="457200" y="3611880"/>
            <a:ext cx="11247120" cy="960120"/>
          </a:xfrm>
          <a:prstGeom prst="roundRect">
            <a:avLst>
              <a:gd name="adj" fmla="val 7619"/>
            </a:avLst>
          </a:prstGeom>
          <a:solidFill>
            <a:srgbClr val="FFFFFF"/>
          </a:solidFill>
          <a:ln w="9525">
            <a:solidFill>
              <a:srgbClr val="D7E4EE"/>
            </a:solidFill>
            <a:prstDash val="solid"/>
          </a:ln>
        </p:spPr>
        <p:txBody>
          <a:bodyPr/>
          <a:lstStyle/>
          <a:p>
            <a:endParaRPr lang="en-US"/>
          </a:p>
        </p:txBody>
      </p:sp>
      <p:sp>
        <p:nvSpPr>
          <p:cNvPr id="11" name="Text 9"/>
          <p:cNvSpPr/>
          <p:nvPr/>
        </p:nvSpPr>
        <p:spPr>
          <a:xfrm>
            <a:off x="594360" y="3611880"/>
            <a:ext cx="457200" cy="960120"/>
          </a:xfrm>
          <a:prstGeom prst="rect">
            <a:avLst/>
          </a:prstGeom>
          <a:noFill/>
          <a:ln/>
        </p:spPr>
        <p:txBody>
          <a:bodyPr wrap="square" lIns="0" tIns="0" rIns="0" bIns="0" rtlCol="0" anchor="ctr"/>
          <a:lstStyle/>
          <a:p>
            <a:pPr marL="0" indent="0">
              <a:buNone/>
            </a:pPr>
            <a:r>
              <a:rPr lang="en-US" sz="2000" b="1" dirty="0">
                <a:solidFill>
                  <a:srgbClr val="00A896"/>
                </a:solidFill>
                <a:latin typeface="Cambria" pitchFamily="34" charset="0"/>
                <a:ea typeface="Cambria" pitchFamily="34" charset="-122"/>
                <a:cs typeface="Cambria" pitchFamily="34" charset="-120"/>
              </a:rPr>
              <a:t>3</a:t>
            </a:r>
            <a:endParaRPr lang="en-US" sz="2000" dirty="0"/>
          </a:p>
        </p:txBody>
      </p:sp>
      <p:sp>
        <p:nvSpPr>
          <p:cNvPr id="12" name="Text 10"/>
          <p:cNvSpPr/>
          <p:nvPr/>
        </p:nvSpPr>
        <p:spPr>
          <a:xfrm>
            <a:off x="1143000" y="3703320"/>
            <a:ext cx="10332720" cy="822960"/>
          </a:xfrm>
          <a:prstGeom prst="rect">
            <a:avLst/>
          </a:prstGeom>
          <a:noFill/>
          <a:ln/>
        </p:spPr>
        <p:txBody>
          <a:bodyPr wrap="square" lIns="0" tIns="0" rIns="0" bIns="0" rtlCol="0" anchor="ctr"/>
          <a:lstStyle/>
          <a:p>
            <a:pPr marL="0" indent="0">
              <a:buNone/>
            </a:pPr>
            <a:r>
              <a:rPr lang="en-US" sz="1350" b="1" dirty="0">
                <a:solidFill>
                  <a:srgbClr val="0A2647"/>
                </a:solidFill>
                <a:latin typeface="Calibri" pitchFamily="34" charset="0"/>
                <a:ea typeface="Calibri" pitchFamily="34" charset="-122"/>
                <a:cs typeface="Calibri" pitchFamily="34" charset="-120"/>
              </a:rPr>
              <a:t>What Happens When You Type a URL Into Your Browser?</a:t>
            </a:r>
            <a:endParaRPr lang="en-US" sz="1350" dirty="0"/>
          </a:p>
          <a:p>
            <a:pPr marL="0" indent="0">
              <a:buNone/>
            </a:pPr>
            <a:r>
              <a:rPr lang="en-US" sz="1100" dirty="0">
                <a:solidFill>
                  <a:srgbClr val="5C7A99"/>
                </a:solidFill>
                <a:latin typeface="Calibri" pitchFamily="34" charset="0"/>
                <a:ea typeface="Calibri" pitchFamily="34" charset="-122"/>
                <a:cs typeface="Calibri" pitchFamily="34" charset="-120"/>
              </a:rPr>
              <a:t>Cloudflare Learning Center  ·  Vendor explainer on the request/response journey.</a:t>
            </a:r>
            <a:endParaRPr lang="en-US" sz="1350" dirty="0"/>
          </a:p>
          <a:p>
            <a:pPr marL="0" indent="0">
              <a:buNone/>
            </a:pPr>
            <a:r>
              <a:rPr lang="en-US" sz="1050" i="1" dirty="0">
                <a:solidFill>
                  <a:srgbClr val="2C82C9"/>
                </a:solidFill>
                <a:latin typeface="Calibri" pitchFamily="34" charset="0"/>
                <a:ea typeface="Calibri" pitchFamily="34" charset="-122"/>
                <a:cs typeface="Calibri" pitchFamily="34" charset="-120"/>
              </a:rPr>
              <a:t>www.cloudflare.com/learning</a:t>
            </a:r>
            <a:endParaRPr lang="en-US" sz="1350" dirty="0"/>
          </a:p>
        </p:txBody>
      </p:sp>
      <p:sp>
        <p:nvSpPr>
          <p:cNvPr id="13" name="Shape 11"/>
          <p:cNvSpPr/>
          <p:nvPr/>
        </p:nvSpPr>
        <p:spPr>
          <a:xfrm>
            <a:off x="457200" y="4709160"/>
            <a:ext cx="11247120" cy="960120"/>
          </a:xfrm>
          <a:prstGeom prst="roundRect">
            <a:avLst>
              <a:gd name="adj" fmla="val 7619"/>
            </a:avLst>
          </a:prstGeom>
          <a:solidFill>
            <a:srgbClr val="EEF5FA"/>
          </a:solidFill>
          <a:ln w="9525">
            <a:solidFill>
              <a:srgbClr val="D7E4EE"/>
            </a:solidFill>
            <a:prstDash val="solid"/>
          </a:ln>
        </p:spPr>
        <p:txBody>
          <a:bodyPr/>
          <a:lstStyle/>
          <a:p>
            <a:endParaRPr lang="en-US"/>
          </a:p>
        </p:txBody>
      </p:sp>
      <p:sp>
        <p:nvSpPr>
          <p:cNvPr id="14" name="Text 12"/>
          <p:cNvSpPr/>
          <p:nvPr/>
        </p:nvSpPr>
        <p:spPr>
          <a:xfrm>
            <a:off x="594360" y="4709160"/>
            <a:ext cx="457200" cy="960120"/>
          </a:xfrm>
          <a:prstGeom prst="rect">
            <a:avLst/>
          </a:prstGeom>
          <a:noFill/>
          <a:ln/>
        </p:spPr>
        <p:txBody>
          <a:bodyPr wrap="square" lIns="0" tIns="0" rIns="0" bIns="0" rtlCol="0" anchor="ctr"/>
          <a:lstStyle/>
          <a:p>
            <a:pPr marL="0" indent="0">
              <a:buNone/>
            </a:pPr>
            <a:r>
              <a:rPr lang="en-US" sz="2000" b="1" dirty="0">
                <a:solidFill>
                  <a:srgbClr val="00A896"/>
                </a:solidFill>
                <a:latin typeface="Cambria" pitchFamily="34" charset="0"/>
                <a:ea typeface="Cambria" pitchFamily="34" charset="-122"/>
                <a:cs typeface="Cambria" pitchFamily="34" charset="-120"/>
              </a:rPr>
              <a:t>4</a:t>
            </a:r>
            <a:endParaRPr lang="en-US" sz="2000" dirty="0"/>
          </a:p>
        </p:txBody>
      </p:sp>
      <p:sp>
        <p:nvSpPr>
          <p:cNvPr id="15" name="Text 13"/>
          <p:cNvSpPr/>
          <p:nvPr/>
        </p:nvSpPr>
        <p:spPr>
          <a:xfrm>
            <a:off x="1143000" y="4800600"/>
            <a:ext cx="10332720" cy="822960"/>
          </a:xfrm>
          <a:prstGeom prst="rect">
            <a:avLst/>
          </a:prstGeom>
          <a:noFill/>
          <a:ln/>
        </p:spPr>
        <p:txBody>
          <a:bodyPr wrap="square" lIns="0" tIns="0" rIns="0" bIns="0" rtlCol="0" anchor="ctr"/>
          <a:lstStyle/>
          <a:p>
            <a:pPr marL="0" indent="0">
              <a:buNone/>
            </a:pPr>
            <a:r>
              <a:rPr lang="en-US" sz="1350" b="1" dirty="0">
                <a:solidFill>
                  <a:srgbClr val="0A2647"/>
                </a:solidFill>
                <a:latin typeface="Calibri" pitchFamily="34" charset="0"/>
                <a:ea typeface="Calibri" pitchFamily="34" charset="-122"/>
                <a:cs typeface="Calibri" pitchFamily="34" charset="-120"/>
              </a:rPr>
              <a:t>An Overview of HTTP</a:t>
            </a:r>
            <a:endParaRPr lang="en-US" sz="1350" dirty="0"/>
          </a:p>
          <a:p>
            <a:pPr marL="0" indent="0">
              <a:buNone/>
            </a:pPr>
            <a:r>
              <a:rPr lang="en-US" sz="1100" dirty="0">
                <a:solidFill>
                  <a:srgbClr val="5C7A99"/>
                </a:solidFill>
                <a:latin typeface="Calibri" pitchFamily="34" charset="0"/>
                <a:ea typeface="Calibri" pitchFamily="34" charset="-122"/>
                <a:cs typeface="Calibri" pitchFamily="34" charset="-120"/>
              </a:rPr>
              <a:t>MDN Web Docs (Mozilla)  ·  Reference documentation on HTTP/HTTPS.</a:t>
            </a:r>
            <a:endParaRPr lang="en-US" sz="1350" dirty="0"/>
          </a:p>
          <a:p>
            <a:pPr marL="0" indent="0">
              <a:buNone/>
            </a:pPr>
            <a:r>
              <a:rPr lang="en-US" sz="1050" i="1" dirty="0">
                <a:solidFill>
                  <a:srgbClr val="2C82C9"/>
                </a:solidFill>
                <a:latin typeface="Calibri" pitchFamily="34" charset="0"/>
                <a:ea typeface="Calibri" pitchFamily="34" charset="-122"/>
                <a:cs typeface="Calibri" pitchFamily="34" charset="-120"/>
              </a:rPr>
              <a:t>developer.mozilla.org</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2055</Words>
  <Application>Microsoft Office PowerPoint</Application>
  <PresentationFormat>Widescreen</PresentationFormat>
  <Paragraphs>324</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Maryjudith Chidinma Ogunaka</cp:lastModifiedBy>
  <cp:revision>2</cp:revision>
  <dcterms:created xsi:type="dcterms:W3CDTF">2026-09-27T22:06:12Z</dcterms:created>
  <dcterms:modified xsi:type="dcterms:W3CDTF">2026-09-27T22:17:13Z</dcterms:modified>
</cp:coreProperties>
</file>